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64" r:id="rId3"/>
    <p:sldId id="265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D2773-B427-4716-8A02-1D5433B473B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55578-D650-4172-BB36-AABD54BF6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7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ED9B-B7A7-868C-D018-C5A92CC13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FF0BD-B285-4CDA-6CD1-A868D7225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6BD0A-6733-FF29-AA08-DBAC3EB42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0A89D-C39E-F0C2-C5A3-07AF7506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80DC8-C399-37E7-AC55-EAF2E6AE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9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701C-4F9B-364C-AAED-2E555DA7F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B12AD-6B5B-7915-5D38-F808086C5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52F98-4467-9B07-B353-E267AF0F9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F0CC6-CE22-B2A7-EE2D-301569236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BF986-DC5F-98F2-A912-30AB4E98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36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BE05-AE14-B537-433F-C153A0E5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E27D5-A913-C31F-7CDF-91A40A05F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8C7BB-979F-D945-6369-052111EA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3EAA-9642-F485-8D70-B417D1AE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0352A-C85C-2E70-F8DC-2F687B53E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1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5CDC-EDC9-9125-67AC-0C355682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1E073-26ED-D446-1B19-9DC1207EE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6130F-9A17-4310-742A-D89C43E47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843BB-0AE8-32C4-7D24-2C3D4B121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4CB54-BB8D-3D09-9C62-635C8ED89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5BBEB-BA87-2D83-94A3-02189F8F8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09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BFDA-48FC-F610-AA18-B765971BB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DC376-0DD4-7C2D-09C7-93083C3CB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2C5D7-9EF7-2DBF-5D88-9B1386D33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4527B-50ED-58BF-B2C1-3162C040F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399D2-9207-3D8B-0059-5B52E7938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4BA29-9E81-420C-678C-8F848C5A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D741B-517D-76FF-1DC3-9D2D8A3A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867E3-95BD-614D-00AC-E98963F2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7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62F8-E50C-D2B2-43FE-5A90D993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95339-D802-4B7F-394A-1917AF7A6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AC0F2-E1E4-9065-4B0C-159CEA7C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AED9C-2F42-E604-4F57-4E8A9206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5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39113-D48D-D087-F860-245EA792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0713" y="6356350"/>
            <a:ext cx="2743200" cy="365125"/>
          </a:xfrm>
        </p:spPr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5E05C-F52C-2E33-28B3-E5F9AA9DB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68B5B-C279-7303-2B47-F69A7DB3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4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ED89-767B-C198-A8D2-39E115D6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5320E-1FF8-F020-EAB9-73CD5FE84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1CE418-3B85-AA18-6C53-22C902B72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B7C7E-0455-801F-3A74-94EEF236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CCCC6-FDF1-E2AD-38BE-840CE0B4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C30D2-0132-BCE1-447B-6F6B3435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1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BC8E-1FC8-409B-EBD4-EC9625C64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26BE2-521F-FDF1-3974-81B446887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E92FC-8EA4-540D-399F-5E22BC704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7DE84-C6B5-D4BB-D126-971C3EE6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6A1EA-43CB-EB62-7A03-7D0AECC2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06F6-087A-8241-38DA-AE7DF328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6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BC878-3E3F-01F8-522A-DB68C343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E075A-A2D7-EE83-99D0-7BECFB11A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F006B-8A55-F84D-2664-50C75815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43C61-F14F-0D15-4A31-F3B6C3B45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E385F-5954-7DA0-8F8D-06CC11AB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3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E30A3-AB4F-702A-C21F-9BECACD93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F8CB8-B7B5-1BE8-AB70-0048BE2D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95F14-B92D-9902-C06C-996C4D72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D700F-C6F2-68C8-5F7D-414D23AC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11117-3162-97F7-B781-AFFA0573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104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E050FC-821A-0ACC-3F24-FE993456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2D08B-6CC3-F2B9-4665-B546B05F6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3FC1B-ED5E-211D-59F7-F84848749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853F5-E75D-4C0F-AB43-EE17137EC60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4760F-592F-3F58-6F33-6A4AD759D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F1775-8400-A452-6CFF-6D59C91A5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8BC03-27C7-4A3B-BA8E-7BB76C7F741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E22E16-355D-BB00-FC55-0023B7BEC9DC}"/>
              </a:ext>
            </a:extLst>
          </p:cNvPr>
          <p:cNvSpPr/>
          <p:nvPr userDrawn="1"/>
        </p:nvSpPr>
        <p:spPr>
          <a:xfrm>
            <a:off x="132522" y="6492241"/>
            <a:ext cx="4572000" cy="36575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73152" rIns="54864" bIns="36576" rtlCol="0" anchor="ctr"/>
          <a:lstStyle/>
          <a:p>
            <a:r>
              <a:rPr sz="1200" dirty="0">
                <a:solidFill>
                  <a:srgbClr val="666666"/>
                </a:solidFill>
              </a:rPr>
              <a:t>IBM Consulting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58BD16-BF63-5B20-ECC5-DD10128401C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418991" y="0"/>
            <a:ext cx="773009" cy="8102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E08075-0BFD-BF7E-B6A8-26698802A4FA}"/>
              </a:ext>
            </a:extLst>
          </p:cNvPr>
          <p:cNvSpPr txBox="1"/>
          <p:nvPr userDrawn="1"/>
        </p:nvSpPr>
        <p:spPr>
          <a:xfrm>
            <a:off x="11381075" y="728241"/>
            <a:ext cx="1121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chemeClr val="bg1"/>
                </a:solidFill>
              </a:rPr>
              <a:t>Comm Sector Submit 2026</a:t>
            </a:r>
          </a:p>
        </p:txBody>
      </p:sp>
    </p:spTree>
    <p:extLst>
      <p:ext uri="{BB962C8B-B14F-4D97-AF65-F5344CB8AC3E}">
        <p14:creationId xmlns:p14="http://schemas.microsoft.com/office/powerpoint/2010/main" val="336054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5AEB-9498-56BA-6F9F-A29A7943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166071B-2BE1-03FC-3888-B1105AC72B73}"/>
              </a:ext>
            </a:extLst>
          </p:cNvPr>
          <p:cNvGrpSpPr/>
          <p:nvPr/>
        </p:nvGrpSpPr>
        <p:grpSpPr>
          <a:xfrm>
            <a:off x="0" y="0"/>
            <a:ext cx="12192000" cy="1022973"/>
            <a:chOff x="0" y="0"/>
            <a:chExt cx="12192000" cy="102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C24E878-63DC-C13F-5688-A28CA25C1714}"/>
                </a:ext>
              </a:extLst>
            </p:cNvPr>
            <p:cNvSpPr/>
            <p:nvPr/>
          </p:nvSpPr>
          <p:spPr>
            <a:xfrm>
              <a:off x="0" y="0"/>
              <a:ext cx="12192000" cy="10229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B85FE0-54A3-C620-63B4-9C631F4AE7AD}"/>
                </a:ext>
              </a:extLst>
            </p:cNvPr>
            <p:cNvSpPr txBox="1"/>
            <p:nvPr/>
          </p:nvSpPr>
          <p:spPr>
            <a:xfrm>
              <a:off x="139847" y="272959"/>
              <a:ext cx="8949723" cy="4770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IN" sz="2500" b="1" dirty="0">
                  <a:solidFill>
                    <a:schemeClr val="bg1"/>
                  </a:solidFill>
                  <a:latin typeface="IBM Plex Sans" panose="020B0503050000000000" pitchFamily="34" charset="0"/>
                </a:rPr>
                <a:t>Problem Statement/ Challenge/ Current situation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95F1F9B-D0B0-8F56-F626-0B61B4485469}"/>
              </a:ext>
            </a:extLst>
          </p:cNvPr>
          <p:cNvSpPr txBox="1"/>
          <p:nvPr/>
        </p:nvSpPr>
        <p:spPr>
          <a:xfrm>
            <a:off x="1174391" y="2006378"/>
            <a:ext cx="88002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When Telecom Networks Break at 3 AM, Who Fixes Them?</a:t>
            </a:r>
          </a:p>
          <a:p>
            <a:r>
              <a:rPr sz="1600" i="1">
                <a:solidFill>
                  <a:srgbClr val="555555"/>
                </a:solidFill>
              </a:rPr>
              <a:t>The Hidden Cost of Manual Incident Response in Communication Networks</a:t>
            </a:r>
          </a:p>
          <a:p/>
          <a:p>
            <a:r>
              <a:rPr sz="1300" b="1">
                <a:solidFill>
                  <a:srgbClr val="333333"/>
                </a:solidFill>
              </a:rPr>
              <a:t>The Problem: Telecom operators manage thousands of servers, routers, and applications. When something breaks — a CPU spikes, a service crashes, disk fills up — an on-call engineer gets paged. They SSH in, diagnose the issue, run a fix, and hope it works. This process takes 15–45 minutes per incident.</a:t>
            </a:r>
          </a:p>
          <a:p/>
          <a:p>
            <a:r>
              <a:rPr sz="1300" b="1">
                <a:solidFill>
                  <a:srgbClr val="333333"/>
                </a:solidFill>
              </a:rPr>
              <a:t>The Scale Challenge: A mid-size telecom provider handles 200–500 infrastructure alerts per day. During peak hours or outages, this can spike to 2,000+ alerts. Human operators simply cannot keep up.</a:t>
            </a:r>
          </a:p>
          <a:p/>
          <a:p>
            <a:r>
              <a:rPr sz="1300" b="1">
                <a:solidFill>
                  <a:srgbClr val="333333"/>
                </a:solidFill>
              </a:rPr>
              <a:t>The Real Cost:</a:t>
            </a:r>
          </a:p>
          <a:p>
            <a:r>
              <a:rPr sz="1300">
                <a:solidFill>
                  <a:srgbClr val="333333"/>
                </a:solidFill>
              </a:rPr>
              <a:t>  •  Mean Time to Resolve (MTTR): 25–40 minutes for routine issues</a:t>
            </a:r>
          </a:p>
          <a:p>
            <a:r>
              <a:rPr sz="1300">
                <a:solidFill>
                  <a:srgbClr val="333333"/>
                </a:solidFill>
              </a:rPr>
              <a:t>  •  Alert Fatigue: Engineers ignore 60%+ of alerts after prolonged on-call shifts</a:t>
            </a:r>
          </a:p>
          <a:p>
            <a:r>
              <a:rPr sz="1300">
                <a:solidFill>
                  <a:srgbClr val="333333"/>
                </a:solidFill>
              </a:rPr>
              <a:t>  •  Human Error: 23% of outages are caused by incorrect manual remediation</a:t>
            </a:r>
          </a:p>
          <a:p>
            <a:r>
              <a:rPr sz="1300">
                <a:solidFill>
                  <a:srgbClr val="333333"/>
                </a:solidFill>
              </a:rPr>
              <a:t>  •  Customer Impact: Every minute of downtime = lost revenue and SLA penalties</a:t>
            </a:r>
          </a:p>
          <a:p/>
          <a:p>
            <a:r>
              <a:rPr sz="1300" b="1">
                <a:solidFill>
                  <a:srgbClr val="333333"/>
                </a:solidFill>
              </a:rPr>
              <a:t>The Question: What if your infrastructure could diagnose and fix routine problems itself — with human oversight but without human delay?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0CB787-D541-B447-246D-3945C8825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8742" y="6384661"/>
            <a:ext cx="773009" cy="3505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6E21C9F-67BA-E065-F7CE-16E58DC8F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991" y="0"/>
            <a:ext cx="773009" cy="6536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A10EF07-D3AF-56A8-2490-94E44FD4DABE}"/>
              </a:ext>
            </a:extLst>
          </p:cNvPr>
          <p:cNvSpPr txBox="1"/>
          <p:nvPr/>
        </p:nvSpPr>
        <p:spPr>
          <a:xfrm>
            <a:off x="11308588" y="660704"/>
            <a:ext cx="102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</a:rPr>
              <a:t>Comm  Sector </a:t>
            </a:r>
          </a:p>
          <a:p>
            <a:r>
              <a:rPr lang="en-IN" sz="900" b="1" dirty="0">
                <a:solidFill>
                  <a:schemeClr val="bg1"/>
                </a:solidFill>
              </a:rPr>
              <a:t>Summit 2026</a:t>
            </a:r>
          </a:p>
        </p:txBody>
      </p:sp>
    </p:spTree>
    <p:extLst>
      <p:ext uri="{BB962C8B-B14F-4D97-AF65-F5344CB8AC3E}">
        <p14:creationId xmlns:p14="http://schemas.microsoft.com/office/powerpoint/2010/main" val="3399109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EDDC-E5BA-8BC8-7852-BEBA90802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879398-0594-D9AC-3EF2-A72386B405E4}"/>
              </a:ext>
            </a:extLst>
          </p:cNvPr>
          <p:cNvGrpSpPr/>
          <p:nvPr/>
        </p:nvGrpSpPr>
        <p:grpSpPr>
          <a:xfrm>
            <a:off x="0" y="0"/>
            <a:ext cx="12192000" cy="1022973"/>
            <a:chOff x="0" y="0"/>
            <a:chExt cx="12192000" cy="102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724BDFB-695D-76D0-F5BC-52F85BB22B8B}"/>
                </a:ext>
              </a:extLst>
            </p:cNvPr>
            <p:cNvSpPr/>
            <p:nvPr/>
          </p:nvSpPr>
          <p:spPr>
            <a:xfrm>
              <a:off x="0" y="0"/>
              <a:ext cx="12192000" cy="10229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83E2AB3-947B-1039-8BD2-C8AD7E7CF44F}"/>
                </a:ext>
              </a:extLst>
            </p:cNvPr>
            <p:cNvSpPr txBox="1"/>
            <p:nvPr/>
          </p:nvSpPr>
          <p:spPr>
            <a:xfrm>
              <a:off x="139847" y="272959"/>
              <a:ext cx="8949723" cy="4770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500" b="1" dirty="0">
                  <a:solidFill>
                    <a:schemeClr val="bg1"/>
                  </a:solidFill>
                  <a:latin typeface="IBM Plex Sans" panose="020B0503050000000000" pitchFamily="34" charset="0"/>
                </a:rPr>
                <a:t>Solution</a:t>
              </a:r>
              <a:endParaRPr lang="en-IN" sz="2500" b="1" dirty="0">
                <a:solidFill>
                  <a:schemeClr val="bg1"/>
                </a:solidFill>
                <a:latin typeface="IBM Plex Sans Text" panose="020B0503050203000203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1D49CD6-B874-E15B-4FAD-1F5E52CC8EE6}"/>
              </a:ext>
            </a:extLst>
          </p:cNvPr>
          <p:cNvSpPr txBox="1"/>
          <p:nvPr/>
        </p:nvSpPr>
        <p:spPr>
          <a:xfrm>
            <a:off x="1174391" y="2006378"/>
            <a:ext cx="880021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AI-Powered Self-Healing Infrastructure</a:t>
            </a:r>
          </a:p>
          <a:p>
            <a:r>
              <a:rPr sz="1400" i="1">
                <a:solidFill>
                  <a:srgbClr val="555555"/>
                </a:solidFill>
              </a:rPr>
              <a:t>An Agentic AI System That Detects, Diagnoses, and Fixes Problems — Before Customers Notice</a:t>
            </a:r>
          </a:p>
          <a:p/>
          <a:p>
            <a:r>
              <a:rPr sz="1400" b="1">
                <a:solidFill>
                  <a:srgbClr val="333333"/>
                </a:solidFill>
              </a:rPr>
              <a:t>How It Works (The 5-Step Pipeline):</a:t>
            </a:r>
          </a:p>
          <a:p/>
          <a:p>
            <a:r>
              <a:rPr sz="1200">
                <a:solidFill>
                  <a:srgbClr val="333333"/>
                </a:solidFill>
              </a:rPr>
              <a:t>1. DETECT — CloudWatch monitors CPU, memory, disk, network across all hosts.</a:t>
            </a:r>
          </a:p>
          <a:p>
            <a:r>
              <a:rPr sz="1200">
                <a:solidFill>
                  <a:srgbClr val="333333"/>
                </a:solidFill>
              </a:rPr>
              <a:t>   When a metric breaches a threshold, an alert fires automatically.</a:t>
            </a:r>
          </a:p>
          <a:p/>
          <a:p>
            <a:r>
              <a:rPr sz="1200">
                <a:solidFill>
                  <a:srgbClr val="333333"/>
                </a:solidFill>
              </a:rPr>
              <a:t>2. UNDERSTAND — The system enriches the alert with context: which server,</a:t>
            </a:r>
          </a:p>
          <a:p>
            <a:r>
              <a:rPr sz="1200">
                <a:solidFill>
                  <a:srgbClr val="333333"/>
                </a:solidFill>
              </a:rPr>
              <a:t>   which service, who owns it, what’s the blast radius.</a:t>
            </a:r>
          </a:p>
          <a:p/>
          <a:p>
            <a:r>
              <a:rPr sz="1200">
                <a:solidFill>
                  <a:srgbClr val="333333"/>
                </a:solidFill>
              </a:rPr>
              <a:t>3. DECIDE — Two intelligent paths:</a:t>
            </a:r>
          </a:p>
          <a:p>
            <a:r>
              <a:rPr sz="1200">
                <a:solidFill>
                  <a:srgbClr val="333333"/>
                </a:solidFill>
              </a:rPr>
              <a:t>   •  Known Problem? → Match to a proven fix (Ansible playbook)</a:t>
            </a:r>
          </a:p>
          <a:p>
            <a:r>
              <a:rPr sz="1200">
                <a:solidFill>
                  <a:srgbClr val="333333"/>
                </a:solidFill>
              </a:rPr>
              <a:t>   •  New Problem? → AI Agent (Amazon Bedrock) analyzes history + context</a:t>
            </a:r>
          </a:p>
          <a:p/>
          <a:p>
            <a:r>
              <a:rPr sz="1200">
                <a:solidFill>
                  <a:srgbClr val="333333"/>
                </a:solidFill>
              </a:rPr>
              <a:t>4. APPROVE — Operator gets an email: root cause analysis + one-click approval.</a:t>
            </a:r>
          </a:p>
          <a:p>
            <a:r>
              <a:rPr sz="1200">
                <a:solidFill>
                  <a:srgbClr val="333333"/>
                </a:solidFill>
              </a:rPr>
              <a:t>   No action without human consent. Link expires in 30 minutes.</a:t>
            </a:r>
          </a:p>
          <a:p/>
          <a:p>
            <a:r>
              <a:rPr sz="1200">
                <a:solidFill>
                  <a:srgbClr val="333333"/>
                </a:solidFill>
              </a:rPr>
              <a:t>5. HEAL — On approval, the system executes the fix via AWS SSM (no SSH keys).</a:t>
            </a:r>
          </a:p>
          <a:p>
            <a:r>
              <a:rPr sz="1200">
                <a:solidFill>
                  <a:srgbClr val="333333"/>
                </a:solidFill>
              </a:rPr>
              <a:t>   Validates the fix worked. Reports back.</a:t>
            </a:r>
          </a:p>
          <a:p/>
          <a:p>
            <a:r>
              <a:rPr sz="1400" b="1">
                <a:solidFill>
                  <a:srgbClr val="333333"/>
                </a:solidFill>
              </a:rPr>
              <a:t>Key Technology:</a:t>
            </a:r>
          </a:p>
          <a:p>
            <a:r>
              <a:rPr sz="1200">
                <a:solidFill>
                  <a:srgbClr val="333333"/>
                </a:solidFill>
              </a:rPr>
              <a:t>  •  Amazon Bedrock (Nova Pro / Claude) for intelligent diagnosis</a:t>
            </a:r>
          </a:p>
          <a:p>
            <a:r>
              <a:rPr sz="1200">
                <a:solidFill>
                  <a:srgbClr val="333333"/>
                </a:solidFill>
              </a:rPr>
              <a:t>  •  Ansible + AWS SSM for secure, agentless remediation</a:t>
            </a:r>
          </a:p>
          <a:p>
            <a:r>
              <a:rPr sz="1200">
                <a:solidFill>
                  <a:srgbClr val="333333"/>
                </a:solidFill>
              </a:rPr>
              <a:t>  •  7-Layer Safety Engine: self-protection, circuit breakers, blast radius checks</a:t>
            </a:r>
          </a:p>
          <a:p>
            <a:r>
              <a:rPr sz="1200">
                <a:solidFill>
                  <a:srgbClr val="333333"/>
                </a:solidFill>
              </a:rPr>
              <a:t>  •  Fully serverless on AWS ECS Fargate — no servers to manage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93832F-EB4F-DB8B-801E-BCB4AD2D1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8742" y="6384661"/>
            <a:ext cx="773009" cy="3505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CF401B-D84B-1C0C-6A41-C1B3ED8C1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991" y="0"/>
            <a:ext cx="773009" cy="6536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AB9029F-79CC-D60D-BCBF-40504DCAB56D}"/>
              </a:ext>
            </a:extLst>
          </p:cNvPr>
          <p:cNvSpPr txBox="1"/>
          <p:nvPr/>
        </p:nvSpPr>
        <p:spPr>
          <a:xfrm>
            <a:off x="11308588" y="660704"/>
            <a:ext cx="102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</a:rPr>
              <a:t>Comm  Sector </a:t>
            </a:r>
          </a:p>
          <a:p>
            <a:r>
              <a:rPr lang="en-IN" sz="900" b="1" dirty="0">
                <a:solidFill>
                  <a:schemeClr val="bg1"/>
                </a:solidFill>
              </a:rPr>
              <a:t>Summit 2026</a:t>
            </a:r>
          </a:p>
        </p:txBody>
      </p:sp>
    </p:spTree>
    <p:extLst>
      <p:ext uri="{BB962C8B-B14F-4D97-AF65-F5344CB8AC3E}">
        <p14:creationId xmlns:p14="http://schemas.microsoft.com/office/powerpoint/2010/main" val="2472395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68372-F082-F474-5CE1-DE61AC484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5AA51D-EF16-7A7E-2544-3924A56AC3F7}"/>
              </a:ext>
            </a:extLst>
          </p:cNvPr>
          <p:cNvGrpSpPr/>
          <p:nvPr/>
        </p:nvGrpSpPr>
        <p:grpSpPr>
          <a:xfrm>
            <a:off x="0" y="0"/>
            <a:ext cx="12192000" cy="1022973"/>
            <a:chOff x="0" y="0"/>
            <a:chExt cx="12192000" cy="102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20B5931-4D08-B10B-15A7-8C1AB228E610}"/>
                </a:ext>
              </a:extLst>
            </p:cNvPr>
            <p:cNvSpPr/>
            <p:nvPr/>
          </p:nvSpPr>
          <p:spPr>
            <a:xfrm>
              <a:off x="0" y="0"/>
              <a:ext cx="12192000" cy="10229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CE41010-DC6A-A515-A6BF-00C251786C28}"/>
                </a:ext>
              </a:extLst>
            </p:cNvPr>
            <p:cNvSpPr txBox="1"/>
            <p:nvPr/>
          </p:nvSpPr>
          <p:spPr>
            <a:xfrm>
              <a:off x="139847" y="272959"/>
              <a:ext cx="8949723" cy="4770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500" b="1" dirty="0">
                  <a:solidFill>
                    <a:schemeClr val="bg1"/>
                  </a:solidFill>
                  <a:latin typeface="IBM Plex Sans" panose="020B0503050000000000" pitchFamily="34" charset="0"/>
                </a:rPr>
                <a:t>Benefits</a:t>
              </a:r>
              <a:endParaRPr lang="en-IN" sz="2500" b="1" dirty="0">
                <a:solidFill>
                  <a:schemeClr val="bg1"/>
                </a:solidFill>
                <a:latin typeface="IBM Plex Sans Text" panose="020B0503050203000203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0A198FD-0E0F-2C66-EB81-195416FDF609}"/>
              </a:ext>
            </a:extLst>
          </p:cNvPr>
          <p:cNvSpPr txBox="1"/>
          <p:nvPr/>
        </p:nvSpPr>
        <p:spPr>
          <a:xfrm>
            <a:off x="1174391" y="2006378"/>
            <a:ext cx="88002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Why This Matters for Telecom Operators</a:t>
            </a:r>
          </a:p>
          <a:p/>
          <a:p>
            <a:r>
              <a:rPr sz="1500" b="1">
                <a:solidFill>
                  <a:srgbClr val="1A1A2E"/>
                </a:solidFill>
              </a:rPr>
              <a:t>Business Benefits:</a:t>
            </a:r>
          </a:p>
          <a:p>
            <a:r>
              <a:rPr sz="1300">
                <a:solidFill>
                  <a:srgbClr val="333333"/>
                </a:solidFill>
              </a:rPr>
              <a:t>  •  80% reduction in Mean Time to Resolve (MTTR) for routine incidents</a:t>
            </a:r>
          </a:p>
          <a:p>
            <a:r>
              <a:rPr sz="1300">
                <a:solidFill>
                  <a:srgbClr val="333333"/>
                </a:solidFill>
              </a:rPr>
              <a:t>  •  Fewer SLA breaches = fewer penalty payments to enterprise customers</a:t>
            </a:r>
          </a:p>
          <a:p>
            <a:r>
              <a:rPr sz="1300">
                <a:solidFill>
                  <a:srgbClr val="333333"/>
                </a:solidFill>
              </a:rPr>
              <a:t>  •  On-call engineers handle 3x more alerts without burnout</a:t>
            </a:r>
          </a:p>
          <a:p>
            <a:r>
              <a:rPr sz="1300">
                <a:solidFill>
                  <a:srgbClr val="333333"/>
                </a:solidFill>
              </a:rPr>
              <a:t>  •  24/7 coverage without adding headcount</a:t>
            </a:r>
          </a:p>
          <a:p/>
          <a:p>
            <a:r>
              <a:rPr sz="1500" b="1">
                <a:solidFill>
                  <a:srgbClr val="1A1A2E"/>
                </a:solidFill>
              </a:rPr>
              <a:t>Technical Benefits:</a:t>
            </a:r>
          </a:p>
          <a:p>
            <a:r>
              <a:rPr sz="1300">
                <a:solidFill>
                  <a:srgbClr val="333333"/>
                </a:solidFill>
              </a:rPr>
              <a:t>  •  AI learns from history — gets smarter with every incident</a:t>
            </a:r>
          </a:p>
          <a:p>
            <a:r>
              <a:rPr sz="1300">
                <a:solidFill>
                  <a:srgbClr val="333333"/>
                </a:solidFill>
              </a:rPr>
              <a:t>  •  Cost-optimized: routes simple alerts to cheap models, complex ones to powerful models</a:t>
            </a:r>
          </a:p>
          <a:p>
            <a:r>
              <a:rPr sz="1300">
                <a:solidFill>
                  <a:srgbClr val="333333"/>
                </a:solidFill>
              </a:rPr>
              <a:t>  •  60–90% AI cost reduction vs. always using the most expensive model</a:t>
            </a:r>
          </a:p>
          <a:p>
            <a:r>
              <a:rPr sz="1300">
                <a:solidFill>
                  <a:srgbClr val="333333"/>
                </a:solidFill>
              </a:rPr>
              <a:t>  •  Zero SSH keys — all remediation via secure AWS Systems Manager</a:t>
            </a:r>
          </a:p>
          <a:p/>
          <a:p>
            <a:r>
              <a:rPr sz="1500" b="1">
                <a:solidFill>
                  <a:srgbClr val="1A1A2E"/>
                </a:solidFill>
              </a:rPr>
              <a:t>Operational Benefits:</a:t>
            </a:r>
          </a:p>
          <a:p>
            <a:r>
              <a:rPr sz="1300">
                <a:solidFill>
                  <a:srgbClr val="333333"/>
                </a:solidFill>
              </a:rPr>
              <a:t>  •  Humans stay in control: nothing executes without operator approval</a:t>
            </a:r>
          </a:p>
          <a:p>
            <a:r>
              <a:rPr sz="1300">
                <a:solidFill>
                  <a:srgbClr val="333333"/>
                </a:solidFill>
              </a:rPr>
              <a:t>  •  Storm protection: during alert floods, deduplicates and groups intelligently</a:t>
            </a:r>
          </a:p>
          <a:p>
            <a:r>
              <a:rPr sz="1300">
                <a:solidFill>
                  <a:srgbClr val="333333"/>
                </a:solidFill>
              </a:rPr>
              <a:t>  •  Circuit breakers: if fixes start failing, the system stops automatically</a:t>
            </a:r>
          </a:p>
          <a:p>
            <a:r>
              <a:rPr sz="1300">
                <a:solidFill>
                  <a:srgbClr val="333333"/>
                </a:solidFill>
              </a:rPr>
              <a:t>  •  Full audit trail: every decision logged, every action traceable</a:t>
            </a:r>
          </a:p>
          <a:p/>
          <a:p>
            <a:r>
              <a:rPr sz="1500" b="1">
                <a:solidFill>
                  <a:srgbClr val="1A1A2E"/>
                </a:solidFill>
              </a:rPr>
              <a:t>Safety by Design:</a:t>
            </a:r>
          </a:p>
          <a:p>
            <a:r>
              <a:rPr sz="1300">
                <a:solidFill>
                  <a:srgbClr val="333333"/>
                </a:solidFill>
              </a:rPr>
              <a:t>  •  Protected hosts list — critical infrastructure is never auto-remediated</a:t>
            </a:r>
          </a:p>
          <a:p>
            <a:r>
              <a:rPr sz="1300">
                <a:solidFill>
                  <a:srgbClr val="333333"/>
                </a:solidFill>
              </a:rPr>
              <a:t>  •  Blast radius classification — risky actions require extra scrutiny</a:t>
            </a:r>
          </a:p>
          <a:p>
            <a:r>
              <a:rPr sz="1300">
                <a:solidFill>
                  <a:srgbClr val="333333"/>
                </a:solidFill>
              </a:rPr>
              <a:t>  •  Graceful degradation — if AI is unavailable, falls back to rule-based fixes</a:t>
            </a:r>
          </a:p>
          <a:p>
            <a:r>
              <a:rPr sz="1300">
                <a:solidFill>
                  <a:srgbClr val="333333"/>
                </a:solidFill>
              </a:rPr>
              <a:t>  •  Approval expiry — if no one clicks in 30 min, nothing happens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C7A93B7-753D-E135-C20B-44F981F79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8742" y="6384661"/>
            <a:ext cx="773009" cy="3505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8C29982-7886-EDE1-E908-CB13EC037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991" y="0"/>
            <a:ext cx="773009" cy="6536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CA93CA5-12E3-48AF-B8CA-C3D7FB219B0E}"/>
              </a:ext>
            </a:extLst>
          </p:cNvPr>
          <p:cNvSpPr txBox="1"/>
          <p:nvPr/>
        </p:nvSpPr>
        <p:spPr>
          <a:xfrm>
            <a:off x="11308588" y="660704"/>
            <a:ext cx="102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</a:rPr>
              <a:t>Comm  Sector </a:t>
            </a:r>
          </a:p>
          <a:p>
            <a:r>
              <a:rPr lang="en-IN" sz="900" b="1" dirty="0">
                <a:solidFill>
                  <a:schemeClr val="bg1"/>
                </a:solidFill>
              </a:rPr>
              <a:t>Summit 2026</a:t>
            </a:r>
          </a:p>
        </p:txBody>
      </p:sp>
    </p:spTree>
    <p:extLst>
      <p:ext uri="{BB962C8B-B14F-4D97-AF65-F5344CB8AC3E}">
        <p14:creationId xmlns:p14="http://schemas.microsoft.com/office/powerpoint/2010/main" val="2192613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87D0-1813-CD62-5411-96B8E517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AD1033-DBA9-F85B-EA5A-EDE97BFD6736}"/>
              </a:ext>
            </a:extLst>
          </p:cNvPr>
          <p:cNvGrpSpPr/>
          <p:nvPr/>
        </p:nvGrpSpPr>
        <p:grpSpPr>
          <a:xfrm>
            <a:off x="0" y="0"/>
            <a:ext cx="12192000" cy="1022973"/>
            <a:chOff x="0" y="0"/>
            <a:chExt cx="12192000" cy="10229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A8271E4-18B2-3D79-CFA8-787EA01CA7A7}"/>
                </a:ext>
              </a:extLst>
            </p:cNvPr>
            <p:cNvSpPr/>
            <p:nvPr/>
          </p:nvSpPr>
          <p:spPr>
            <a:xfrm>
              <a:off x="0" y="0"/>
              <a:ext cx="12192000" cy="102297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96F15D3-9DBA-BAA5-525A-422822065351}"/>
                </a:ext>
              </a:extLst>
            </p:cNvPr>
            <p:cNvSpPr txBox="1"/>
            <p:nvPr/>
          </p:nvSpPr>
          <p:spPr>
            <a:xfrm>
              <a:off x="139847" y="272959"/>
              <a:ext cx="8949723" cy="4770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500" b="1" dirty="0">
                  <a:solidFill>
                    <a:schemeClr val="bg1"/>
                  </a:solidFill>
                  <a:latin typeface="IBM Plex Sans" panose="020B0503050000000000" pitchFamily="34" charset="0"/>
                </a:rPr>
                <a:t>Additional Information</a:t>
              </a:r>
              <a:endParaRPr lang="en-IN" sz="2500" b="1" dirty="0">
                <a:solidFill>
                  <a:schemeClr val="bg1"/>
                </a:solidFill>
                <a:latin typeface="IBM Plex Sans Text" panose="020B0503050203000203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86ECF4B-C175-C9B7-B393-002198EBDFF7}"/>
              </a:ext>
            </a:extLst>
          </p:cNvPr>
          <p:cNvSpPr txBox="1"/>
          <p:nvPr/>
        </p:nvSpPr>
        <p:spPr>
          <a:xfrm>
            <a:off x="1174391" y="2006378"/>
            <a:ext cx="88002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2E"/>
                </a:solidFill>
              </a:rPr>
              <a:t>Roadmap &amp; What’s Next</a:t>
            </a:r>
          </a:p>
          <a:p/>
          <a:p>
            <a:r>
              <a:rPr sz="1400" b="1">
                <a:solidFill>
                  <a:srgbClr val="1A1A2E"/>
                </a:solidFill>
              </a:rPr>
              <a:t>Current State (Implemented &amp; Demonstrated):</a:t>
            </a:r>
          </a:p>
          <a:p>
            <a:r>
              <a:rPr sz="1200">
                <a:solidFill>
                  <a:srgbClr val="333333"/>
                </a:solidFill>
              </a:rPr>
              <a:t>  ✓  Full pipeline: detect → diagnose → approve → fix → verify</a:t>
            </a:r>
          </a:p>
          <a:p>
            <a:r>
              <a:rPr sz="1200">
                <a:solidFill>
                  <a:srgbClr val="333333"/>
                </a:solidFill>
              </a:rPr>
              <a:t>  ✓  AI-powered root cause analysis with Amazon Bedrock</a:t>
            </a:r>
          </a:p>
          <a:p>
            <a:r>
              <a:rPr sz="1200">
                <a:solidFill>
                  <a:srgbClr val="333333"/>
                </a:solidFill>
              </a:rPr>
              <a:t>  ✓  Human-in-the-loop email approval with one-click execution</a:t>
            </a:r>
          </a:p>
          <a:p>
            <a:r>
              <a:rPr sz="1200">
                <a:solidFill>
                  <a:srgbClr val="333333"/>
                </a:solidFill>
              </a:rPr>
              <a:t>  ✓  7-layer safety guardrails with circuit breakers</a:t>
            </a:r>
          </a:p>
          <a:p>
            <a:r>
              <a:rPr sz="1200">
                <a:solidFill>
                  <a:srgbClr val="333333"/>
                </a:solidFill>
              </a:rPr>
              <a:t>  ✓  Production-grade deployment on AWS (CDK, ECS Fargate, auto-scaling)</a:t>
            </a:r>
          </a:p>
          <a:p>
            <a:r>
              <a:rPr sz="1200">
                <a:solidFill>
                  <a:srgbClr val="333333"/>
                </a:solidFill>
              </a:rPr>
              <a:t>  ✓  Comprehensive test suite (unit, property-based, integration, load)</a:t>
            </a:r>
          </a:p>
          <a:p/>
          <a:p>
            <a:r>
              <a:rPr sz="1400" b="1">
                <a:solidFill>
                  <a:srgbClr val="1A1A2E"/>
                </a:solidFill>
              </a:rPr>
              <a:t>Next Phase (Q3–Q4 2026):</a:t>
            </a:r>
          </a:p>
          <a:p>
            <a:r>
              <a:rPr sz="1200">
                <a:solidFill>
                  <a:srgbClr val="333333"/>
                </a:solidFill>
              </a:rPr>
              <a:t>  →  Multi-tenant support for managed service providers</a:t>
            </a:r>
          </a:p>
          <a:p>
            <a:r>
              <a:rPr sz="1200">
                <a:solidFill>
                  <a:srgbClr val="333333"/>
                </a:solidFill>
              </a:rPr>
              <a:t>  →  Integration with ServiceNow/Jira for change management workflows</a:t>
            </a:r>
          </a:p>
          <a:p>
            <a:r>
              <a:rPr sz="1200">
                <a:solidFill>
                  <a:srgbClr val="333333"/>
                </a:solidFill>
              </a:rPr>
              <a:t>  →  Predictive alerting: fix problems before they cause customer impact</a:t>
            </a:r>
          </a:p>
          <a:p>
            <a:r>
              <a:rPr sz="1200">
                <a:solidFill>
                  <a:srgbClr val="333333"/>
                </a:solidFill>
              </a:rPr>
              <a:t>  →  Runbook generation: AI writes new playbooks from successful manual fixes</a:t>
            </a:r>
          </a:p>
          <a:p>
            <a:r>
              <a:rPr sz="1200">
                <a:solidFill>
                  <a:srgbClr val="333333"/>
                </a:solidFill>
              </a:rPr>
              <a:t>  →  Voice/chat approval via Teams/Slack bots for faster response</a:t>
            </a:r>
          </a:p>
          <a:p/>
          <a:p>
            <a:r>
              <a:rPr sz="1400" b="1">
                <a:solidFill>
                  <a:srgbClr val="1A1A2E"/>
                </a:solidFill>
              </a:rPr>
              <a:t>Vision:</a:t>
            </a:r>
          </a:p>
          <a:p>
            <a:r>
              <a:rPr sz="1200">
                <a:solidFill>
                  <a:srgbClr val="333333"/>
                </a:solidFill>
              </a:rPr>
              <a:t>  Move from reactive incident response to proactive self-healing networks.</a:t>
            </a:r>
          </a:p>
          <a:p>
            <a:r>
              <a:rPr sz="1200">
                <a:solidFill>
                  <a:srgbClr val="333333"/>
                </a:solidFill>
              </a:rPr>
              <a:t>  The future telecom NOC has 10 engineers managing what used to need 50 —</a:t>
            </a:r>
          </a:p>
          <a:p>
            <a:r>
              <a:rPr sz="1200">
                <a:solidFill>
                  <a:srgbClr val="333333"/>
                </a:solidFill>
              </a:rPr>
              <a:t>  because the infrastructure takes care of the routine work itself.</a:t>
            </a:r>
          </a:p>
          <a:p/>
          <a:p>
            <a:r>
              <a:rPr sz="1400" b="1">
                <a:solidFill>
                  <a:srgbClr val="1A1A2E"/>
                </a:solidFill>
              </a:rPr>
              <a:t>Technology Stack:</a:t>
            </a:r>
          </a:p>
          <a:p>
            <a:r>
              <a:rPr sz="1200">
                <a:solidFill>
                  <a:srgbClr val="333333"/>
                </a:solidFill>
              </a:rPr>
              <a:t>  AWS: ECS Fargate, Bedrock, DynamoDB, SQS, SSM, SES, CloudWatch, CDK</a:t>
            </a:r>
          </a:p>
          <a:p>
            <a:r>
              <a:rPr sz="1200">
                <a:solidFill>
                  <a:srgbClr val="333333"/>
                </a:solidFill>
              </a:rPr>
              <a:t>  AI: Amazon Nova Pro, Claude Sonnet (fallback chain)</a:t>
            </a:r>
          </a:p>
          <a:p>
            <a:r>
              <a:rPr sz="1200">
                <a:solidFill>
                  <a:srgbClr val="333333"/>
                </a:solidFill>
              </a:rPr>
              <a:t>  Automation: Ansible, AWS Systems Manager</a:t>
            </a:r>
          </a:p>
          <a:p>
            <a:r>
              <a:rPr sz="1200">
                <a:solidFill>
                  <a:srgbClr val="333333"/>
                </a:solidFill>
              </a:rPr>
              <a:t>  Language: Python 3.11, FastAPI</a:t>
            </a:r>
          </a:p>
          <a:p/>
          <a:p>
            <a:r>
              <a:rPr sz="1400" b="1">
                <a:solidFill>
                  <a:srgbClr val="1A1A2E"/>
                </a:solidFill>
              </a:rPr>
              <a:t>Contact: Ravindra Yadav | ravindya@in.ibm.com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605316-25B2-A4F1-3E7D-047092A61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8742" y="6384661"/>
            <a:ext cx="773009" cy="3505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A140FF-984E-6B7D-F36A-D979C28A0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991" y="0"/>
            <a:ext cx="773009" cy="6536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6C365AD-E7C4-BA0B-2E82-8BDDF7F733C9}"/>
              </a:ext>
            </a:extLst>
          </p:cNvPr>
          <p:cNvSpPr txBox="1"/>
          <p:nvPr/>
        </p:nvSpPr>
        <p:spPr>
          <a:xfrm>
            <a:off x="11308588" y="660704"/>
            <a:ext cx="102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</a:rPr>
              <a:t>Comm  Sector </a:t>
            </a:r>
          </a:p>
          <a:p>
            <a:r>
              <a:rPr lang="en-IN" sz="900" b="1" dirty="0">
                <a:solidFill>
                  <a:schemeClr val="bg1"/>
                </a:solidFill>
              </a:rPr>
              <a:t>Summit 2026</a:t>
            </a:r>
          </a:p>
        </p:txBody>
      </p:sp>
    </p:spTree>
    <p:extLst>
      <p:ext uri="{BB962C8B-B14F-4D97-AF65-F5344CB8AC3E}">
        <p14:creationId xmlns:p14="http://schemas.microsoft.com/office/powerpoint/2010/main" val="2997557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80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IBM Plex Sans</vt:lpstr>
      <vt:lpstr>IBM Plex Sans Text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IBM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AMALAKRISHNAVENI AMALAKRISHNAVENI</dc:creator>
  <cp:lastModifiedBy>AMALAKRISHNAVENI AMALAKRISHNAVENI</cp:lastModifiedBy>
  <cp:revision>6</cp:revision>
  <dcterms:created xsi:type="dcterms:W3CDTF">2026-07-22T10:37:22Z</dcterms:created>
  <dcterms:modified xsi:type="dcterms:W3CDTF">2026-07-24T05:02:54Z</dcterms:modified>
</cp:coreProperties>
</file>