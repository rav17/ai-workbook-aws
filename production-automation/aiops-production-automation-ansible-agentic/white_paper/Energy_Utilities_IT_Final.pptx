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0" r:id="rId2"/>
    <p:sldId id="264" r:id="rId3"/>
    <p:sldId id="265" r:id="rId4"/>
    <p:sldId id="26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3D2773-B427-4716-8A02-1D5433B473BE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B55578-D650-4172-BB36-AABD54BF6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577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TALKING POINTS:</a:t>
            </a:r>
          </a:p>
          <a:p>
            <a:endParaRPr/>
          </a:p>
          <a:p>
            <a:r>
              <a:t>Open with story: 3:14 AM, billing cycle, meter data server 95% CPU. Engineer wakes, VPNs in, 20 min diagnosing routine issue fixed 12 times before.</a:t>
            </a:r>
          </a:p>
          <a:p>
            <a:endParaRPr/>
          </a:p>
          <a:p>
            <a:r>
              <a:t>Key stats: 200-400 alerts/day typical. 25-40 min MTTR. 23% of outages caused by fix itself. 60%+ repetitive. Alert fatigue after 20+ per shift.</a:t>
            </a:r>
          </a:p>
          <a:p>
            <a:endParaRPr/>
          </a:p>
          <a:p>
            <a:r>
              <a:t>Transition: What if infrastructure could fix routine problems itself with human oversight?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TALKING POINTS:</a:t>
            </a:r>
          </a:p>
          <a:p>
            <a:endParaRPr/>
          </a:p>
          <a:p>
            <a:r>
              <a:t>Walk through 7 steps:</a:t>
            </a:r>
          </a:p>
          <a:p>
            <a:r>
              <a:t>1. DETECT: CloudWatch, alarm in 60s.</a:t>
            </a:r>
          </a:p>
          <a:p>
            <a:r>
              <a:t>2. UNDERSTAND: Enrich - host, service, owner, impact.</a:t>
            </a:r>
          </a:p>
          <a:p>
            <a:r>
              <a:t>3. DECIDE: Known=playbook. New=Bedrock AI. Router: 70% Nova Lite $0.0003, 20% Nova Pro $0.001, 10% Claude $0.003. Saves 60-90%.</a:t>
            </a:r>
          </a:p>
          <a:p>
            <a:r>
              <a:t>4. SAFETY: 7 guardrails short-circuit. Plan validator blocks dangerous commands.</a:t>
            </a:r>
          </a:p>
          <a:p>
            <a:r>
              <a:t>5. APPROVE: HMAC-signed, 30-min expiry, two-step prevents scanner auto-approval.</a:t>
            </a:r>
          </a:p>
          <a:p>
            <a:r>
              <a:t>6. HEAL: SSM no SSH. Stop conditions poll 10s. Fleet breaker halts if 5+ failures.</a:t>
            </a:r>
          </a:p>
          <a:p>
            <a:r>
              <a:t>7. VERIFY: Baking period. Outcome feeds back.</a:t>
            </a:r>
          </a:p>
          <a:p>
            <a:endParaRPr/>
          </a:p>
          <a:p>
            <a:r>
              <a:t>Key: Under 3 minutes for known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TALKING POINTS:</a:t>
            </a:r>
          </a:p>
          <a:p>
            <a:endParaRPr/>
          </a:p>
          <a:p>
            <a:r>
              <a:t>Business: MTTR 25 to 3 min. 24/7 without headcount. Billing cycle protection.</a:t>
            </a:r>
          </a:p>
          <a:p>
            <a:endParaRPr/>
          </a:p>
          <a:p>
            <a:r>
              <a:t>Technical: 70% alerts use Nova Lite (10x cheaper). SSM no bastion. Effectiveness scorer tracks what works.</a:t>
            </a:r>
          </a:p>
          <a:p>
            <a:endParaRPr/>
          </a:p>
          <a:p>
            <a:r>
              <a:t>Safety: 7 guardrails short-circuit. Fleet breaker 5 failures = pause all. Storm: 1000 alerts to 20. Inhibition: DatabaseDown suppresses APITimeout.</a:t>
            </a:r>
          </a:p>
          <a:p>
            <a:endParaRPr/>
          </a:p>
          <a:p>
            <a:r>
              <a:t>Compliance: Full audit trail. Conditional writes = exactly-once. Structured logging with incident_id.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TALKING POINTS:</a:t>
            </a:r>
          </a:p>
          <a:p>
            <a:endParaRPr/>
          </a:p>
          <a:p>
            <a:r>
              <a:t>Architecture: 6 CDK stacks. ECS Fargate serverless. VPC endpoints. $150/month at rest.</a:t>
            </a:r>
          </a:p>
          <a:p>
            <a:endParaRPr/>
          </a:p>
          <a:p>
            <a:r>
              <a:t>Implemented: NOT a POC. CI/CD health gates auto-rollback. 3-tier routing + 4-model fallback. 12 YAML files. OpenTelemetry tracing.</a:t>
            </a:r>
          </a:p>
          <a:p>
            <a:endParaRPr/>
          </a:p>
          <a:p>
            <a:r>
              <a:t>Roadmap: ServiceNow. Predictive alerting. AI-generated runbooks.</a:t>
            </a:r>
          </a:p>
          <a:p>
            <a:endParaRPr/>
          </a:p>
          <a:p>
            <a:r>
              <a:t>Close: 10 engineers managing what used to need 40. IT shifts from firefighting to digital transformation.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6ED9B-B7A7-868C-D018-C5A92CC13A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9FF0BD-B285-4CDA-6CD1-A868D7225E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6BD0A-6733-FF29-AA08-DBAC3EB42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853F5-E75D-4C0F-AB43-EE17137EC60E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0A89D-C39E-F0C2-C5A3-07AF75061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80DC8-C399-37E7-AC55-EAF2E6AE6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8BC03-27C7-4A3B-BA8E-7BB76C7F7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490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2701C-4F9B-364C-AAED-2E555DA7F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B12AD-6B5B-7915-5D38-F808086C58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52F98-4467-9B07-B353-E267AF0F9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853F5-E75D-4C0F-AB43-EE17137EC60E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F0CC6-CE22-B2A7-EE2D-301569236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BF986-DC5F-98F2-A912-30AB4E980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8BC03-27C7-4A3B-BA8E-7BB76C7F7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736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8BE05-AE14-B537-433F-C153A0E5E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DE27D5-A913-C31F-7CDF-91A40A05F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8C7BB-979F-D945-6369-052111EA9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853F5-E75D-4C0F-AB43-EE17137EC60E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3EAA-9642-F485-8D70-B417D1AE5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0352A-C85C-2E70-F8DC-2F687B53E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8BC03-27C7-4A3B-BA8E-7BB76C7F7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319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65CDC-EDC9-9125-67AC-0C3556829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1E073-26ED-D446-1B19-9DC1207EEA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76130F-9A17-4310-742A-D89C43E479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8843BB-0AE8-32C4-7D24-2C3D4B121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853F5-E75D-4C0F-AB43-EE17137EC60E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D4CB54-BB8D-3D09-9C62-635C8ED89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35BBEB-BA87-2D83-94A3-02189F8F8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8BC03-27C7-4A3B-BA8E-7BB76C7F7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094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0BFDA-48FC-F610-AA18-B765971BB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8DC376-0DD4-7C2D-09C7-93083C3CB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A2C5D7-9EF7-2DBF-5D88-9B1386D33F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34527B-50ED-58BF-B2C1-3162C040F3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0399D2-9207-3D8B-0059-5B52E7938F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34BA29-9E81-420C-678C-8F848C5A9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853F5-E75D-4C0F-AB43-EE17137EC60E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9D741B-517D-76FF-1DC3-9D2D8A3A6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E867E3-95BD-614D-00AC-E98963F26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8BC03-27C7-4A3B-BA8E-7BB76C7F7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479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662F8-E50C-D2B2-43FE-5A90D9931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D95339-D802-4B7F-394A-1917AF7A6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853F5-E75D-4C0F-AB43-EE17137EC60E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5AC0F2-E1E4-9065-4B0C-159CEA7CE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4AED9C-2F42-E604-4F57-4E8A92068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8BC03-27C7-4A3B-BA8E-7BB76C7F7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153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B39113-D48D-D087-F860-245EA792F1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0713" y="6356350"/>
            <a:ext cx="2743200" cy="365125"/>
          </a:xfrm>
        </p:spPr>
        <p:txBody>
          <a:bodyPr/>
          <a:lstStyle/>
          <a:p>
            <a:fld id="{B64853F5-E75D-4C0F-AB43-EE17137EC60E}" type="datetimeFigureOut">
              <a:rPr lang="en-US" smtClean="0"/>
              <a:t>8/9/2026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E5E05C-F52C-2E33-28B3-E5F9AA9DB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D68B5B-C279-7303-2B47-F69A7DB35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8BC03-27C7-4A3B-BA8E-7BB76C7F7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747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EED89-767B-C198-A8D2-39E115D64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5320E-1FF8-F020-EAB9-73CD5FE84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1CE418-3B85-AA18-6C53-22C902B72D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BB7C7E-0455-801F-3A74-94EEF2360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853F5-E75D-4C0F-AB43-EE17137EC60E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0CCCC6-FDF1-E2AD-38BE-840CE0B47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AC30D2-0132-BCE1-447B-6F6B3435C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8BC03-27C7-4A3B-BA8E-7BB76C7F7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213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9BC8E-1FC8-409B-EBD4-EC9625C64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726BE2-521F-FDF1-3974-81B4468877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7E92FC-8EA4-540D-399F-5E22BC704D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97DE84-C6B5-D4BB-D126-971C3EE6B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853F5-E75D-4C0F-AB43-EE17137EC60E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26A1EA-43CB-EB62-7A03-7D0AECC25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B06F6-087A-8241-38DA-AE7DF3287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8BC03-27C7-4A3B-BA8E-7BB76C7F7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864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BC878-3E3F-01F8-522A-DB68C3433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AE075A-A2D7-EE83-99D0-7BECFB11A6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F006B-8A55-F84D-2664-50C758151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853F5-E75D-4C0F-AB43-EE17137EC60E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43C61-F14F-0D15-4A31-F3B6C3B45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5E385F-5954-7DA0-8F8D-06CC11AB8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8BC03-27C7-4A3B-BA8E-7BB76C7F7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934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2E30A3-AB4F-702A-C21F-9BECACD93A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FF8CB8-B7B5-1BE8-AB70-0048BE2D71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95F14-B92D-9902-C06C-996C4D725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853F5-E75D-4C0F-AB43-EE17137EC60E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D700F-C6F2-68C8-5F7D-414D23AC8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911117-3162-97F7-B781-AFFA05733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8BC03-27C7-4A3B-BA8E-7BB76C7F7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510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E050FC-821A-0ACC-3F24-FE9934569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A2D08B-6CC3-F2B9-4665-B546B05F6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3FC1B-ED5E-211D-59F7-F84848749D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4853F5-E75D-4C0F-AB43-EE17137EC60E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4760F-592F-3F58-6F33-6A4AD759DB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F1775-8400-A452-6CFF-6D59C91A56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18BC03-27C7-4A3B-BA8E-7BB76C7F741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E22E16-355D-BB00-FC55-0023B7BEC9DC}"/>
              </a:ext>
            </a:extLst>
          </p:cNvPr>
          <p:cNvSpPr/>
          <p:nvPr userDrawn="1"/>
        </p:nvSpPr>
        <p:spPr>
          <a:xfrm>
            <a:off x="132522" y="6492241"/>
            <a:ext cx="4572000" cy="36575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73152" rIns="54864" bIns="36576" rtlCol="0" anchor="ctr"/>
          <a:lstStyle/>
          <a:p>
            <a:r>
              <a:rPr sz="1200" dirty="0">
                <a:solidFill>
                  <a:srgbClr val="666666"/>
                </a:solidFill>
              </a:rPr>
              <a:t>IBM Consulting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558BD16-BF63-5B20-ECC5-DD10128401CE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418991" y="0"/>
            <a:ext cx="773009" cy="81023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8E08075-0BFD-BF7E-B6A8-26698802A4FA}"/>
              </a:ext>
            </a:extLst>
          </p:cNvPr>
          <p:cNvSpPr txBox="1"/>
          <p:nvPr userDrawn="1"/>
        </p:nvSpPr>
        <p:spPr>
          <a:xfrm>
            <a:off x="11381075" y="728241"/>
            <a:ext cx="1121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>
                <a:solidFill>
                  <a:schemeClr val="bg1"/>
                </a:solidFill>
              </a:rPr>
              <a:t>Comm Sector Submit 2026</a:t>
            </a:r>
          </a:p>
        </p:txBody>
      </p:sp>
    </p:spTree>
    <p:extLst>
      <p:ext uri="{BB962C8B-B14F-4D97-AF65-F5344CB8AC3E}">
        <p14:creationId xmlns:p14="http://schemas.microsoft.com/office/powerpoint/2010/main" val="3360542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B5AEB-9498-56BA-6F9F-A29A7943F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166071B-2BE1-03FC-3888-B1105AC72B73}"/>
              </a:ext>
            </a:extLst>
          </p:cNvPr>
          <p:cNvGrpSpPr/>
          <p:nvPr/>
        </p:nvGrpSpPr>
        <p:grpSpPr>
          <a:xfrm>
            <a:off x="0" y="0"/>
            <a:ext cx="12192000" cy="1022973"/>
            <a:chOff x="0" y="0"/>
            <a:chExt cx="12192000" cy="102297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C24E878-63DC-C13F-5688-A28CA25C1714}"/>
                </a:ext>
              </a:extLst>
            </p:cNvPr>
            <p:cNvSpPr/>
            <p:nvPr/>
          </p:nvSpPr>
          <p:spPr>
            <a:xfrm>
              <a:off x="0" y="0"/>
              <a:ext cx="12192000" cy="102297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6B85FE0-54A3-C620-63B4-9C631F4AE7AD}"/>
                </a:ext>
              </a:extLst>
            </p:cNvPr>
            <p:cNvSpPr txBox="1"/>
            <p:nvPr/>
          </p:nvSpPr>
          <p:spPr>
            <a:xfrm>
              <a:off x="139847" y="272959"/>
              <a:ext cx="8949723" cy="4770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IN" sz="2500" b="1" dirty="0">
                  <a:solidFill>
                    <a:schemeClr val="bg1"/>
                  </a:solidFill>
                  <a:latin typeface="IBM Plex Sans" panose="020B0503050000000000" pitchFamily="34" charset="0"/>
                </a:rPr>
                <a:t>Problem Statement/ Challenge/ Current situation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E95F1F9B-D0B0-8F56-F626-0B61B4485469}"/>
              </a:ext>
            </a:extLst>
          </p:cNvPr>
          <p:cNvSpPr txBox="1"/>
          <p:nvPr/>
        </p:nvSpPr>
        <p:spPr>
          <a:xfrm>
            <a:off x="548640" y="1097280"/>
            <a:ext cx="9326880" cy="5212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600" b="1" i="0">
                <a:solidFill>
                  <a:srgbClr val="1A1A2E"/>
                </a:solidFill>
              </a:rPr>
              <a:t>When Your Billing System Crashes at 3 AM, Who Fixes It?</a:t>
            </a:r>
          </a:p>
          <a:p>
            <a:endParaRPr sz="2600" b="1" i="0">
              <a:solidFill>
                <a:srgbClr val="1A1A2E"/>
              </a:solidFill>
            </a:endParaRPr>
          </a:p>
          <a:p>
            <a:r>
              <a:rPr sz="1600" b="0" i="0">
                <a:solidFill>
                  <a:srgbClr val="333333"/>
                </a:solidFill>
              </a:rPr>
              <a:t>Energy &amp; utilities IT: billing, portals, meter data, ERP.</a:t>
            </a:r>
          </a:p>
          <a:p>
            <a:r>
              <a:rPr sz="1600" b="0" i="0">
                <a:solidFill>
                  <a:srgbClr val="333333"/>
                </a:solidFill>
              </a:rPr>
              <a:t>When it breaks: engineer paged → VPN → diagnose → fix. 15–45 min.</a:t>
            </a:r>
          </a:p>
          <a:p>
            <a:endParaRPr sz="1600" b="0" i="0">
              <a:solidFill>
                <a:srgbClr val="333333"/>
              </a:solidFill>
            </a:endParaRPr>
          </a:p>
          <a:p>
            <a:r>
              <a:rPr sz="1500" b="0" i="0">
                <a:solidFill>
                  <a:srgbClr val="333333"/>
                </a:solidFill>
              </a:rPr>
              <a:t>•  200–400 alerts/day — 1,000+ during billing cycles</a:t>
            </a:r>
          </a:p>
          <a:p>
            <a:r>
              <a:rPr sz="1500" b="0" i="0">
                <a:solidFill>
                  <a:srgbClr val="333333"/>
                </a:solidFill>
              </a:rPr>
              <a:t>•  25–40 min MTTR for routine issues</a:t>
            </a:r>
          </a:p>
          <a:p>
            <a:r>
              <a:rPr sz="1500" b="0" i="0">
                <a:solidFill>
                  <a:srgbClr val="333333"/>
                </a:solidFill>
              </a:rPr>
              <a:t>•  23% of outages extended by incorrect manual fixes</a:t>
            </a:r>
          </a:p>
          <a:p>
            <a:r>
              <a:rPr sz="1500" b="0" i="0">
                <a:solidFill>
                  <a:srgbClr val="333333"/>
                </a:solidFill>
              </a:rPr>
              <a:t>•  60%+ alerts are repetitive — same issue, same fix</a:t>
            </a:r>
          </a:p>
          <a:p>
            <a:r>
              <a:rPr sz="1500" b="0" i="0">
                <a:solidFill>
                  <a:srgbClr val="333333"/>
                </a:solidFill>
              </a:rPr>
              <a:t>•  Alert fatigue: engineers ignore alerts after 20+ in shift</a:t>
            </a:r>
          </a:p>
          <a:p>
            <a:endParaRPr sz="1500" b="0" i="0">
              <a:solidFill>
                <a:srgbClr val="333333"/>
              </a:solidFill>
            </a:endParaRPr>
          </a:p>
          <a:p>
            <a:r>
              <a:rPr sz="1800" b="1" i="1">
                <a:solidFill>
                  <a:srgbClr val="1A1A2E"/>
                </a:solidFill>
              </a:rPr>
              <a:t>What if IT infrastructure could fix routine problems itself?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10CB787-D541-B447-246D-3945C88253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68742" y="6384661"/>
            <a:ext cx="773009" cy="35052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6E21C9F-67BA-E065-F7CE-16E58DC8FB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18991" y="0"/>
            <a:ext cx="773009" cy="65364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A10EF07-D3AF-56A8-2490-94E44FD4DABE}"/>
              </a:ext>
            </a:extLst>
          </p:cNvPr>
          <p:cNvSpPr txBox="1"/>
          <p:nvPr/>
        </p:nvSpPr>
        <p:spPr>
          <a:xfrm>
            <a:off x="11308588" y="660704"/>
            <a:ext cx="10232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b="1" dirty="0">
                <a:solidFill>
                  <a:schemeClr val="bg1"/>
                </a:solidFill>
              </a:rPr>
              <a:t>Comm  Sector </a:t>
            </a:r>
          </a:p>
          <a:p>
            <a:r>
              <a:rPr lang="en-IN" sz="900" b="1" dirty="0">
                <a:solidFill>
                  <a:schemeClr val="bg1"/>
                </a:solidFill>
              </a:rPr>
              <a:t>Summit 2026</a:t>
            </a:r>
          </a:p>
        </p:txBody>
      </p:sp>
    </p:spTree>
    <p:extLst>
      <p:ext uri="{BB962C8B-B14F-4D97-AF65-F5344CB8AC3E}">
        <p14:creationId xmlns:p14="http://schemas.microsoft.com/office/powerpoint/2010/main" val="3399109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6EDDC-E5BA-8BC8-7852-BEBA90802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8879398-0594-D9AC-3EF2-A72386B405E4}"/>
              </a:ext>
            </a:extLst>
          </p:cNvPr>
          <p:cNvGrpSpPr/>
          <p:nvPr/>
        </p:nvGrpSpPr>
        <p:grpSpPr>
          <a:xfrm>
            <a:off x="0" y="0"/>
            <a:ext cx="12192000" cy="1022973"/>
            <a:chOff x="0" y="0"/>
            <a:chExt cx="12192000" cy="102297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724BDFB-695D-76D0-F5BC-52F85BB22B8B}"/>
                </a:ext>
              </a:extLst>
            </p:cNvPr>
            <p:cNvSpPr/>
            <p:nvPr/>
          </p:nvSpPr>
          <p:spPr>
            <a:xfrm>
              <a:off x="0" y="0"/>
              <a:ext cx="12192000" cy="102297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83E2AB3-947B-1039-8BD2-C8AD7E7CF44F}"/>
                </a:ext>
              </a:extLst>
            </p:cNvPr>
            <p:cNvSpPr txBox="1"/>
            <p:nvPr/>
          </p:nvSpPr>
          <p:spPr>
            <a:xfrm>
              <a:off x="139847" y="272959"/>
              <a:ext cx="8949723" cy="4770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2500" b="1" dirty="0">
                  <a:solidFill>
                    <a:schemeClr val="bg1"/>
                  </a:solidFill>
                  <a:latin typeface="IBM Plex Sans" panose="020B0503050000000000" pitchFamily="34" charset="0"/>
                </a:rPr>
                <a:t>Solution</a:t>
              </a:r>
              <a:endParaRPr lang="en-IN" sz="2500" b="1" dirty="0">
                <a:solidFill>
                  <a:schemeClr val="bg1"/>
                </a:solidFill>
                <a:latin typeface="IBM Plex Sans Text" panose="020B0503050203000203" pitchFamily="34" charset="0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F1D49CD6-B874-E15B-4FAD-1F5E52CC8EE6}"/>
              </a:ext>
            </a:extLst>
          </p:cNvPr>
          <p:cNvSpPr txBox="1"/>
          <p:nvPr/>
        </p:nvSpPr>
        <p:spPr>
          <a:xfrm>
            <a:off x="548640" y="1097280"/>
            <a:ext cx="9326880" cy="5212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600" b="1" i="0">
                <a:solidFill>
                  <a:srgbClr val="1A1A2E"/>
                </a:solidFill>
              </a:rPr>
              <a:t>AI-Powered Self-Healing IT Infrastructure</a:t>
            </a:r>
          </a:p>
          <a:p>
            <a:r>
              <a:rPr sz="1400" b="0" i="1">
                <a:solidFill>
                  <a:srgbClr val="555555"/>
                </a:solidFill>
              </a:rPr>
              <a:t>Fixes problems before business users notice</a:t>
            </a:r>
          </a:p>
          <a:p>
            <a:endParaRPr sz="1400" b="0" i="1">
              <a:solidFill>
                <a:srgbClr val="555555"/>
              </a:solidFill>
            </a:endParaRPr>
          </a:p>
          <a:p>
            <a:r>
              <a:rPr sz="1500" b="0" i="0">
                <a:solidFill>
                  <a:srgbClr val="333333"/>
                </a:solidFill>
              </a:rPr>
              <a:t>1. DETECT — CloudWatch alarm in &lt;60s</a:t>
            </a:r>
          </a:p>
          <a:p>
            <a:r>
              <a:rPr sz="1500" b="0" i="0">
                <a:solidFill>
                  <a:srgbClr val="333333"/>
                </a:solidFill>
              </a:rPr>
              <a:t>2. UNDERSTAND — Enrich: app, team, customers, dependencies</a:t>
            </a:r>
          </a:p>
          <a:p>
            <a:r>
              <a:rPr sz="1500" b="0" i="0">
                <a:solidFill>
                  <a:srgbClr val="333333"/>
                </a:solidFill>
              </a:rPr>
              <a:t>3. DECIDE — Known → playbook | New → AI (Bedrock)</a:t>
            </a:r>
          </a:p>
          <a:p>
            <a:r>
              <a:rPr sz="1500" b="0" i="0">
                <a:solidFill>
                  <a:srgbClr val="333333"/>
                </a:solidFill>
              </a:rPr>
              <a:t>4. SAFETY — 7-layer guardrails (short-circuit on DENY)</a:t>
            </a:r>
          </a:p>
          <a:p>
            <a:r>
              <a:rPr sz="1500" b="0" i="0">
                <a:solidFill>
                  <a:srgbClr val="333333"/>
                </a:solidFill>
              </a:rPr>
              <a:t>5. APPROVE — Email + one-click approve (30-min expiry)</a:t>
            </a:r>
          </a:p>
          <a:p>
            <a:r>
              <a:rPr sz="1500" b="0" i="0">
                <a:solidFill>
                  <a:srgbClr val="333333"/>
                </a:solidFill>
              </a:rPr>
              <a:t>6. HEAL — Ansible via SSM | Stop conditions monitor live</a:t>
            </a:r>
          </a:p>
          <a:p>
            <a:r>
              <a:rPr sz="1500" b="0" i="0">
                <a:solidFill>
                  <a:srgbClr val="333333"/>
                </a:solidFill>
              </a:rPr>
              <a:t>7. VERIFY — Baking period confirms fix worked</a:t>
            </a:r>
          </a:p>
          <a:p>
            <a:endParaRPr sz="1500" b="0" i="0">
              <a:solidFill>
                <a:srgbClr val="333333"/>
              </a:solidFill>
            </a:endParaRPr>
          </a:p>
          <a:p>
            <a:r>
              <a:rPr sz="1800" b="1" i="0">
                <a:solidFill>
                  <a:srgbClr val="1A1A2E"/>
                </a:solidFill>
              </a:rPr>
              <a:t>Alert → Resolution in under 3 minutes</a:t>
            </a:r>
          </a:p>
          <a:p>
            <a:endParaRPr sz="1800" b="1" i="0">
              <a:solidFill>
                <a:srgbClr val="1A1A2E"/>
              </a:solidFill>
            </a:endParaRPr>
          </a:p>
          <a:p>
            <a:r>
              <a:rPr sz="1200" b="0" i="0">
                <a:solidFill>
                  <a:srgbClr val="555555"/>
                </a:solidFill>
              </a:rPr>
              <a:t>Bedrock (Nova/Claude) | Ansible+SSM | 7-Layer Safety | ECS Fargate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893832F-EB4F-DB8B-801E-BCB4AD2D1F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68742" y="6384661"/>
            <a:ext cx="773009" cy="35052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ECF401B-D84B-1C0C-6A41-C1B3ED8C10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18991" y="0"/>
            <a:ext cx="773009" cy="65364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AB9029F-79CC-D60D-BCBF-40504DCAB56D}"/>
              </a:ext>
            </a:extLst>
          </p:cNvPr>
          <p:cNvSpPr txBox="1"/>
          <p:nvPr/>
        </p:nvSpPr>
        <p:spPr>
          <a:xfrm>
            <a:off x="11308588" y="660704"/>
            <a:ext cx="10232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b="1" dirty="0">
                <a:solidFill>
                  <a:schemeClr val="bg1"/>
                </a:solidFill>
              </a:rPr>
              <a:t>Comm  Sector </a:t>
            </a:r>
          </a:p>
          <a:p>
            <a:r>
              <a:rPr lang="en-IN" sz="900" b="1" dirty="0">
                <a:solidFill>
                  <a:schemeClr val="bg1"/>
                </a:solidFill>
              </a:rPr>
              <a:t>Summit 2026</a:t>
            </a:r>
          </a:p>
        </p:txBody>
      </p:sp>
    </p:spTree>
    <p:extLst>
      <p:ext uri="{BB962C8B-B14F-4D97-AF65-F5344CB8AC3E}">
        <p14:creationId xmlns:p14="http://schemas.microsoft.com/office/powerpoint/2010/main" val="2472395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68372-F082-F474-5CE1-DE61AC484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F5AA51D-EF16-7A7E-2544-3924A56AC3F7}"/>
              </a:ext>
            </a:extLst>
          </p:cNvPr>
          <p:cNvGrpSpPr/>
          <p:nvPr/>
        </p:nvGrpSpPr>
        <p:grpSpPr>
          <a:xfrm>
            <a:off x="0" y="0"/>
            <a:ext cx="12192000" cy="1022973"/>
            <a:chOff x="0" y="0"/>
            <a:chExt cx="12192000" cy="102297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20B5931-4D08-B10B-15A7-8C1AB228E610}"/>
                </a:ext>
              </a:extLst>
            </p:cNvPr>
            <p:cNvSpPr/>
            <p:nvPr/>
          </p:nvSpPr>
          <p:spPr>
            <a:xfrm>
              <a:off x="0" y="0"/>
              <a:ext cx="12192000" cy="102297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CE41010-DC6A-A515-A6BF-00C251786C28}"/>
                </a:ext>
              </a:extLst>
            </p:cNvPr>
            <p:cNvSpPr txBox="1"/>
            <p:nvPr/>
          </p:nvSpPr>
          <p:spPr>
            <a:xfrm>
              <a:off x="139847" y="272959"/>
              <a:ext cx="8949723" cy="4770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2500" b="1" dirty="0">
                  <a:solidFill>
                    <a:schemeClr val="bg1"/>
                  </a:solidFill>
                  <a:latin typeface="IBM Plex Sans" panose="020B0503050000000000" pitchFamily="34" charset="0"/>
                </a:rPr>
                <a:t>Benefits</a:t>
              </a:r>
              <a:endParaRPr lang="en-IN" sz="2500" b="1" dirty="0">
                <a:solidFill>
                  <a:schemeClr val="bg1"/>
                </a:solidFill>
                <a:latin typeface="IBM Plex Sans Text" panose="020B0503050203000203" pitchFamily="34" charset="0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0A198FD-0E0F-2C66-EB81-195416FDF609}"/>
              </a:ext>
            </a:extLst>
          </p:cNvPr>
          <p:cNvSpPr txBox="1"/>
          <p:nvPr/>
        </p:nvSpPr>
        <p:spPr>
          <a:xfrm>
            <a:off x="548640" y="1097280"/>
            <a:ext cx="9326880" cy="5212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600" b="1" i="0">
                <a:solidFill>
                  <a:srgbClr val="1A1A2E"/>
                </a:solidFill>
              </a:rPr>
              <a:t>Why This Matters for Utility IT</a:t>
            </a:r>
          </a:p>
          <a:p>
            <a:endParaRPr sz="2600" b="1" i="0">
              <a:solidFill>
                <a:srgbClr val="1A1A2E"/>
              </a:solidFill>
            </a:endParaRPr>
          </a:p>
          <a:p>
            <a:r>
              <a:rPr sz="1800" b="1" i="0">
                <a:solidFill>
                  <a:srgbClr val="1A1A2E"/>
                </a:solidFill>
              </a:rPr>
              <a:t>Business</a:t>
            </a:r>
          </a:p>
          <a:p>
            <a:r>
              <a:rPr sz="1400" b="0" i="0">
                <a:solidFill>
                  <a:srgbClr val="333333"/>
                </a:solidFill>
              </a:rPr>
              <a:t>•  80% MTTR reduction (25 min → 3 min) | Fewer SLA breaches</a:t>
            </a:r>
          </a:p>
          <a:p>
            <a:r>
              <a:rPr sz="1400" b="0" i="0">
                <a:solidFill>
                  <a:srgbClr val="333333"/>
                </a:solidFill>
              </a:rPr>
              <a:t>•  24/7 coverage without headcount | Billing cycle protection</a:t>
            </a:r>
          </a:p>
          <a:p>
            <a:endParaRPr sz="1400" b="0" i="0">
              <a:solidFill>
                <a:srgbClr val="333333"/>
              </a:solidFill>
            </a:endParaRPr>
          </a:p>
          <a:p>
            <a:r>
              <a:rPr sz="1800" b="1" i="0">
                <a:solidFill>
                  <a:srgbClr val="1A1A2E"/>
                </a:solidFill>
              </a:rPr>
              <a:t>Technical</a:t>
            </a:r>
          </a:p>
          <a:p>
            <a:r>
              <a:rPr sz="1400" b="0" i="0">
                <a:solidFill>
                  <a:srgbClr val="333333"/>
                </a:solidFill>
              </a:rPr>
              <a:t>•  60–90% AI cost savings via intelligent model routing</a:t>
            </a:r>
          </a:p>
          <a:p>
            <a:r>
              <a:rPr sz="1400" b="0" i="0">
                <a:solidFill>
                  <a:srgbClr val="333333"/>
                </a:solidFill>
              </a:rPr>
              <a:t>•  Zero SSH keys | Self-improving effectiveness scorer</a:t>
            </a:r>
          </a:p>
          <a:p>
            <a:endParaRPr sz="1400" b="0" i="0">
              <a:solidFill>
                <a:srgbClr val="333333"/>
              </a:solidFill>
            </a:endParaRPr>
          </a:p>
          <a:p>
            <a:r>
              <a:rPr sz="1800" b="1" i="0">
                <a:solidFill>
                  <a:srgbClr val="1A1A2E"/>
                </a:solidFill>
              </a:rPr>
              <a:t>Operational Safety</a:t>
            </a:r>
          </a:p>
          <a:p>
            <a:r>
              <a:rPr sz="1400" b="0" i="0">
                <a:solidFill>
                  <a:srgbClr val="333333"/>
                </a:solidFill>
              </a:rPr>
              <a:t>•  7 guardrails + fleet breaker + stop conditions</a:t>
            </a:r>
          </a:p>
          <a:p>
            <a:r>
              <a:rPr sz="1400" b="0" i="0">
                <a:solidFill>
                  <a:srgbClr val="333333"/>
                </a:solidFill>
              </a:rPr>
              <a:t>•  Storm: 1,000 alerts → ~20 actions | DBs never auto-remediated</a:t>
            </a:r>
          </a:p>
          <a:p>
            <a:endParaRPr sz="1400" b="0" i="0">
              <a:solidFill>
                <a:srgbClr val="333333"/>
              </a:solidFill>
            </a:endParaRPr>
          </a:p>
          <a:p>
            <a:r>
              <a:rPr sz="1800" b="1" i="0">
                <a:solidFill>
                  <a:srgbClr val="1A1A2E"/>
                </a:solidFill>
              </a:rPr>
              <a:t>Compliance</a:t>
            </a:r>
          </a:p>
          <a:p>
            <a:r>
              <a:rPr sz="1400" b="0" i="0">
                <a:solidFill>
                  <a:srgbClr val="333333"/>
                </a:solidFill>
              </a:rPr>
              <a:t>•  Full DynamoDB audit trail | SOX-ready | Change mgmt compatible</a:t>
            </a:r>
          </a:p>
          <a:p>
            <a:r>
              <a:rPr sz="1400" b="0" i="0">
                <a:solidFill>
                  <a:srgbClr val="333333"/>
                </a:solidFill>
              </a:rPr>
              <a:t>•  HMAC-signed tokens | Exactly-once execution | 30-min expiry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C7A93B7-753D-E135-C20B-44F981F79F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68742" y="6384661"/>
            <a:ext cx="773009" cy="35052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8C29982-7886-EDE1-E908-CB13EC037F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18991" y="0"/>
            <a:ext cx="773009" cy="65364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CA93CA5-12E3-48AF-B8CA-C3D7FB219B0E}"/>
              </a:ext>
            </a:extLst>
          </p:cNvPr>
          <p:cNvSpPr txBox="1"/>
          <p:nvPr/>
        </p:nvSpPr>
        <p:spPr>
          <a:xfrm>
            <a:off x="11308588" y="660704"/>
            <a:ext cx="10232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b="1" dirty="0">
                <a:solidFill>
                  <a:schemeClr val="bg1"/>
                </a:solidFill>
              </a:rPr>
              <a:t>Comm  Sector </a:t>
            </a:r>
          </a:p>
          <a:p>
            <a:r>
              <a:rPr lang="en-IN" sz="900" b="1" dirty="0">
                <a:solidFill>
                  <a:schemeClr val="bg1"/>
                </a:solidFill>
              </a:rPr>
              <a:t>Summit 2026</a:t>
            </a:r>
          </a:p>
        </p:txBody>
      </p:sp>
    </p:spTree>
    <p:extLst>
      <p:ext uri="{BB962C8B-B14F-4D97-AF65-F5344CB8AC3E}">
        <p14:creationId xmlns:p14="http://schemas.microsoft.com/office/powerpoint/2010/main" val="2192613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487D0-1813-CD62-5411-96B8E5174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DAD1033-DBA9-F85B-EA5A-EDE97BFD6736}"/>
              </a:ext>
            </a:extLst>
          </p:cNvPr>
          <p:cNvGrpSpPr/>
          <p:nvPr/>
        </p:nvGrpSpPr>
        <p:grpSpPr>
          <a:xfrm>
            <a:off x="0" y="0"/>
            <a:ext cx="12192000" cy="1022973"/>
            <a:chOff x="0" y="0"/>
            <a:chExt cx="12192000" cy="102297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A8271E4-18B2-3D79-CFA8-787EA01CA7A7}"/>
                </a:ext>
              </a:extLst>
            </p:cNvPr>
            <p:cNvSpPr/>
            <p:nvPr/>
          </p:nvSpPr>
          <p:spPr>
            <a:xfrm>
              <a:off x="0" y="0"/>
              <a:ext cx="12192000" cy="102297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96F15D3-9DBA-BAA5-525A-422822065351}"/>
                </a:ext>
              </a:extLst>
            </p:cNvPr>
            <p:cNvSpPr txBox="1"/>
            <p:nvPr/>
          </p:nvSpPr>
          <p:spPr>
            <a:xfrm>
              <a:off x="139847" y="272959"/>
              <a:ext cx="8949723" cy="4770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2500" b="1" dirty="0">
                  <a:solidFill>
                    <a:schemeClr val="bg1"/>
                  </a:solidFill>
                  <a:latin typeface="IBM Plex Sans" panose="020B0503050000000000" pitchFamily="34" charset="0"/>
                </a:rPr>
                <a:t>Additional Information</a:t>
              </a:r>
              <a:endParaRPr lang="en-IN" sz="2500" b="1" dirty="0">
                <a:solidFill>
                  <a:schemeClr val="bg1"/>
                </a:solidFill>
                <a:latin typeface="IBM Plex Sans Text" panose="020B0503050203000203" pitchFamily="34" charset="0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A86ECF4B-C175-C9B7-B393-002198EBDFF7}"/>
              </a:ext>
            </a:extLst>
          </p:cNvPr>
          <p:cNvSpPr txBox="1"/>
          <p:nvPr/>
        </p:nvSpPr>
        <p:spPr>
          <a:xfrm>
            <a:off x="548640" y="1097280"/>
            <a:ext cx="9326880" cy="5212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600" b="1" i="0" dirty="0">
                <a:solidFill>
                  <a:srgbClr val="1A1A2E"/>
                </a:solidFill>
              </a:rPr>
              <a:t>Architecture &amp; Roadmap</a:t>
            </a:r>
          </a:p>
          <a:p>
            <a:endParaRPr sz="2600" b="1" i="0" dirty="0">
              <a:solidFill>
                <a:srgbClr val="1A1A2E"/>
              </a:solidFill>
            </a:endParaRPr>
          </a:p>
          <a:p>
            <a:r>
              <a:rPr sz="1600" b="1" i="0" dirty="0">
                <a:solidFill>
                  <a:srgbClr val="1A1A2E"/>
                </a:solidFill>
              </a:rPr>
              <a:t>AWS Architecture (6 CDK Stacks)</a:t>
            </a:r>
          </a:p>
          <a:p>
            <a:r>
              <a:rPr sz="1300" b="0" i="0" dirty="0" err="1">
                <a:solidFill>
                  <a:srgbClr val="333333"/>
                </a:solidFill>
              </a:rPr>
              <a:t>VPC+Endpoints</a:t>
            </a:r>
            <a:r>
              <a:rPr sz="1300" b="0" i="0" dirty="0">
                <a:solidFill>
                  <a:srgbClr val="333333"/>
                </a:solidFill>
              </a:rPr>
              <a:t> | ECS Fargate | </a:t>
            </a:r>
            <a:r>
              <a:rPr sz="1300" b="0" i="0" dirty="0" err="1">
                <a:solidFill>
                  <a:srgbClr val="333333"/>
                </a:solidFill>
              </a:rPr>
              <a:t>DynamoDB+SQS</a:t>
            </a:r>
            <a:r>
              <a:rPr sz="1300" b="0" i="0" dirty="0">
                <a:solidFill>
                  <a:srgbClr val="333333"/>
                </a:solidFill>
              </a:rPr>
              <a:t> | API GW+WAF | Bedrock | SSM</a:t>
            </a:r>
          </a:p>
          <a:p>
            <a:endParaRPr sz="1300" b="0" i="0" dirty="0">
              <a:solidFill>
                <a:srgbClr val="333333"/>
              </a:solidFill>
            </a:endParaRPr>
          </a:p>
          <a:p>
            <a:r>
              <a:rPr sz="1600" b="1" i="0" dirty="0">
                <a:solidFill>
                  <a:srgbClr val="1A1A2E"/>
                </a:solidFill>
              </a:rPr>
              <a:t>Implemented Today</a:t>
            </a:r>
          </a:p>
          <a:p>
            <a:r>
              <a:rPr sz="1300" b="0" i="0" dirty="0">
                <a:solidFill>
                  <a:srgbClr val="333333"/>
                </a:solidFill>
              </a:rPr>
              <a:t>✓  Full 7-step pipeline with AI reasoning + human approval</a:t>
            </a:r>
          </a:p>
          <a:p>
            <a:r>
              <a:rPr sz="1300" b="0" i="0" dirty="0">
                <a:solidFill>
                  <a:srgbClr val="333333"/>
                </a:solidFill>
              </a:rPr>
              <a:t>✓  3-tier model routing + 4-model fallback chain</a:t>
            </a:r>
          </a:p>
          <a:p>
            <a:r>
              <a:rPr sz="1300" b="0" i="0" dirty="0">
                <a:solidFill>
                  <a:srgbClr val="333333"/>
                </a:solidFill>
              </a:rPr>
              <a:t>✓  7-layer safety + fleet breaker + stop conditions + baking</a:t>
            </a:r>
          </a:p>
          <a:p>
            <a:r>
              <a:rPr sz="1300" b="0" i="0" dirty="0">
                <a:solidFill>
                  <a:srgbClr val="333333"/>
                </a:solidFill>
              </a:rPr>
              <a:t>✓  12 YAML configs | </a:t>
            </a:r>
            <a:r>
              <a:rPr sz="1300" b="0" i="0" dirty="0" err="1">
                <a:solidFill>
                  <a:srgbClr val="333333"/>
                </a:solidFill>
              </a:rPr>
              <a:t>OpenTelemetry</a:t>
            </a:r>
            <a:r>
              <a:rPr sz="1300" b="0" i="0" dirty="0">
                <a:solidFill>
                  <a:srgbClr val="333333"/>
                </a:solidFill>
              </a:rPr>
              <a:t> tracing | CI/CD + auto-rollback</a:t>
            </a:r>
          </a:p>
          <a:p>
            <a:endParaRPr sz="1300" b="0" i="0" dirty="0">
              <a:solidFill>
                <a:srgbClr val="333333"/>
              </a:solidFill>
            </a:endParaRPr>
          </a:p>
          <a:p>
            <a:r>
              <a:rPr sz="1600" b="1" i="0" dirty="0">
                <a:solidFill>
                  <a:srgbClr val="1A1A2E"/>
                </a:solidFill>
              </a:rPr>
              <a:t>Next (Q3–Q4 2026)</a:t>
            </a:r>
          </a:p>
          <a:p>
            <a:r>
              <a:rPr sz="1300" b="0" i="0" dirty="0">
                <a:solidFill>
                  <a:srgbClr val="333333"/>
                </a:solidFill>
              </a:rPr>
              <a:t>→  </a:t>
            </a:r>
            <a:r>
              <a:rPr lang="en-US" sz="1300" b="0" i="0" dirty="0">
                <a:solidFill>
                  <a:srgbClr val="333333"/>
                </a:solidFill>
              </a:rPr>
              <a:t>Integration with </a:t>
            </a:r>
            <a:r>
              <a:rPr lang="en-US" sz="1300" b="0" i="0">
                <a:solidFill>
                  <a:srgbClr val="333333"/>
                </a:solidFill>
              </a:rPr>
              <a:t>AWS DevOps Agent </a:t>
            </a:r>
            <a:r>
              <a:rPr sz="1300" b="0" i="0">
                <a:solidFill>
                  <a:srgbClr val="333333"/>
                </a:solidFill>
              </a:rPr>
              <a:t>| </a:t>
            </a:r>
            <a:r>
              <a:rPr lang="en-IN" sz="1300" dirty="0">
                <a:solidFill>
                  <a:srgbClr val="333333"/>
                </a:solidFill>
              </a:rPr>
              <a:t>ServiceNow/BMC </a:t>
            </a:r>
            <a:r>
              <a:rPr sz="1300" b="0" i="0" dirty="0">
                <a:solidFill>
                  <a:srgbClr val="333333"/>
                </a:solidFill>
              </a:rPr>
              <a:t>| AI-generated runbooks</a:t>
            </a:r>
          </a:p>
          <a:p>
            <a:r>
              <a:rPr sz="1300" b="0" i="0" dirty="0">
                <a:solidFill>
                  <a:srgbClr val="333333"/>
                </a:solidFill>
              </a:rPr>
              <a:t>→  Teams/Slack approval | Multi-cloud support</a:t>
            </a:r>
          </a:p>
          <a:p>
            <a:endParaRPr sz="1300" b="0" i="0" dirty="0">
              <a:solidFill>
                <a:srgbClr val="333333"/>
              </a:solidFill>
            </a:endParaRPr>
          </a:p>
          <a:p>
            <a:r>
              <a:rPr sz="1500" b="0" i="1" dirty="0">
                <a:solidFill>
                  <a:srgbClr val="1A1A2E"/>
                </a:solidFill>
              </a:rPr>
              <a:t>Vision: 10 engineers managing what used to need 40.</a:t>
            </a:r>
          </a:p>
          <a:p>
            <a:r>
              <a:rPr sz="1500" b="0" i="1" dirty="0">
                <a:solidFill>
                  <a:srgbClr val="333333"/>
                </a:solidFill>
              </a:rPr>
              <a:t>IT shifts from firefighting → digital transformation.</a:t>
            </a:r>
          </a:p>
          <a:p>
            <a:endParaRPr sz="1500" b="0" i="1" dirty="0">
              <a:solidFill>
                <a:srgbClr val="333333"/>
              </a:solidFill>
            </a:endParaRPr>
          </a:p>
          <a:p>
            <a:r>
              <a:rPr sz="1200" b="1" i="0" dirty="0">
                <a:solidFill>
                  <a:srgbClr val="555555"/>
                </a:solidFill>
              </a:rPr>
              <a:t>Ravindra Yadav  |  ravindya@in.ibm.com  |  IBM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C605316-25B2-A4F1-3E7D-047092A616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68742" y="6384661"/>
            <a:ext cx="773009" cy="35052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0A140FF-984E-6B7D-F36A-D979C28A0D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18991" y="0"/>
            <a:ext cx="773009" cy="65364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6C365AD-E7C4-BA0B-2E82-8BDDF7F733C9}"/>
              </a:ext>
            </a:extLst>
          </p:cNvPr>
          <p:cNvSpPr txBox="1"/>
          <p:nvPr/>
        </p:nvSpPr>
        <p:spPr>
          <a:xfrm>
            <a:off x="11308588" y="660704"/>
            <a:ext cx="10232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b="1" dirty="0">
                <a:solidFill>
                  <a:schemeClr val="bg1"/>
                </a:solidFill>
              </a:rPr>
              <a:t>Comm  Sector </a:t>
            </a:r>
          </a:p>
          <a:p>
            <a:r>
              <a:rPr lang="en-IN" sz="900" b="1" dirty="0">
                <a:solidFill>
                  <a:schemeClr val="bg1"/>
                </a:solidFill>
              </a:rPr>
              <a:t>Summit 2026</a:t>
            </a:r>
          </a:p>
        </p:txBody>
      </p:sp>
    </p:spTree>
    <p:extLst>
      <p:ext uri="{BB962C8B-B14F-4D97-AF65-F5344CB8AC3E}">
        <p14:creationId xmlns:p14="http://schemas.microsoft.com/office/powerpoint/2010/main" val="29975579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860</Words>
  <Application>Microsoft Office PowerPoint</Application>
  <PresentationFormat>Widescreen</PresentationFormat>
  <Paragraphs>111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IBM Plex Sans</vt:lpstr>
      <vt:lpstr>IBM Plex Sans Text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IBM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AMALAKRISHNAVENI AMALAKRISHNAVENI</dc:creator>
  <cp:lastModifiedBy>Ravindra Yadav</cp:lastModifiedBy>
  <cp:revision>7</cp:revision>
  <dcterms:created xsi:type="dcterms:W3CDTF">2026-07-22T10:37:22Z</dcterms:created>
  <dcterms:modified xsi:type="dcterms:W3CDTF">2026-08-09T03:10:49Z</dcterms:modified>
</cp:coreProperties>
</file>