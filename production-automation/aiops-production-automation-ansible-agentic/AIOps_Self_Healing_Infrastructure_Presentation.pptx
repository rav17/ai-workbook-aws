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I'll walk you through our AIOps Self-Healing Infrastructure platform. This is a production-grade solution that combines AI-powered reasoning with Ansible automation to detect, analyze, and remediate production incidents automatically — with human oversight for safety. The platform is built entirely on AWS using services like Amazon Bedrock for AI, ECS Fargate for compute, DynamoDB for state management, and CDK for infrastructure as code.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start with WHY we built this. In most organizations, incident response is still heavily manual. When an alert fires at 3 AM, an on-call engineer gets paged, logs into systems, reads runbooks, and manually executes remediation steps. MTTR averages 30-90 minutes. 60% or more of production alerts are repetitive — same issue, same fix, over and over. Engineers face alert fatigue, especially during storms when hundreds of alerts fire simultaneously. There's no organizational learning — the knowledge stays in people's heads, not in systems.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solution is a fully automated self-healing platform with two operating modes. Rule Mode handles known alerts — things we've seen before and have pre-vetted Ansible playbooks for. AI Agent Mode handles unknown alerts — it uses Amazon Bedrock to analyze the situation and suggest remediation. The key insight is: we don't need expensive AI for every alert. 70% of alerts are repetitive and can be handled by cheap, fast models or even rule-based matching. We reserve premium AI for truly novel situations. Human-in-the-loop approval ensures operators stay in control for high-risk actions. And the system learns from every incident — outcomes feed back into the model router and effectiveness scorer.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end-to-end flow. An EC2 instance experiences an issue — say CPU spikes above 80%. CloudWatch detects this, triggers an alarm, sends to SNS, which invokes a Lambda. The Lambda sends an Alertmanager-format webhook to our ECS Fargate service via API Gateway. The service runs the alert through our 8-stage pipeline: normalize the payload, enrich with asset metadata, match to a playbook, evaluate through 7 guardrail layers, get human approval if needed, execute the Ansible playbook, validate the fix worked via baking period, and finally store the outcome. The whole thing runs asynchronously with up to 50 concurrent pipelines.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dive into the AWS infrastructure layer. Everything is defined as Infrastructure as Code using AWS CDK v2 in Python.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6 CDK stacks, each responsible for one concern. The Network stack creates the VPC with 2 availability zones, NAT gateways, and VPC endpoints. The Data stack provisions DynamoDB for incident memory with 4 Global Secondary Indexes, SQS with a dead-letter queue, and an ECR repository. The Compute stack is the largest — it creates the ECS Fargate cluster, task definitions, IAM roles with least-privilege policies, API Gateway HTTP API, Secrets Manager secrets, and SSM parameters. Observability adds SNS topics, CloudWatch alarms, and budget alerts. Monitoring optionally deploys Prometheus and Grafana on ECS. Simulation creates a target EC2 instance with stress-ng and Lambda functions to trigger test alerts. Stacks are deployed in dependency order: Network → Data → Compute → Observability.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network side, ECS tasks run in private subnets with no public IPs. All AWS API traffic goes through VPC endpoints — this means Bedrock calls, DynamoDB operations, SQS messaging never leave the AWS backbone network. Gateway endpoints for DynamoDB and S3 are free and eliminate NAT data processing charges. On security: every IAM policy is scoped to specific resource ARNs. API Gateway has WAF with rate limiting at 100 requests per 5 minutes per IP. Secrets are in Secrets Manager with automatic 90-day rotation via a custom Lambda. Approval tokens are HMAC-signed to prevent forgery. Payloads are validated with Pydantic models and capped at 1 MB.</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talk about the AI layer — this is where Amazon Bedrock comes in. We use a multi-model strategy to balance cost and capability.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Router is our cost optimization engine. Instead of always calling Claude Sonnet at 3 dollars per thousand calls, we classify each alert's complexity and route to the cheapest model that can handle it. SIMPLE alerts — seen 5 or more times, over 90 percent historical success rate, low severity — go to Nova Lite at 30 cents per thousand calls. That's 70% of all alerts. MODERATE alerts — limited history, mixed outcomes — go to Nova Pro at 1 dollar per thousand. COMPLEX alerts — never seen before, P1 severity, all past attempts failed — get Claude Sonnet. That's only 10% of alerts. The auto-escalation feature means if a cheaper model returns low confidence (below 0.5), we automatically retry with the next-tier model. This gives us 60-90% cost savings without sacrificing quality.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AI Reasoning Agent is the brain of the system. When invoked, it first retrieves historical incidents from DynamoDB — same alert name, same service — to provide context about what worked before and what didn't. It builds a structured prompt with a stable prefix (good for prompt caching) and a variable suffix with the current alert details. The prompt includes: system role as an SRE expert, alert context, service topology, past outcomes, and excluded actions. We invoke Bedrock with a 30-second timeout, 2 retries with exponential backoff. The response is parsed into a structured RemediationPlan with steps, confidence score, and reasoning. Confidence gating ensures P1 alerts require 80% confidence, general alerts require 70%. If the primary model fails, we try the fallback chain: Claude Sonnet → Nova Pro → Haiku → Nova Lite. If ALL models fail, we fall back to rule-based playbook matching — the system never fully stops.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how alerts flow through the system — the event-driven pipeline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pipeline has 8 stages, each with clear responsibilities and failure handling. Normalize: converts the Alertmanager webhook JSON into our internal NormalizedAlert dataclass with a unique UUID. Enrich: looks up the target host in our asset inventory YAML to add service name, owner, location. Match: evaluates rules from playbook_mapping.yml — first match wins. If no rule matches, we go to AI mode. Guardrails: all 7 safety checks run in sequence with short-circuit on the first DENY or DEFER. Approval: for high-risk actions, an email is sent with an approve button. Low-risk actions auto-proceed. Execute: Ansible playbook runs via asyncio subprocess with a 300-second timeout. Baking: after execution, we monitor whether the original alarm resolves and the host comes back healthy. Notify: outcome is persisted to DynamoDB, audit log is written, and stakeholders are notified. The whole thing supports 50 concurrent pipelines via asyncio Semaphore.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Alert storms are one of the biggest challenges in production operations. When a database goes down, you might get hundreds of alerts — APITimeout, ConnectionRefused, HealthCheckFailed — all symptoms of the same root cause. Our Storm Detector uses a sliding window algorithm to track alert rate. When rate exceeds 50 per minute, it enters storm mode and groups alerts by alert_name plus service. Only one representative per group gets processed — this reduces noise 10 to 50x. If the internal queue exceeds capacity, it returns HTTP 429 and Alertmanager automatically retries later. Separately, our Alert Inhibition rules suppress symptom alerts when a root-cause alert is active. For example, when DatabaseDown fires, we automatically suppress APITimeout, ConnectionRefused, and HealthCheckFailed. This prevents us from trying to fix 20 symptoms when there's really just one problem.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Safety is the most critical aspect of any automated remediation system. If you get this wrong, automation causes more damage than the original incident. We've built defense-in-depth with multiple safety layers.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Guardrail Engine runs 7 checks in a fixed order with short-circuit semantics. First, Self-Protection: never target our own automation controllers, monitoring infrastructure, or secret vaults. Second, Maintenance Window: if we're in a scheduled maintenance window, defer the action — don't execute. Third, Circuit Breaker: if this specific host has failed too many times recently, stop trying. Fourth, Concurrency Guard: bulkhead isolation ensures one service can't monopolize all execution slots. Fifth, Blast Radius Classifier: scores the risk as low, medium, high, or critical based on service and action type. Sixth, Health Checker: looks at downstream service dependencies — if they're already degraded, elevates risk. Seventh, Approval Gate: for high or critical risk, requires human click before proceeding. Plus the Plan Validator for AI-generated plans. The whole evaluation has a 15-second timeout — if it takes too long, it auto-DENYs. Any check returning DENY immediately stops evaluation and blocks the action.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Plan Validator is specifically for AI-generated remediation plans. AI models can sometimes suggest dangerous commands — rm -rf, shutting down hosts, flushing iptables. We maintain a regex-based denylist in denied_commands.yml that blocks these patterns. Even if the AI suggests it, even if it seems reasonable in context — if it matches a denied pattern, it's rejected. We also enforce parameter bounds: no action can target more than 5 hosts, no plan can have more than 10 steps, no timeout can exceed 600 seconds, and no host can have more than 3 AI-generated executions per hour. Filesystem operations are restricted to specific paths: /var/log, /tmp, /opt/app, /var/cache. This is inspired by Amazon Bedrock Guardrails' denied topics pattern — a hard safety layer between AI output and execution.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Fleet Circuit Breaker is a global safety net. Unlike the per-host breaker that tracks individual host failures, this one tracks failures across ALL hosts. Scenario: a bad Ansible playbook gets deployed. Every execution fails. Without a fleet breaker, the system would keep trying on every host, potentially causing damage fleet-wide. With the fleet breaker: after 5 failures within 5 minutes across any hosts, ALL automation pauses. After a 10-minute cooldown, recovery uses adaptive ramp-up: first allow 1 concurrent execution. If that succeeds, allow 2. Then 4, then 8, back to normal. This prevents the thundering herd problem where all paused work resumes simultaneously. The per-host breaker complements this by preventing repeated failed attempts on a single broken host.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of the key design principles is that operational behavior is configuration-driven, not code-driven. Operators can change routing rules, safety bounds, and concurrency limits without deploying new code.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12 YAML configuration files that control the system's behavior. On the routing side: playbook_mapping.yml maps alert names to Ansible playbooks. asset_inventory.yml is the host registry — hostnames, IPs, services, owners. service_dependencies.yml defines which services depend on which, used by the health checker. execution_dependencies.yaml defines ordering constraints — like 'drain connections before restart'. risk_classification.yml scores blast radius per service-action pair. resource_conflicts.yaml defines what to do when two actions compete for the same resource. On the safety side: denied_commands.yml blocks dangerous AI commands. protected_hosts.yml lists hosts that automation must never target. inhibition_rules.yml suppresses symptom alerts when root cause is active. maintenance_windows.yml defines when to defer actions. bulkhead_limits.yml caps concurrency per service. stop_conditions.yml lists alarms to monitor during execution. All of these are loaded at startup and can be updated without code changes.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Human-in-the-loop is essential for trust. Operators need to feel they're in control, especially for high-risk actions. Let me show you how our approval workflow works.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high-risk action is identified, the system sends an email via Amazon SES. The email contains a root cause analysis — either AI-generated or based on historical patterns — along with the alert details, proposed remediation steps, and a time-limited Approve button. The approval token is HMAC-signed using a secret from Secrets Manager, stored in DynamoDB with TTL, and expires after 30 minutes. If the operator clicks the link, it first shows a confirmation page (GET request), then the actual execution happens on POST. This two-step design prevents email link scanners from auto-triggering remediation. The token is consumed atomically via DynamoDB conditional writes — exactly-once semantics. Because tokens are in DynamoDB, they survive ECS task restarts, rolling deployments, and scaling events. Any task in the fleet can validate and consume the token.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approved, the system executes the remediation. Let's look at the execution layer.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Remediation Executor runs Ansible playbooks as asyncio subprocesses. It validates that the playbook file exists and is readable before spawning the process. Each execution has a configurable timeout — default 300 seconds. If the timeout is exceeded, we send SIGTERM first, wait 5 seconds for graceful shutdown, then SIGKILL if the process is still running. Concurrency is limited to 10 simultaneous executions via an asyncio Semaphore. Output is captured and truncated to 10,000 characters to prevent memory issues. We have playbooks for: fixing high CPU by killing runaway processes, restarting systemd services, clearing disk by removing old logs and temp files, and restarting specific processes. In production, execution happens via SSM RunCommand — no SSH keys needed. EC2 instances must be tagged with 'managed-by: aiops' to be targetable.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safety mechanisms operate during and after execution. Stop Conditions are CloudWatch alarms monitored every 10 seconds DURING remediation. If our remediation is making things worse — for example, healthy host count drops to zero, or 5xx error rate spikes above 100 per minute — we immediately abort the execution. There's a 15-second grace period to let things stabilize before we start monitoring. A global stop condition fires if more than 3 services degrade simultaneously — that halts all automation. This is inspired by AWS Fault Injection Simulator stop conditions. Baking Validation happens AFTER execution completes. We monitor whether the original CloudWatch alarm resolves and whether the target host returns to a healthy state. If the alarm doesn't resolve, the outcome is marked as INEFFECTIVE. This feeds back into the effectiveness scorer, which influences future model routing decisions. Over time, the system learns which remediations actually work.</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can't operate what you can't observe. Let's look at our observability strategy.</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four pillars of observability. Structured JSON logging goes to CloudWatch via the awslogs driver. Every log entry includes timestamp, level, logger name, message, and incident_id when available. Retention varies by environment: 30 days for dev, 90 for staging, 365 for prod. Custom CloudWatch metrics in the AIOps namespace track alerts received, remediation success/failure/timeout, AI reasoning latency, and storm suppression counts. CloudWatch Alarms alert us when: DLQ depth exceeds 5 messages, AI latency p95 goes above 15 seconds, or remediation failure rate exceeds 30%. A composite alarm detects when rollback is needed. Distributed tracing via OpenTelemetry and X-Ray gives us end-to-end request visibility. Each pipeline stage emits a span with the incident_id attribute, and Bedrock calls emit GenAI semantic convention spans with model name, token counts, and latency. Tracing is optional and gracefully degrades if not installed.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how we deploy this safely to production.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CI pipeline runs on every push and PR via GitHub Actions. It starts with linting using ruff — both code style checks and formatting verification. Then unit tests with a minimum 80% coverage requirement. Property-based tests using Hypothesis generate random inputs to find edge cases. CDK synth validates that all CloudFormation templates can be generated without errors. CDK assertion tests verify specific resource configurations like IAM policies. Finally, Docker build, ECR push, and vulnerability scanning. The CD pipeline deploys stacks in dependency order. For production, there's a manual approval gate with 4-hour timeout. A health gate after deployment requires 3 consecutive healthy responses from the service within 5 minutes. If the health gate fails, automatic rollback kicks in using the previous deployment manifest stored in SSM. We keep a 5-slot sliding window of deployment manifests for quick rollback. Branch strategy: main deploys to dev, staging branch to staging, version tags to production.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Cost optimization is built into every layer of the architecture. Let me break it down.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biggest cost savings come from intelligent model routing. Instead of spending 3 dollars per thousand invocations on Claude Sonnet for every alert, 70% of alerts use Nova Lite at 30 cents per thousand — that's a 10x reduction for the majority of traffic. On infrastructure: dev uses a single NAT Gateway saving about 45 dollars per month versus prod's two. VPC Gateway Endpoints for DynamoDB and S3 are free and eliminate NAT data processing charges which can be significant for high-throughput workloads. DynamoDB uses PAY_PER_REQUEST billing — no over-provisioning, pay only for what you use. ECR lifecycle rules prevent storage bloat. ECS auto-scaling means we're not paying for idle compute. Operationally, storm detection prevents wasteful parallel remediations during outages. Alert inhibition means we don't waste AI calls and execution time on symptom alerts. Bulkhead limits prevent runaway costs from one misbehaving service.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Production systems must be resilient. Let me show you the patterns we've implemented.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We've implemented 11 resilience patterns. Retry with Fallback: Bedrock calls retry twice with exponential backoff, then try the next model in the chain. Circuit Breaker at two levels: per-host prevents hammering a broken target, fleet-wide prevents systemic damage. Bulkhead Isolation: each service group has its own concurrency limit, so a noisy neighbor can't starve others. Backpressure: storm detector, HTTP 429 responses, and SQS visibility timeout work together to prevent overload. Graceful Degradation: if Bedrock is completely down, we fall back to rule-based playbook matching — the system keeps working. Idempotency: alert fingerprints in DynamoDB with TTL prevent duplicate processing. Host Locks: DynamoDB conditional writes prevent two remediations from running on the same host simultaneously. Graceful Shutdown: on SIGTERM we stop accepting new work, drain in-progress pipelines for 25 seconds, release locks, then exit. DLQ: messages that fail 3 times move to the dead-letter queue for manual investigation. Stop Conditions: if the target system gets worse during remediation, we abort immediately. Adaptive Ramp-up: after a fleet breaker reset, we slowly increase load to prevent thundering herd.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show you a concrete demo scenario to bring all this together.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our demo scenario: simulating a high CPU alert and watching the system remediate it. Step 1: We run stress-ng on our target EC2 instance to push CPU above 80%. Step 2: Within about 1 minute, CloudWatch detects the threshold breach and the alarm triggers. Step 3: SNS delivers to a Lambda function that formats an Alertmanager webhook and POSTs to our ECS service. Step 4: The pipeline normalizes the alert, enriches it with host metadata, and matches it to fix_high_cpu.yml. Step 5: All 7 guardrail checks pass — this is a low-risk, well-known playbook. Step 6: An email is sent to the operator with the root cause analysis and an Approve button. Step 7: The operator clicks the approve link. Step 8: Ansible executes the playbook on the EC2 instance via SSM, killing the stress-ng process. Step 9: CPU drops back to normal, CloudWatch alarm resolves. Step 10: The successful outcome is recorded in DynamoDB. Next time this alert fires, the model router knows it has high success rate and routes to the cheapest model. Total end-to-end time is about 2-3 minutes, mostly waiting for the CloudWatch alarm evaluation period.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highlight what makes this solution different from other AIOps tools. First, the AI plus Rules hybrid approach: we don't force everything through AI. Known issues use fast, safe, pre-vetted rules. AI is reserved for novel situations where its reasoning actually adds value. Second, human-in-the-loop: operators stay in control. The system suggests and executes, but humans approve high-risk actions. Third, configuration-driven: ops teams can change behavior with YAML files, no code deployment needed. Fourth, cost-optimized AI: intelligent model routing saves 60-90% compared to always using premium models. Fifth, defense-in-depth safety: 7 guardrail layers plus fleet breaker plus stop conditions. Sixth, production-ready: VPC endpoints, Secrets Manager, WAF, least-privilege IAM — not a demo-ware solution. Seventh, full observability: structured logs, custom metrics, distributed tracing, dashboards. Eighth, self-improving: the effectiveness scorer and feedback loop mean the system gets better over time. Ninth, AWS-native: built entirely on managed AWS services with CDK IaC. Tenth, thoroughly tested: unit tests, property-based tests with Hypothesis, CDK assertions, and integration tests.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summary of our technology stack. On the application side: Python 3.11 with FastAPI for the async web framework, Pydantic for payload validation, Ansible for playbook execution, asyncio for concurrency, Hypothesis for property-based testing, Ruff for linting and formatting, and OpenTelemetry for tracing. On the AWS side: ECS Fargate for serverless compute, Amazon Bedrock for AI with both Nova and Claude models, DynamoDB for state management and incident memory, SQS with DLQ for reliable messaging, API Gateway HTTP API for ingress with WAF, SES for approval emails, Secrets Manager for credential management, SSM for running commands on EC2 and storing parameters, CloudWatch for logs, metrics, and alarms, WAF for API protection, and CDK v2 for infrastructure as code.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for your time. I'm happy to answer any questions about the architecture, the AI strategy, the safety mechanisms, or the operational aspects of the platform. The source code is available in our repository with full documentation, demo guides, and deployment instructions.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2011680"/>
            <a:ext cx="10058400" cy="1371600"/>
          </a:xfrm>
          <a:prstGeom prst="rect">
            <a:avLst/>
          </a:prstGeom>
          <a:noFill/>
        </p:spPr>
        <p:txBody>
          <a:bodyPr wrap="square">
            <a:spAutoFit/>
          </a:bodyPr>
          <a:lstStyle/>
          <a:p>
            <a:pPr algn="ctr">
              <a:defRPr sz="4000" b="1">
                <a:solidFill>
                  <a:srgbClr val="FFFFFF"/>
                </a:solidFill>
              </a:defRPr>
            </a:pPr>
            <a:r>
              <a:t>AIOps Self-Healing Infrastructure</a:t>
            </a:r>
          </a:p>
        </p:txBody>
      </p:sp>
      <p:sp>
        <p:nvSpPr>
          <p:cNvPr id="3" name="TextBox 2"/>
          <p:cNvSpPr txBox="1"/>
          <p:nvPr/>
        </p:nvSpPr>
        <p:spPr>
          <a:xfrm>
            <a:off x="1828800" y="3657600"/>
            <a:ext cx="8229600" cy="1097280"/>
          </a:xfrm>
          <a:prstGeom prst="rect">
            <a:avLst/>
          </a:prstGeom>
          <a:noFill/>
        </p:spPr>
        <p:txBody>
          <a:bodyPr wrap="square">
            <a:spAutoFit/>
          </a:bodyPr>
          <a:lstStyle/>
          <a:p>
            <a:pPr algn="ctr">
              <a:defRPr sz="2000">
                <a:solidFill>
                  <a:srgbClr val="0096D6"/>
                </a:solidFill>
              </a:defRPr>
            </a:pPr>
            <a:r>
              <a:t>Automated Incident Detection, AI-Powered Reasoning &amp; Remediation</a:t>
            </a:r>
            <a:br/>
            <a:r>
              <a:t>Built on AWS with Amazon Bedrock, ECS Fargate &amp; Ansible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0F5"/>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none">
            <a:spAutoFit/>
          </a:bodyPr>
          <a:lstStyle/>
          <a:p>
            <a:pPr>
              <a:defRPr sz="2600" b="1">
                <a:solidFill>
                  <a:srgbClr val="FFFFFF"/>
                </a:solidFill>
              </a:defRPr>
            </a:pPr>
            <a:r>
              <a:t>The Problem: Manual Incident Response is Broken</a:t>
            </a:r>
          </a:p>
        </p:txBody>
      </p:sp>
      <p:sp>
        <p:nvSpPr>
          <p:cNvPr id="4" name="TextBox 3"/>
          <p:cNvSpPr txBox="1"/>
          <p:nvPr/>
        </p:nvSpPr>
        <p:spPr>
          <a:xfrm>
            <a:off x="731520" y="1280160"/>
            <a:ext cx="10515600" cy="5303520"/>
          </a:xfrm>
          <a:prstGeom prst="rect">
            <a:avLst/>
          </a:prstGeom>
          <a:noFill/>
        </p:spPr>
        <p:txBody>
          <a:bodyPr wrap="square">
            <a:spAutoFit/>
          </a:bodyPr>
          <a:lstStyle/>
          <a:p>
            <a:pPr>
              <a:spcBef>
                <a:spcPts val="1000"/>
              </a:spcBef>
              <a:defRPr sz="1800">
                <a:solidFill>
                  <a:srgbClr val="2C3E50"/>
                </a:solidFill>
              </a:defRPr>
            </a:pPr>
            <a:r>
              <a:t>Mean Time to Resolve (MTTR) for production incidents: 30-90 minutes</a:t>
            </a:r>
          </a:p>
          <a:p>
            <a:pPr>
              <a:spcBef>
                <a:spcPts val="1000"/>
              </a:spcBef>
              <a:defRPr sz="1800">
                <a:solidFill>
                  <a:srgbClr val="2C3E50"/>
                </a:solidFill>
              </a:defRPr>
            </a:pPr>
            <a:r>
              <a:t>On-call engineers face alert fatigue — 60%+ of alerts are repetitive</a:t>
            </a:r>
          </a:p>
          <a:p>
            <a:pPr>
              <a:spcBef>
                <a:spcPts val="1000"/>
              </a:spcBef>
              <a:defRPr sz="1800">
                <a:solidFill>
                  <a:srgbClr val="2C3E50"/>
                </a:solidFill>
              </a:defRPr>
            </a:pPr>
            <a:r>
              <a:t>Manual runbook execution is error-prone under pressure</a:t>
            </a:r>
          </a:p>
          <a:p>
            <a:pPr>
              <a:spcBef>
                <a:spcPts val="1000"/>
              </a:spcBef>
              <a:defRPr sz="1800">
                <a:solidFill>
                  <a:srgbClr val="2C3E50"/>
                </a:solidFill>
              </a:defRPr>
            </a:pPr>
            <a:r>
              <a:t>Night/weekend incidents wait hours for human response</a:t>
            </a:r>
          </a:p>
          <a:p>
            <a:pPr>
              <a:spcBef>
                <a:spcPts val="1000"/>
              </a:spcBef>
              <a:defRPr sz="1800">
                <a:solidFill>
                  <a:srgbClr val="2C3E50"/>
                </a:solidFill>
              </a:defRPr>
            </a:pPr>
            <a:r>
              <a:t>Alert storms during outages create cascading confusion</a:t>
            </a:r>
          </a:p>
          <a:p>
            <a:pPr>
              <a:spcBef>
                <a:spcPts val="1000"/>
              </a:spcBef>
              <a:defRPr sz="1800">
                <a:solidFill>
                  <a:srgbClr val="2C3E50"/>
                </a:solidFill>
              </a:defRPr>
            </a:pPr>
            <a:r>
              <a:t>No organizational learning — same issues fixed the same way repeatedly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0F5"/>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none">
            <a:spAutoFit/>
          </a:bodyPr>
          <a:lstStyle/>
          <a:p>
            <a:pPr>
              <a:defRPr sz="2600" b="1">
                <a:solidFill>
                  <a:srgbClr val="FFFFFF"/>
                </a:solidFill>
              </a:defRPr>
            </a:pPr>
            <a:r>
              <a:t>Our Solution: AI-Powered Self-Healing Platform</a:t>
            </a:r>
          </a:p>
        </p:txBody>
      </p:sp>
      <p:sp>
        <p:nvSpPr>
          <p:cNvPr id="4" name="TextBox 3"/>
          <p:cNvSpPr txBox="1"/>
          <p:nvPr/>
        </p:nvSpPr>
        <p:spPr>
          <a:xfrm>
            <a:off x="731520" y="1280160"/>
            <a:ext cx="10515600" cy="5303520"/>
          </a:xfrm>
          <a:prstGeom prst="rect">
            <a:avLst/>
          </a:prstGeom>
          <a:noFill/>
        </p:spPr>
        <p:txBody>
          <a:bodyPr wrap="square">
            <a:spAutoFit/>
          </a:bodyPr>
          <a:lstStyle/>
          <a:p>
            <a:pPr>
              <a:spcBef>
                <a:spcPts val="1000"/>
              </a:spcBef>
              <a:defRPr sz="1800">
                <a:solidFill>
                  <a:srgbClr val="2C3E50"/>
                </a:solidFill>
              </a:defRPr>
            </a:pPr>
            <a:r>
              <a:t>Fully automated pipeline: Alert → AI Analysis → Remediation → Verification</a:t>
            </a:r>
          </a:p>
          <a:p>
            <a:pPr>
              <a:spcBef>
                <a:spcPts val="1000"/>
              </a:spcBef>
              <a:defRPr sz="1800">
                <a:solidFill>
                  <a:srgbClr val="2C3E50"/>
                </a:solidFill>
              </a:defRPr>
            </a:pPr>
            <a:r>
              <a:t>Two operating modes for safety and coverage:</a:t>
            </a:r>
          </a:p>
          <a:p>
            <a:pPr lvl="1">
              <a:spcBef>
                <a:spcPts val="400"/>
              </a:spcBef>
              <a:defRPr sz="1600">
                <a:solidFill>
                  <a:srgbClr val="7F8C8D"/>
                </a:solidFill>
              </a:defRPr>
            </a:pPr>
            <a:r>
              <a:t>Rule Mode: Known alerts matched to pre-vetted Ansible playbooks</a:t>
            </a:r>
          </a:p>
          <a:p>
            <a:pPr lvl="1">
              <a:spcBef>
                <a:spcPts val="400"/>
              </a:spcBef>
              <a:defRPr sz="1600">
                <a:solidFill>
                  <a:srgbClr val="7F8C8D"/>
                </a:solidFill>
              </a:defRPr>
            </a:pPr>
            <a:r>
              <a:t>AI Agent Mode: Unknown alerts analyzed by Amazon Bedrock (Nova/Claude)</a:t>
            </a:r>
          </a:p>
          <a:p>
            <a:pPr>
              <a:spcBef>
                <a:spcPts val="1000"/>
              </a:spcBef>
              <a:defRPr sz="1800">
                <a:solidFill>
                  <a:srgbClr val="2C3E50"/>
                </a:solidFill>
              </a:defRPr>
            </a:pPr>
            <a:r>
              <a:t>Human-in-the-loop approval via email for high-risk actions</a:t>
            </a:r>
          </a:p>
          <a:p>
            <a:pPr>
              <a:spcBef>
                <a:spcPts val="1000"/>
              </a:spcBef>
              <a:defRPr sz="1800">
                <a:solidFill>
                  <a:srgbClr val="2C3E50"/>
                </a:solidFill>
              </a:defRPr>
            </a:pPr>
            <a:r>
              <a:t>7-layer guardrail engine prevents dangerous automated actions</a:t>
            </a:r>
          </a:p>
          <a:p>
            <a:pPr>
              <a:spcBef>
                <a:spcPts val="1000"/>
              </a:spcBef>
              <a:defRPr sz="1800">
                <a:solidFill>
                  <a:srgbClr val="2C3E50"/>
                </a:solidFill>
              </a:defRPr>
            </a:pPr>
            <a:r>
              <a:t>Learns from every incident — improves over time via feedback loop</a:t>
            </a:r>
          </a:p>
          <a:p>
            <a:pPr>
              <a:spcBef>
                <a:spcPts val="1000"/>
              </a:spcBef>
              <a:defRPr sz="1800">
                <a:solidFill>
                  <a:srgbClr val="2C3E50"/>
                </a:solidFill>
              </a:defRPr>
            </a:pPr>
            <a:r>
              <a:t>Cost-optimized AI routing: 60-90% savings vs. always using premium models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0F5"/>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none">
            <a:spAutoFit/>
          </a:bodyPr>
          <a:lstStyle/>
          <a:p>
            <a:pPr>
              <a:defRPr sz="2600" b="1">
                <a:solidFill>
                  <a:srgbClr val="FFFFFF"/>
                </a:solidFill>
              </a:defRPr>
            </a:pPr>
            <a:r>
              <a:t>End-to-End Architecture Flow</a:t>
            </a:r>
          </a:p>
        </p:txBody>
      </p:sp>
      <p:sp>
        <p:nvSpPr>
          <p:cNvPr id="4" name="TextBox 3"/>
          <p:cNvSpPr txBox="1"/>
          <p:nvPr/>
        </p:nvSpPr>
        <p:spPr>
          <a:xfrm>
            <a:off x="731520" y="1280160"/>
            <a:ext cx="10515600" cy="5303520"/>
          </a:xfrm>
          <a:prstGeom prst="rect">
            <a:avLst/>
          </a:prstGeom>
          <a:noFill/>
        </p:spPr>
        <p:txBody>
          <a:bodyPr wrap="square">
            <a:spAutoFit/>
          </a:bodyPr>
          <a:lstStyle/>
          <a:p>
            <a:pPr>
              <a:spcBef>
                <a:spcPts val="1000"/>
              </a:spcBef>
              <a:defRPr sz="1800">
                <a:solidFill>
                  <a:srgbClr val="2C3E50"/>
                </a:solidFill>
              </a:defRPr>
            </a:pPr>
            <a:r>
              <a:t>1. EC2 Instance → CloudWatch detects anomaly (CPU, Disk, Network)</a:t>
            </a:r>
          </a:p>
          <a:p>
            <a:pPr>
              <a:spcBef>
                <a:spcPts val="1000"/>
              </a:spcBef>
              <a:defRPr sz="1800">
                <a:solidFill>
                  <a:srgbClr val="2C3E50"/>
                </a:solidFill>
              </a:defRPr>
            </a:pPr>
            <a:r>
              <a:t>2. CloudWatch Alarm → SNS → Lambda → POST /webhook to ECS Service</a:t>
            </a:r>
          </a:p>
          <a:p>
            <a:pPr>
              <a:spcBef>
                <a:spcPts val="1000"/>
              </a:spcBef>
              <a:defRPr sz="1800">
                <a:solidFill>
                  <a:srgbClr val="2C3E50"/>
                </a:solidFill>
              </a:defRPr>
            </a:pPr>
            <a:r>
              <a:t>3. ECS Fargate Service receives alert (FastAPI + Storm Detection)</a:t>
            </a:r>
          </a:p>
          <a:p>
            <a:pPr>
              <a:spcBef>
                <a:spcPts val="1000"/>
              </a:spcBef>
              <a:defRPr sz="1800">
                <a:solidFill>
                  <a:srgbClr val="2C3E50"/>
                </a:solidFill>
              </a:defRPr>
            </a:pPr>
            <a:r>
              <a:t>4. Pipeline: Normalize → Enrich → Match Playbook → Guardrails → Execute</a:t>
            </a:r>
          </a:p>
          <a:p>
            <a:pPr>
              <a:spcBef>
                <a:spcPts val="1000"/>
              </a:spcBef>
              <a:defRPr sz="1800">
                <a:solidFill>
                  <a:srgbClr val="2C3E50"/>
                </a:solidFill>
              </a:defRPr>
            </a:pPr>
            <a:r>
              <a:t>5. Rule Mode: Email with 'Approve' button → Operator clicks → Ansible runs</a:t>
            </a:r>
          </a:p>
          <a:p>
            <a:pPr>
              <a:spcBef>
                <a:spcPts val="1000"/>
              </a:spcBef>
              <a:defRPr sz="1800">
                <a:solidFill>
                  <a:srgbClr val="2C3E50"/>
                </a:solidFill>
              </a:defRPr>
            </a:pPr>
            <a:r>
              <a:t>6. AI Mode: Bedrock analyzes → Email with suggested steps → Advisory only</a:t>
            </a:r>
          </a:p>
          <a:p>
            <a:pPr>
              <a:spcBef>
                <a:spcPts val="1000"/>
              </a:spcBef>
              <a:defRPr sz="1800">
                <a:solidFill>
                  <a:srgbClr val="2C3E50"/>
                </a:solidFill>
              </a:defRPr>
            </a:pPr>
            <a:r>
              <a:t>7. Post-Execution: Baking validation confirms fix effectiveness</a:t>
            </a:r>
          </a:p>
          <a:p>
            <a:pPr>
              <a:spcBef>
                <a:spcPts val="1000"/>
              </a:spcBef>
              <a:defRPr sz="1800">
                <a:solidFill>
                  <a:srgbClr val="2C3E50"/>
                </a:solidFill>
              </a:defRPr>
            </a:pPr>
            <a:r>
              <a:t>8. Feedback Loop: Outcome stored in DynamoDB → Improves future routing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2743200"/>
            <a:ext cx="10058400" cy="1371600"/>
          </a:xfrm>
          <a:prstGeom prst="rect">
            <a:avLst/>
          </a:prstGeom>
          <a:noFill/>
        </p:spPr>
        <p:txBody>
          <a:bodyPr wrap="square">
            <a:spAutoFit/>
          </a:bodyPr>
          <a:lstStyle/>
          <a:p>
            <a:pPr algn="ctr">
              <a:defRPr sz="3600" b="1">
                <a:solidFill>
                  <a:srgbClr val="FF9900"/>
                </a:solidFill>
              </a:defRPr>
            </a:pPr>
            <a:r>
              <a:t>AWS Infrastructure (CDK)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0F5"/>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none">
            <a:spAutoFit/>
          </a:bodyPr>
          <a:lstStyle/>
          <a:p>
            <a:pPr>
              <a:defRPr sz="2600" b="1">
                <a:solidFill>
                  <a:srgbClr val="FFFFFF"/>
                </a:solidFill>
              </a:defRPr>
            </a:pPr>
            <a:r>
              <a:t>Infrastructure as Code — 6 CDK Stacks</a:t>
            </a:r>
          </a:p>
        </p:txBody>
      </p:sp>
      <p:sp>
        <p:nvSpPr>
          <p:cNvPr id="4" name="TextBox 3"/>
          <p:cNvSpPr txBox="1"/>
          <p:nvPr/>
        </p:nvSpPr>
        <p:spPr>
          <a:xfrm>
            <a:off x="731520" y="1280160"/>
            <a:ext cx="10515600" cy="5303520"/>
          </a:xfrm>
          <a:prstGeom prst="rect">
            <a:avLst/>
          </a:prstGeom>
          <a:noFill/>
        </p:spPr>
        <p:txBody>
          <a:bodyPr wrap="square">
            <a:spAutoFit/>
          </a:bodyPr>
          <a:lstStyle/>
          <a:p>
            <a:pPr>
              <a:spcBef>
                <a:spcPts val="1000"/>
              </a:spcBef>
              <a:defRPr sz="1800">
                <a:solidFill>
                  <a:srgbClr val="2C3E50"/>
                </a:solidFill>
              </a:defRPr>
            </a:pPr>
            <a:r>
              <a:t>Aiops-{env}-Network: VPC, 2 AZs, NAT Gateways, VPC Endpoints, Security Groups</a:t>
            </a:r>
          </a:p>
          <a:p>
            <a:pPr lvl="1">
              <a:spcBef>
                <a:spcPts val="400"/>
              </a:spcBef>
              <a:defRPr sz="1600">
                <a:solidFill>
                  <a:srgbClr val="7F8C8D"/>
                </a:solidFill>
              </a:defRPr>
            </a:pPr>
            <a:r>
              <a:t>VPC Endpoints: DynamoDB, S3, SQS, SSM, Logs, Secrets Manager, Bedrock</a:t>
            </a:r>
          </a:p>
          <a:p>
            <a:pPr>
              <a:spcBef>
                <a:spcPts val="1000"/>
              </a:spcBef>
              <a:defRPr sz="1800">
                <a:solidFill>
                  <a:srgbClr val="2C3E50"/>
                </a:solidFill>
              </a:defRPr>
            </a:pPr>
            <a:r>
              <a:t>Aiops-{env}-Data: DynamoDB (incident memory), SQS + DLQ, ECR Repository</a:t>
            </a:r>
          </a:p>
          <a:p>
            <a:pPr lvl="1">
              <a:spcBef>
                <a:spcPts val="400"/>
              </a:spcBef>
              <a:defRPr sz="1600">
                <a:solidFill>
                  <a:srgbClr val="7F8C8D"/>
                </a:solidFill>
              </a:defRPr>
            </a:pPr>
            <a:r>
              <a:t>DynamoDB: PAY_PER_REQUEST, TTL, PITR (prod), 4 GSIs</a:t>
            </a:r>
          </a:p>
          <a:p>
            <a:pPr>
              <a:spcBef>
                <a:spcPts val="1000"/>
              </a:spcBef>
              <a:defRPr sz="1800">
                <a:solidFill>
                  <a:srgbClr val="2C3E50"/>
                </a:solidFill>
              </a:defRPr>
            </a:pPr>
            <a:r>
              <a:t>Aiops-{env}-Compute: ECS Fargate, IAM Roles, API Gateway, Secrets, SSM Params</a:t>
            </a:r>
          </a:p>
          <a:p>
            <a:pPr lvl="1">
              <a:spcBef>
                <a:spcPts val="400"/>
              </a:spcBef>
              <a:defRPr sz="1600">
                <a:solidFill>
                  <a:srgbClr val="7F8C8D"/>
                </a:solidFill>
              </a:defRPr>
            </a:pPr>
            <a:r>
              <a:t>Auto-scaling: CPU/SQS-based, 1-4 tasks (prod: 2-8)</a:t>
            </a:r>
          </a:p>
          <a:p>
            <a:pPr>
              <a:spcBef>
                <a:spcPts val="1000"/>
              </a:spcBef>
              <a:defRPr sz="1800">
                <a:solidFill>
                  <a:srgbClr val="2C3E50"/>
                </a:solidFill>
              </a:defRPr>
            </a:pPr>
            <a:r>
              <a:t>Aiops-{env}-Observability: SNS Topics, CloudWatch Alarms, Budget Alerts</a:t>
            </a:r>
          </a:p>
          <a:p>
            <a:pPr>
              <a:spcBef>
                <a:spcPts val="1000"/>
              </a:spcBef>
              <a:defRPr sz="1800">
                <a:solidFill>
                  <a:srgbClr val="2C3E50"/>
                </a:solidFill>
              </a:defRPr>
            </a:pPr>
            <a:r>
              <a:t>Aiops-{env}-Monitoring: Prometheus + Grafana on ECS (optional)</a:t>
            </a:r>
          </a:p>
          <a:p>
            <a:pPr>
              <a:spcBef>
                <a:spcPts val="1000"/>
              </a:spcBef>
              <a:defRPr sz="1800">
                <a:solidFill>
                  <a:srgbClr val="2C3E50"/>
                </a:solidFill>
              </a:defRPr>
            </a:pPr>
            <a:r>
              <a:t>Aiops-{env}-Simulation: EC2 target instance, stress-ng triggers, Lambda alerts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0F5"/>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none">
            <a:spAutoFit/>
          </a:bodyPr>
          <a:lstStyle/>
          <a:p>
            <a:pPr>
              <a:defRPr sz="2600" b="1">
                <a:solidFill>
                  <a:srgbClr val="FFFFFF"/>
                </a:solidFill>
              </a:defRPr>
            </a:pPr>
            <a:r>
              <a:t>Network &amp; Security Architecture</a:t>
            </a:r>
          </a:p>
        </p:txBody>
      </p:sp>
      <p:sp>
        <p:nvSpPr>
          <p:cNvPr id="4" name="TextBox 3"/>
          <p:cNvSpPr txBox="1"/>
          <p:nvPr/>
        </p:nvSpPr>
        <p:spPr>
          <a:xfrm>
            <a:off x="457200" y="1188720"/>
            <a:ext cx="5303520" cy="457200"/>
          </a:xfrm>
          <a:prstGeom prst="rect">
            <a:avLst/>
          </a:prstGeom>
          <a:noFill/>
        </p:spPr>
        <p:txBody>
          <a:bodyPr wrap="none">
            <a:spAutoFit/>
          </a:bodyPr>
          <a:lstStyle/>
          <a:p>
            <a:pPr>
              <a:defRPr sz="2000" b="1">
                <a:solidFill>
                  <a:srgbClr val="0096D6"/>
                </a:solidFill>
              </a:defRPr>
            </a:pPr>
            <a:r>
              <a:t>Network Design</a:t>
            </a:r>
          </a:p>
        </p:txBody>
      </p:sp>
      <p:sp>
        <p:nvSpPr>
          <p:cNvPr id="5" name="TextBox 4"/>
          <p:cNvSpPr txBox="1"/>
          <p:nvPr/>
        </p:nvSpPr>
        <p:spPr>
          <a:xfrm>
            <a:off x="640080" y="1737360"/>
            <a:ext cx="5120640" cy="4572000"/>
          </a:xfrm>
          <a:prstGeom prst="rect">
            <a:avLst/>
          </a:prstGeom>
          <a:noFill/>
        </p:spPr>
        <p:txBody>
          <a:bodyPr wrap="square">
            <a:spAutoFit/>
          </a:bodyPr>
          <a:lstStyle/>
          <a:p>
            <a:pPr>
              <a:spcBef>
                <a:spcPts val="800"/>
              </a:spcBef>
              <a:defRPr sz="1600">
                <a:solidFill>
                  <a:srgbClr val="2C3E50"/>
                </a:solidFill>
              </a:defRPr>
            </a:pPr>
            <a:r>
              <a:t>• VPC with 2 AZs (public + private subnets)</a:t>
            </a:r>
          </a:p>
          <a:p>
            <a:pPr>
              <a:spcBef>
                <a:spcPts val="800"/>
              </a:spcBef>
              <a:defRPr sz="1600">
                <a:solidFill>
                  <a:srgbClr val="2C3E50"/>
                </a:solidFill>
              </a:defRPr>
            </a:pPr>
            <a:r>
              <a:t>• Prod: 2 NAT Gateways (HA)</a:t>
            </a:r>
          </a:p>
          <a:p>
            <a:pPr>
              <a:spcBef>
                <a:spcPts val="800"/>
              </a:spcBef>
              <a:defRPr sz="1600">
                <a:solidFill>
                  <a:srgbClr val="2C3E50"/>
                </a:solidFill>
              </a:defRPr>
            </a:pPr>
            <a:r>
              <a:t>• Dev/Staging: 1 NAT Gateway (cost savings)</a:t>
            </a:r>
          </a:p>
          <a:p>
            <a:pPr>
              <a:spcBef>
                <a:spcPts val="800"/>
              </a:spcBef>
              <a:defRPr sz="1600">
                <a:solidFill>
                  <a:srgbClr val="2C3E50"/>
                </a:solidFill>
              </a:defRPr>
            </a:pPr>
            <a:r>
              <a:t>• ECS tasks in private subnets only</a:t>
            </a:r>
          </a:p>
          <a:p>
            <a:pPr>
              <a:spcBef>
                <a:spcPts val="800"/>
              </a:spcBef>
              <a:defRPr sz="1600">
                <a:solidFill>
                  <a:srgbClr val="2C3E50"/>
                </a:solidFill>
              </a:defRPr>
            </a:pPr>
            <a:r>
              <a:t>• VPC Gateway Endpoints: DynamoDB, S3 (free)</a:t>
            </a:r>
          </a:p>
          <a:p>
            <a:pPr>
              <a:spcBef>
                <a:spcPts val="800"/>
              </a:spcBef>
              <a:defRPr sz="1600">
                <a:solidFill>
                  <a:srgbClr val="2C3E50"/>
                </a:solidFill>
              </a:defRPr>
            </a:pPr>
            <a:r>
              <a:t>• VPC Interface Endpoints: SQS, SSM,</a:t>
            </a:r>
          </a:p>
          <a:p>
            <a:pPr>
              <a:spcBef>
                <a:spcPts val="800"/>
              </a:spcBef>
              <a:defRPr sz="1600">
                <a:solidFill>
                  <a:srgbClr val="2C3E50"/>
                </a:solidFill>
              </a:defRPr>
            </a:pPr>
            <a:r>
              <a:t>  Logs, Secrets Manager, Bedrock Runtime</a:t>
            </a:r>
          </a:p>
          <a:p>
            <a:pPr>
              <a:spcBef>
                <a:spcPts val="800"/>
              </a:spcBef>
              <a:defRPr sz="1600">
                <a:solidFill>
                  <a:srgbClr val="2C3E50"/>
                </a:solidFill>
              </a:defRPr>
            </a:pPr>
            <a:r>
              <a:t>• All AWS API traffic stays within VPC</a:t>
            </a:r>
          </a:p>
        </p:txBody>
      </p:sp>
      <p:sp>
        <p:nvSpPr>
          <p:cNvPr id="6" name="TextBox 5"/>
          <p:cNvSpPr txBox="1"/>
          <p:nvPr/>
        </p:nvSpPr>
        <p:spPr>
          <a:xfrm>
            <a:off x="6217920" y="1188720"/>
            <a:ext cx="5303520" cy="457200"/>
          </a:xfrm>
          <a:prstGeom prst="rect">
            <a:avLst/>
          </a:prstGeom>
          <a:noFill/>
        </p:spPr>
        <p:txBody>
          <a:bodyPr wrap="none">
            <a:spAutoFit/>
          </a:bodyPr>
          <a:lstStyle/>
          <a:p>
            <a:pPr>
              <a:defRPr sz="2000" b="1">
                <a:solidFill>
                  <a:srgbClr val="FF9900"/>
                </a:solidFill>
              </a:defRPr>
            </a:pPr>
            <a:r>
              <a:t>Security Controls</a:t>
            </a:r>
          </a:p>
        </p:txBody>
      </p:sp>
      <p:sp>
        <p:nvSpPr>
          <p:cNvPr id="7" name="TextBox 6"/>
          <p:cNvSpPr txBox="1"/>
          <p:nvPr/>
        </p:nvSpPr>
        <p:spPr>
          <a:xfrm>
            <a:off x="6400800" y="1737360"/>
            <a:ext cx="5120640" cy="4572000"/>
          </a:xfrm>
          <a:prstGeom prst="rect">
            <a:avLst/>
          </a:prstGeom>
          <a:noFill/>
        </p:spPr>
        <p:txBody>
          <a:bodyPr wrap="square">
            <a:spAutoFit/>
          </a:bodyPr>
          <a:lstStyle/>
          <a:p>
            <a:pPr>
              <a:spcBef>
                <a:spcPts val="800"/>
              </a:spcBef>
              <a:defRPr sz="1600">
                <a:solidFill>
                  <a:srgbClr val="2C3E50"/>
                </a:solidFill>
              </a:defRPr>
            </a:pPr>
            <a:r>
              <a:t>• IAM Least Privilege — resource-scoped ARNs</a:t>
            </a:r>
          </a:p>
          <a:p>
            <a:pPr>
              <a:spcBef>
                <a:spcPts val="800"/>
              </a:spcBef>
              <a:defRPr sz="1600">
                <a:solidFill>
                  <a:srgbClr val="2C3E50"/>
                </a:solidFill>
              </a:defRPr>
            </a:pPr>
            <a:r>
              <a:t>• WAF on API Gateway (rate limit 100/5min/IP)</a:t>
            </a:r>
          </a:p>
          <a:p>
            <a:pPr>
              <a:spcBef>
                <a:spcPts val="800"/>
              </a:spcBef>
              <a:defRPr sz="1600">
                <a:solidFill>
                  <a:srgbClr val="2C3E50"/>
                </a:solidFill>
              </a:defRPr>
            </a:pPr>
            <a:r>
              <a:t>• Secrets Manager with 90-day auto-rotation</a:t>
            </a:r>
          </a:p>
          <a:p>
            <a:pPr>
              <a:spcBef>
                <a:spcPts val="800"/>
              </a:spcBef>
              <a:defRPr sz="1600">
                <a:solidFill>
                  <a:srgbClr val="2C3E50"/>
                </a:solidFill>
              </a:defRPr>
            </a:pPr>
            <a:r>
              <a:t>• No hardcoded credentials anywhere</a:t>
            </a:r>
          </a:p>
          <a:p>
            <a:pPr>
              <a:spcBef>
                <a:spcPts val="800"/>
              </a:spcBef>
              <a:defRPr sz="1600">
                <a:solidFill>
                  <a:srgbClr val="2C3E50"/>
                </a:solidFill>
              </a:defRPr>
            </a:pPr>
            <a:r>
              <a:t>• Security Groups: least-privilege ingress/egress</a:t>
            </a:r>
          </a:p>
          <a:p>
            <a:pPr>
              <a:spcBef>
                <a:spcPts val="800"/>
              </a:spcBef>
              <a:defRPr sz="1600">
                <a:solidFill>
                  <a:srgbClr val="2C3E50"/>
                </a:solidFill>
              </a:defRPr>
            </a:pPr>
            <a:r>
              <a:t>• Payload validation (Pydantic, 1MB limit)</a:t>
            </a:r>
          </a:p>
          <a:p>
            <a:pPr>
              <a:spcBef>
                <a:spcPts val="800"/>
              </a:spcBef>
              <a:defRPr sz="1600">
                <a:solidFill>
                  <a:srgbClr val="2C3E50"/>
                </a:solidFill>
              </a:defRPr>
            </a:pPr>
            <a:r>
              <a:t>• HMAC-signed approval tokens</a:t>
            </a:r>
          </a:p>
          <a:p>
            <a:pPr>
              <a:spcBef>
                <a:spcPts val="800"/>
              </a:spcBef>
              <a:defRPr sz="1600">
                <a:solidFill>
                  <a:srgbClr val="2C3E50"/>
                </a:solidFill>
              </a:defRPr>
            </a:pPr>
            <a:r>
              <a:t>• DynamoDB encryption (AWS-managed keys)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2743200"/>
            <a:ext cx="10058400" cy="1371600"/>
          </a:xfrm>
          <a:prstGeom prst="rect">
            <a:avLst/>
          </a:prstGeom>
          <a:noFill/>
        </p:spPr>
        <p:txBody>
          <a:bodyPr wrap="square">
            <a:spAutoFit/>
          </a:bodyPr>
          <a:lstStyle/>
          <a:p>
            <a:pPr algn="ctr">
              <a:defRPr sz="3600" b="1">
                <a:solidFill>
                  <a:srgbClr val="FF9900"/>
                </a:solidFill>
              </a:defRPr>
            </a:pPr>
            <a:r>
              <a:t>AI / LLM Architecture (Amazon Bedrock)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0F5"/>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none">
            <a:spAutoFit/>
          </a:bodyPr>
          <a:lstStyle/>
          <a:p>
            <a:pPr>
              <a:defRPr sz="2600" b="1">
                <a:solidFill>
                  <a:srgbClr val="FFFFFF"/>
                </a:solidFill>
              </a:defRPr>
            </a:pPr>
            <a:r>
              <a:t>Intelligent Model Router — Cost-Optimized AI</a:t>
            </a:r>
          </a:p>
        </p:txBody>
      </p:sp>
      <p:sp>
        <p:nvSpPr>
          <p:cNvPr id="4" name="TextBox 3"/>
          <p:cNvSpPr txBox="1"/>
          <p:nvPr/>
        </p:nvSpPr>
        <p:spPr>
          <a:xfrm>
            <a:off x="731520" y="1280160"/>
            <a:ext cx="10515600" cy="5303520"/>
          </a:xfrm>
          <a:prstGeom prst="rect">
            <a:avLst/>
          </a:prstGeom>
          <a:noFill/>
        </p:spPr>
        <p:txBody>
          <a:bodyPr wrap="square">
            <a:spAutoFit/>
          </a:bodyPr>
          <a:lstStyle/>
          <a:p>
            <a:pPr>
              <a:spcBef>
                <a:spcPts val="1000"/>
              </a:spcBef>
              <a:defRPr sz="1800">
                <a:solidFill>
                  <a:srgbClr val="2C3E50"/>
                </a:solidFill>
              </a:defRPr>
            </a:pPr>
            <a:r>
              <a:t>Problem: Using Claude Sonnet for ALL alerts is expensive ($0.003/call)</a:t>
            </a:r>
          </a:p>
          <a:p>
            <a:pPr>
              <a:spcBef>
                <a:spcPts val="1000"/>
              </a:spcBef>
              <a:defRPr sz="1800">
                <a:solidFill>
                  <a:srgbClr val="2C3E50"/>
                </a:solidFill>
              </a:defRPr>
            </a:pPr>
            <a:r>
              <a:t>Solution: Classify alert complexity → route to cheapest capable model</a:t>
            </a:r>
          </a:p>
          <a:p>
            <a:pPr>
              <a:spcBef>
                <a:spcPts val="1000"/>
              </a:spcBef>
              <a:defRPr sz="1800">
                <a:solidFill>
                  <a:srgbClr val="2C3E50"/>
                </a:solidFill>
              </a:defRPr>
            </a:pPr>
          </a:p>
          <a:p>
            <a:pPr>
              <a:spcBef>
                <a:spcPts val="1000"/>
              </a:spcBef>
              <a:defRPr sz="1800">
                <a:solidFill>
                  <a:srgbClr val="2C3E50"/>
                </a:solidFill>
              </a:defRPr>
            </a:pPr>
            <a:r>
              <a:t>SIMPLE (70% of alerts): Amazon Nova Lite — ~$0.0003/invocation</a:t>
            </a:r>
          </a:p>
          <a:p>
            <a:pPr lvl="1">
              <a:spcBef>
                <a:spcPts val="400"/>
              </a:spcBef>
              <a:defRPr sz="1600">
                <a:solidFill>
                  <a:srgbClr val="7F8C8D"/>
                </a:solidFill>
              </a:defRPr>
            </a:pPr>
            <a:r>
              <a:t>Seen 5+ times, &gt;90% historical success rate, single host, P3-P5</a:t>
            </a:r>
          </a:p>
          <a:p>
            <a:pPr>
              <a:spcBef>
                <a:spcPts val="1000"/>
              </a:spcBef>
              <a:defRPr sz="1800">
                <a:solidFill>
                  <a:srgbClr val="2C3E50"/>
                </a:solidFill>
              </a:defRPr>
            </a:pPr>
            <a:r>
              <a:t>MODERATE (20%): Amazon Nova Pro — ~$0.001/invocation</a:t>
            </a:r>
          </a:p>
          <a:p>
            <a:pPr lvl="1">
              <a:spcBef>
                <a:spcPts val="400"/>
              </a:spcBef>
              <a:defRPr sz="1600">
                <a:solidFill>
                  <a:srgbClr val="7F8C8D"/>
                </a:solidFill>
              </a:defRPr>
            </a:pPr>
            <a:r>
              <a:t>Limited history, mixed outcomes, 2-3 correlated alerts, P2</a:t>
            </a:r>
          </a:p>
          <a:p>
            <a:pPr>
              <a:spcBef>
                <a:spcPts val="1000"/>
              </a:spcBef>
              <a:defRPr sz="1800">
                <a:solidFill>
                  <a:srgbClr val="2C3E50"/>
                </a:solidFill>
              </a:defRPr>
            </a:pPr>
            <a:r>
              <a:t>COMPLEX (10%): Claude Sonnet — ~$0.003/invocation</a:t>
            </a:r>
          </a:p>
          <a:p>
            <a:pPr lvl="1">
              <a:spcBef>
                <a:spcPts val="400"/>
              </a:spcBef>
              <a:defRPr sz="1600">
                <a:solidFill>
                  <a:srgbClr val="7F8C8D"/>
                </a:solidFill>
              </a:defRPr>
            </a:pPr>
            <a:r>
              <a:t>Never seen before, P1 severity, all past attempts failed, 4+ correlated</a:t>
            </a:r>
          </a:p>
          <a:p>
            <a:pPr>
              <a:spcBef>
                <a:spcPts val="1000"/>
              </a:spcBef>
              <a:defRPr sz="1800">
                <a:solidFill>
                  <a:srgbClr val="2C3E50"/>
                </a:solidFill>
              </a:defRPr>
            </a:pPr>
          </a:p>
          <a:p>
            <a:pPr>
              <a:spcBef>
                <a:spcPts val="1000"/>
              </a:spcBef>
              <a:defRPr sz="1800">
                <a:solidFill>
                  <a:srgbClr val="2C3E50"/>
                </a:solidFill>
              </a:defRPr>
            </a:pPr>
            <a:r>
              <a:t>Auto-Escalation: If confidence &lt; 0.5, automatically upgrades to next tier</a:t>
            </a:r>
          </a:p>
          <a:p>
            <a:pPr>
              <a:spcBef>
                <a:spcPts val="1000"/>
              </a:spcBef>
              <a:defRPr sz="1800">
                <a:solidFill>
                  <a:srgbClr val="2C3E50"/>
                </a:solidFill>
              </a:defRPr>
            </a:pPr>
            <a:r>
              <a:t>Result: 60-90% cost reduction compared to always using premium models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0F5"/>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none">
            <a:spAutoFit/>
          </a:bodyPr>
          <a:lstStyle/>
          <a:p>
            <a:pPr>
              <a:defRPr sz="2600" b="1">
                <a:solidFill>
                  <a:srgbClr val="FFFFFF"/>
                </a:solidFill>
              </a:defRPr>
            </a:pPr>
            <a:r>
              <a:t>AI Reasoning Agent — How It Thinks</a:t>
            </a:r>
          </a:p>
        </p:txBody>
      </p:sp>
      <p:sp>
        <p:nvSpPr>
          <p:cNvPr id="4" name="TextBox 3"/>
          <p:cNvSpPr txBox="1"/>
          <p:nvPr/>
        </p:nvSpPr>
        <p:spPr>
          <a:xfrm>
            <a:off x="731520" y="1280160"/>
            <a:ext cx="10515600" cy="5303520"/>
          </a:xfrm>
          <a:prstGeom prst="rect">
            <a:avLst/>
          </a:prstGeom>
          <a:noFill/>
        </p:spPr>
        <p:txBody>
          <a:bodyPr wrap="square">
            <a:spAutoFit/>
          </a:bodyPr>
          <a:lstStyle/>
          <a:p>
            <a:pPr>
              <a:spcBef>
                <a:spcPts val="1000"/>
              </a:spcBef>
              <a:defRPr sz="1800">
                <a:solidFill>
                  <a:srgbClr val="2C3E50"/>
                </a:solidFill>
              </a:defRPr>
            </a:pPr>
            <a:r>
              <a:t>1. Retrieves historical incidents from DynamoDB (same alert/service)</a:t>
            </a:r>
          </a:p>
          <a:p>
            <a:pPr>
              <a:spcBef>
                <a:spcPts val="1000"/>
              </a:spcBef>
              <a:defRPr sz="1800">
                <a:solidFill>
                  <a:srgbClr val="2C3E50"/>
                </a:solidFill>
              </a:defRPr>
            </a:pPr>
            <a:r>
              <a:t>2. Builds structured prompt with cacheable prefix + variable suffix:</a:t>
            </a:r>
          </a:p>
          <a:p>
            <a:pPr lvl="1">
              <a:spcBef>
                <a:spcPts val="400"/>
              </a:spcBef>
              <a:defRPr sz="1600">
                <a:solidFill>
                  <a:srgbClr val="7F8C8D"/>
                </a:solidFill>
              </a:defRPr>
            </a:pPr>
            <a:r>
              <a:t>System role: "You are an SRE expert analyzing production alerts"</a:t>
            </a:r>
          </a:p>
          <a:p>
            <a:pPr lvl="1">
              <a:spcBef>
                <a:spcPts val="400"/>
              </a:spcBef>
              <a:defRPr sz="1600">
                <a:solidFill>
                  <a:srgbClr val="7F8C8D"/>
                </a:solidFill>
              </a:defRPr>
            </a:pPr>
            <a:r>
              <a:t>Context: alert details, service topology, past outcomes</a:t>
            </a:r>
          </a:p>
          <a:p>
            <a:pPr lvl="1">
              <a:spcBef>
                <a:spcPts val="400"/>
              </a:spcBef>
              <a:defRPr sz="1600">
                <a:solidFill>
                  <a:srgbClr val="7F8C8D"/>
                </a:solidFill>
              </a:defRPr>
            </a:pPr>
            <a:r>
              <a:t>Excluded actions: commands from denied_commands.yml</a:t>
            </a:r>
          </a:p>
          <a:p>
            <a:pPr>
              <a:spcBef>
                <a:spcPts val="1000"/>
              </a:spcBef>
              <a:defRPr sz="1800">
                <a:solidFill>
                  <a:srgbClr val="2C3E50"/>
                </a:solidFill>
              </a:defRPr>
            </a:pPr>
            <a:r>
              <a:t>3. Invokes Bedrock model (30s timeout, 2 retries, exponential backoff)</a:t>
            </a:r>
          </a:p>
          <a:p>
            <a:pPr>
              <a:spcBef>
                <a:spcPts val="1000"/>
              </a:spcBef>
              <a:defRPr sz="1800">
                <a:solidFill>
                  <a:srgbClr val="2C3E50"/>
                </a:solidFill>
              </a:defRPr>
            </a:pPr>
            <a:r>
              <a:t>4. Parses JSON response → RemediationPlan (steps, confidence, reasoning)</a:t>
            </a:r>
          </a:p>
          <a:p>
            <a:pPr>
              <a:spcBef>
                <a:spcPts val="1000"/>
              </a:spcBef>
              <a:defRPr sz="1800">
                <a:solidFill>
                  <a:srgbClr val="2C3E50"/>
                </a:solidFill>
              </a:defRPr>
            </a:pPr>
            <a:r>
              <a:t>5. Confidence gating: P1 requires ≥0.8, general requires ≥0.7</a:t>
            </a:r>
          </a:p>
          <a:p>
            <a:pPr>
              <a:spcBef>
                <a:spcPts val="1000"/>
              </a:spcBef>
              <a:defRPr sz="1800">
                <a:solidFill>
                  <a:srgbClr val="2C3E50"/>
                </a:solidFill>
              </a:defRPr>
            </a:pPr>
            <a:r>
              <a:t>6. Fallback chain on failure: Claude Sonnet → Nova Pro → Haiku → Nova Lite</a:t>
            </a:r>
          </a:p>
          <a:p>
            <a:pPr>
              <a:spcBef>
                <a:spcPts val="1000"/>
              </a:spcBef>
              <a:defRPr sz="1800">
                <a:solidFill>
                  <a:srgbClr val="2C3E50"/>
                </a:solidFill>
              </a:defRPr>
            </a:pPr>
            <a:r>
              <a:t>7. Ultimate fallback: Rule-based PlaybookMapper (no AI needed)</a:t>
            </a:r>
          </a:p>
          <a:p>
            <a:pPr>
              <a:spcBef>
                <a:spcPts val="1000"/>
              </a:spcBef>
              <a:defRPr sz="1800">
                <a:solidFill>
                  <a:srgbClr val="2C3E50"/>
                </a:solidFill>
              </a:defRPr>
            </a:pPr>
            <a:r>
              <a:t>8. Bedrock Guardrails (optional): native content filtering for defense-in-depth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2743200"/>
            <a:ext cx="10058400" cy="1371600"/>
          </a:xfrm>
          <a:prstGeom prst="rect">
            <a:avLst/>
          </a:prstGeom>
          <a:noFill/>
        </p:spPr>
        <p:txBody>
          <a:bodyPr wrap="square">
            <a:spAutoFit/>
          </a:bodyPr>
          <a:lstStyle/>
          <a:p>
            <a:pPr algn="ctr">
              <a:defRPr sz="3600" b="1">
                <a:solidFill>
                  <a:srgbClr val="FF9900"/>
                </a:solidFill>
              </a:defRPr>
            </a:pPr>
            <a:r>
              <a:t>Pipeline &amp; Event-Driven Architecture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0F0F5"/>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none">
            <a:spAutoFit/>
          </a:bodyPr>
          <a:lstStyle/>
          <a:p>
            <a:pPr>
              <a:defRPr sz="2600" b="1">
                <a:solidFill>
                  <a:srgbClr val="FFFFFF"/>
                </a:solidFill>
              </a:defRPr>
            </a:pPr>
            <a:r>
              <a:t>Self-Healing Pipeline — 8 Stages</a:t>
            </a:r>
          </a:p>
        </p:txBody>
      </p:sp>
      <p:sp>
        <p:nvSpPr>
          <p:cNvPr id="4" name="TextBox 3"/>
          <p:cNvSpPr txBox="1"/>
          <p:nvPr/>
        </p:nvSpPr>
        <p:spPr>
          <a:xfrm>
            <a:off x="731520" y="1280160"/>
            <a:ext cx="10515600" cy="5303520"/>
          </a:xfrm>
          <a:prstGeom prst="rect">
            <a:avLst/>
          </a:prstGeom>
          <a:noFill/>
        </p:spPr>
        <p:txBody>
          <a:bodyPr wrap="square">
            <a:spAutoFit/>
          </a:bodyPr>
          <a:lstStyle/>
          <a:p>
            <a:pPr>
              <a:spcBef>
                <a:spcPts val="1000"/>
              </a:spcBef>
              <a:defRPr sz="1800">
                <a:solidFill>
                  <a:srgbClr val="2C3E50"/>
                </a:solidFill>
              </a:defRPr>
            </a:pPr>
            <a:r>
              <a:t>Stage 1 — NORMALIZE: Parse Alertmanager webhook → standardized format</a:t>
            </a:r>
          </a:p>
          <a:p>
            <a:pPr>
              <a:spcBef>
                <a:spcPts val="1000"/>
              </a:spcBef>
              <a:defRPr sz="1800">
                <a:solidFill>
                  <a:srgbClr val="2C3E50"/>
                </a:solidFill>
              </a:defRPr>
            </a:pPr>
            <a:r>
              <a:t>Stage 2 — ENRICH: Asset inventory lookup (hostname, service, owner, location)</a:t>
            </a:r>
          </a:p>
          <a:p>
            <a:pPr>
              <a:spcBef>
                <a:spcPts val="1000"/>
              </a:spcBef>
              <a:defRPr sz="1800">
                <a:solidFill>
                  <a:srgbClr val="2C3E50"/>
                </a:solidFill>
              </a:defRPr>
            </a:pPr>
            <a:r>
              <a:t>Stage 3 — MATCH: Playbook mapping rules (YAML-driven, first-match wins)</a:t>
            </a:r>
          </a:p>
          <a:p>
            <a:pPr>
              <a:spcBef>
                <a:spcPts val="1000"/>
              </a:spcBef>
              <a:defRPr sz="1800">
                <a:solidFill>
                  <a:srgbClr val="2C3E50"/>
                </a:solidFill>
              </a:defRPr>
            </a:pPr>
            <a:r>
              <a:t>Stage 4 — GUARDRAILS: 7-layer safety evaluation (short-circuit on DENY)</a:t>
            </a:r>
          </a:p>
          <a:p>
            <a:pPr>
              <a:spcBef>
                <a:spcPts val="1000"/>
              </a:spcBef>
              <a:defRPr sz="1800">
                <a:solidFill>
                  <a:srgbClr val="2C3E50"/>
                </a:solidFill>
              </a:defRPr>
            </a:pPr>
            <a:r>
              <a:t>Stage 5 — APPROVAL: Email with RCA + approve button (high-risk actions)</a:t>
            </a:r>
          </a:p>
          <a:p>
            <a:pPr>
              <a:spcBef>
                <a:spcPts val="1000"/>
              </a:spcBef>
              <a:defRPr sz="1800">
                <a:solidFill>
                  <a:srgbClr val="2C3E50"/>
                </a:solidFill>
              </a:defRPr>
            </a:pPr>
            <a:r>
              <a:t>Stage 6 — EXECUTE: Ansible playbook via asyncio subprocess (10 concurrent max)</a:t>
            </a:r>
          </a:p>
          <a:p>
            <a:pPr>
              <a:spcBef>
                <a:spcPts val="1000"/>
              </a:spcBef>
              <a:defRPr sz="1800">
                <a:solidFill>
                  <a:srgbClr val="2C3E50"/>
                </a:solidFill>
              </a:defRPr>
            </a:pPr>
            <a:r>
              <a:t>Stage 7 — BAKING: Post-execution monitoring (alarm resolution + host health)</a:t>
            </a:r>
          </a:p>
          <a:p>
            <a:pPr>
              <a:spcBef>
                <a:spcPts val="1000"/>
              </a:spcBef>
              <a:defRPr sz="1800">
                <a:solidFill>
                  <a:srgbClr val="2C3E50"/>
                </a:solidFill>
              </a:defRPr>
            </a:pPr>
            <a:r>
              <a:t>Stage 8 — NOTIFY: Outcome notification + audit log + DynamoDB record</a:t>
            </a:r>
          </a:p>
          <a:p>
            <a:pPr>
              <a:spcBef>
                <a:spcPts val="1000"/>
              </a:spcBef>
              <a:defRPr sz="1800">
                <a:solidFill>
                  <a:srgbClr val="2C3E50"/>
                </a:solidFill>
              </a:defRPr>
            </a:pPr>
          </a:p>
          <a:p>
            <a:pPr>
              <a:spcBef>
                <a:spcPts val="1000"/>
              </a:spcBef>
              <a:defRPr sz="1800">
                <a:solidFill>
                  <a:srgbClr val="2C3E50"/>
                </a:solidFill>
              </a:defRPr>
            </a:pPr>
            <a:r>
              <a:t>Concurrency: Up to 50 simultaneous pipelines via asyncio.Semaphore</a:t>
            </a:r>
          </a:p>
          <a:p>
            <a:pPr>
              <a:spcBef>
                <a:spcPts val="1000"/>
              </a:spcBef>
              <a:defRPr sz="1800">
                <a:solidFill>
                  <a:srgbClr val="2C3E50"/>
                </a:solidFill>
              </a:defRPr>
            </a:pPr>
            <a:r>
              <a:t>Each alert gets a unique UUID incident_id for end-to-end tracing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0F0F5"/>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none">
            <a:spAutoFit/>
          </a:bodyPr>
          <a:lstStyle/>
          <a:p>
            <a:pPr>
              <a:defRPr sz="2600" b="1">
                <a:solidFill>
                  <a:srgbClr val="FFFFFF"/>
                </a:solidFill>
              </a:defRPr>
            </a:pPr>
            <a:r>
              <a:t>Alert Storm Detection &amp; Backpressure</a:t>
            </a:r>
          </a:p>
        </p:txBody>
      </p:sp>
      <p:sp>
        <p:nvSpPr>
          <p:cNvPr id="4" name="TextBox 3"/>
          <p:cNvSpPr txBox="1"/>
          <p:nvPr/>
        </p:nvSpPr>
        <p:spPr>
          <a:xfrm>
            <a:off x="731520" y="1280160"/>
            <a:ext cx="10515600" cy="5303520"/>
          </a:xfrm>
          <a:prstGeom prst="rect">
            <a:avLst/>
          </a:prstGeom>
          <a:noFill/>
        </p:spPr>
        <p:txBody>
          <a:bodyPr wrap="square">
            <a:spAutoFit/>
          </a:bodyPr>
          <a:lstStyle/>
          <a:p>
            <a:pPr>
              <a:spcBef>
                <a:spcPts val="1000"/>
              </a:spcBef>
              <a:defRPr sz="1800">
                <a:solidFill>
                  <a:srgbClr val="2C3E50"/>
                </a:solidFill>
              </a:defRPr>
            </a:pPr>
            <a:r>
              <a:t>Problem: Infrastructure-wide outages trigger hundreds of alerts simultaneously</a:t>
            </a:r>
          </a:p>
          <a:p>
            <a:pPr>
              <a:spcBef>
                <a:spcPts val="1000"/>
              </a:spcBef>
              <a:defRPr sz="1800">
                <a:solidFill>
                  <a:srgbClr val="2C3E50"/>
                </a:solidFill>
              </a:defRPr>
            </a:pPr>
          </a:p>
          <a:p>
            <a:pPr>
              <a:spcBef>
                <a:spcPts val="1000"/>
              </a:spcBef>
              <a:defRPr sz="1800">
                <a:solidFill>
                  <a:srgbClr val="2C3E50"/>
                </a:solidFill>
              </a:defRPr>
            </a:pPr>
            <a:r>
              <a:t>Storm Detector (sliding window algorithm):</a:t>
            </a:r>
          </a:p>
          <a:p>
            <a:pPr lvl="1">
              <a:spcBef>
                <a:spcPts val="400"/>
              </a:spcBef>
              <a:defRPr sz="1600">
                <a:solidFill>
                  <a:srgbClr val="7F8C8D"/>
                </a:solidFill>
              </a:defRPr>
            </a:pPr>
            <a:r>
              <a:t>Tracks alert rate in configurable window (default: 50/minute threshold)</a:t>
            </a:r>
          </a:p>
          <a:p>
            <a:pPr lvl="1">
              <a:spcBef>
                <a:spcPts val="400"/>
              </a:spcBef>
              <a:defRPr sz="1600">
                <a:solidFill>
                  <a:srgbClr val="7F8C8D"/>
                </a:solidFill>
              </a:defRPr>
            </a:pPr>
            <a:r>
              <a:t>Groups alerts by (alert_name + service) during storm mode</a:t>
            </a:r>
          </a:p>
          <a:p>
            <a:pPr lvl="1">
              <a:spcBef>
                <a:spcPts val="400"/>
              </a:spcBef>
              <a:defRPr sz="1600">
                <a:solidFill>
                  <a:srgbClr val="7F8C8D"/>
                </a:solidFill>
              </a:defRPr>
            </a:pPr>
            <a:r>
              <a:t>Processes only ONE representative per group (reduces noise 10-50x)</a:t>
            </a:r>
          </a:p>
          <a:p>
            <a:pPr lvl="1">
              <a:spcBef>
                <a:spcPts val="400"/>
              </a:spcBef>
              <a:defRPr sz="1600">
                <a:solidFill>
                  <a:srgbClr val="7F8C8D"/>
                </a:solidFill>
              </a:defRPr>
            </a:pPr>
            <a:r>
              <a:t>HTTP 429 when internal queue exceeds capacity (Alertmanager retries)</a:t>
            </a:r>
          </a:p>
          <a:p>
            <a:pPr lvl="1">
              <a:spcBef>
                <a:spcPts val="400"/>
              </a:spcBef>
              <a:defRPr sz="1600">
                <a:solidFill>
                  <a:srgbClr val="7F8C8D"/>
                </a:solidFill>
              </a:defRPr>
            </a:pPr>
            <a:r>
              <a:t>Auto-exits storm mode after 2 minutes below threshold</a:t>
            </a:r>
          </a:p>
          <a:p>
            <a:pPr>
              <a:spcBef>
                <a:spcPts val="1000"/>
              </a:spcBef>
              <a:defRPr sz="1800">
                <a:solidFill>
                  <a:srgbClr val="2C3E50"/>
                </a:solidFill>
              </a:defRPr>
            </a:pPr>
          </a:p>
          <a:p>
            <a:pPr>
              <a:spcBef>
                <a:spcPts val="1000"/>
              </a:spcBef>
              <a:defRPr sz="1800">
                <a:solidFill>
                  <a:srgbClr val="2C3E50"/>
                </a:solidFill>
              </a:defRPr>
            </a:pPr>
            <a:r>
              <a:t>Alert Inhibition (root-cause suppression):</a:t>
            </a:r>
          </a:p>
          <a:p>
            <a:pPr lvl="1">
              <a:spcBef>
                <a:spcPts val="400"/>
              </a:spcBef>
              <a:defRPr sz="1600">
                <a:solidFill>
                  <a:srgbClr val="7F8C8D"/>
                </a:solidFill>
              </a:defRPr>
            </a:pPr>
            <a:r>
              <a:t>DatabaseDown active → suppress APITimeout, ConnectionRefused, HealthCheckFailed</a:t>
            </a:r>
          </a:p>
          <a:p>
            <a:pPr lvl="1">
              <a:spcBef>
                <a:spcPts val="400"/>
              </a:spcBef>
              <a:defRPr sz="1600">
                <a:solidFill>
                  <a:srgbClr val="7F8C8D"/>
                </a:solidFill>
              </a:defRPr>
            </a:pPr>
            <a:r>
              <a:t>NetworkPartition → suppress ServiceUnreachable, DNSResolutionFailed</a:t>
            </a:r>
          </a:p>
          <a:p>
            <a:pPr lvl="1">
              <a:spcBef>
                <a:spcPts val="400"/>
              </a:spcBef>
              <a:defRPr sz="1600">
                <a:solidFill>
                  <a:srgbClr val="7F8C8D"/>
                </a:solidFill>
              </a:defRPr>
            </a:pPr>
            <a:r>
              <a:t>DiskFull → suppress LogRotationFailed, DatabaseWriteError</a:t>
            </a:r>
          </a:p>
          <a:p>
            <a:pPr lvl="1">
              <a:spcBef>
                <a:spcPts val="400"/>
              </a:spcBef>
              <a:defRPr sz="1600">
                <a:solidFill>
                  <a:srgbClr val="7F8C8D"/>
                </a:solidFill>
              </a:defRPr>
            </a:pPr>
            <a:r>
              <a:t>Prevents redundant remediations for symptom alerts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2743200"/>
            <a:ext cx="10058400" cy="1371600"/>
          </a:xfrm>
          <a:prstGeom prst="rect">
            <a:avLst/>
          </a:prstGeom>
          <a:noFill/>
        </p:spPr>
        <p:txBody>
          <a:bodyPr wrap="square">
            <a:spAutoFit/>
          </a:bodyPr>
          <a:lstStyle/>
          <a:p>
            <a:pPr algn="ctr">
              <a:defRPr sz="3600" b="1">
                <a:solidFill>
                  <a:srgbClr val="FF9900"/>
                </a:solidFill>
              </a:defRPr>
            </a:pPr>
            <a:r>
              <a:t>Safety &amp; Guardrail Engine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0F0F5"/>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none">
            <a:spAutoFit/>
          </a:bodyPr>
          <a:lstStyle/>
          <a:p>
            <a:pPr>
              <a:defRPr sz="2600" b="1">
                <a:solidFill>
                  <a:srgbClr val="FFFFFF"/>
                </a:solidFill>
              </a:defRPr>
            </a:pPr>
            <a:r>
              <a:t>7-Layer Guardrail Engine (Short-Circuit Evaluation)</a:t>
            </a:r>
          </a:p>
        </p:txBody>
      </p:sp>
      <p:sp>
        <p:nvSpPr>
          <p:cNvPr id="4" name="TextBox 3"/>
          <p:cNvSpPr txBox="1"/>
          <p:nvPr/>
        </p:nvSpPr>
        <p:spPr>
          <a:xfrm>
            <a:off x="731520" y="1280160"/>
            <a:ext cx="10515600" cy="5303520"/>
          </a:xfrm>
          <a:prstGeom prst="rect">
            <a:avLst/>
          </a:prstGeom>
          <a:noFill/>
        </p:spPr>
        <p:txBody>
          <a:bodyPr wrap="square">
            <a:spAutoFit/>
          </a:bodyPr>
          <a:lstStyle/>
          <a:p>
            <a:pPr>
              <a:spcBef>
                <a:spcPts val="1000"/>
              </a:spcBef>
              <a:defRPr sz="1800">
                <a:solidFill>
                  <a:srgbClr val="2C3E50"/>
                </a:solidFill>
              </a:defRPr>
            </a:pPr>
            <a:r>
              <a:t>1. Self-Protection: Never target automation controllers, monitoring infra, vaults</a:t>
            </a:r>
          </a:p>
          <a:p>
            <a:pPr>
              <a:spcBef>
                <a:spcPts val="1000"/>
              </a:spcBef>
              <a:defRPr sz="1800">
                <a:solidFill>
                  <a:srgbClr val="2C3E50"/>
                </a:solidFill>
              </a:defRPr>
            </a:pPr>
            <a:r>
              <a:t>2. Maintenance Window: Defer actions during scheduled windows (recurring/one-time)</a:t>
            </a:r>
          </a:p>
          <a:p>
            <a:pPr>
              <a:spcBef>
                <a:spcPts val="1000"/>
              </a:spcBef>
              <a:defRPr sz="1800">
                <a:solidFill>
                  <a:srgbClr val="2C3E50"/>
                </a:solidFill>
              </a:defRPr>
            </a:pPr>
            <a:r>
              <a:t>3. Circuit Breaker: CLOSED → OPEN → HALF_OPEN state machine per host</a:t>
            </a:r>
          </a:p>
          <a:p>
            <a:pPr>
              <a:spcBef>
                <a:spcPts val="1000"/>
              </a:spcBef>
              <a:defRPr sz="1800">
                <a:solidFill>
                  <a:srgbClr val="2C3E50"/>
                </a:solidFill>
              </a:defRPr>
            </a:pPr>
            <a:r>
              <a:t>4. Concurrency Guard: Bulkhead isolation — max concurrent per service group</a:t>
            </a:r>
          </a:p>
          <a:p>
            <a:pPr>
              <a:spcBef>
                <a:spcPts val="1000"/>
              </a:spcBef>
              <a:defRPr sz="1800">
                <a:solidFill>
                  <a:srgbClr val="2C3E50"/>
                </a:solidFill>
              </a:defRPr>
            </a:pPr>
            <a:r>
              <a:t>5. Blast Radius Classifier: Risk scoring (low/medium/high/critical) per action</a:t>
            </a:r>
          </a:p>
          <a:p>
            <a:pPr>
              <a:spcBef>
                <a:spcPts val="1000"/>
              </a:spcBef>
              <a:defRPr sz="1800">
                <a:solidFill>
                  <a:srgbClr val="2C3E50"/>
                </a:solidFill>
              </a:defRPr>
            </a:pPr>
            <a:r>
              <a:t>6. Health Checker: Checks downstream dependencies before risky operations</a:t>
            </a:r>
          </a:p>
          <a:p>
            <a:pPr>
              <a:spcBef>
                <a:spcPts val="1000"/>
              </a:spcBef>
              <a:defRPr sz="1800">
                <a:solidFill>
                  <a:srgbClr val="2C3E50"/>
                </a:solidFill>
              </a:defRPr>
            </a:pPr>
            <a:r>
              <a:t>7. Approval Gate: Requires human click for high/critical risk actions</a:t>
            </a:r>
          </a:p>
          <a:p>
            <a:pPr>
              <a:spcBef>
                <a:spcPts val="1000"/>
              </a:spcBef>
              <a:defRPr sz="1800">
                <a:solidFill>
                  <a:srgbClr val="2C3E50"/>
                </a:solidFill>
              </a:defRPr>
            </a:pPr>
            <a:r>
              <a:t>8. Plan Validator: Blocks dangerous AI-generated commands (regex denylist)</a:t>
            </a:r>
          </a:p>
          <a:p>
            <a:pPr>
              <a:spcBef>
                <a:spcPts val="1000"/>
              </a:spcBef>
              <a:defRPr sz="1800">
                <a:solidFill>
                  <a:srgbClr val="2C3E50"/>
                </a:solidFill>
              </a:defRPr>
            </a:pPr>
          </a:p>
          <a:p>
            <a:pPr>
              <a:spcBef>
                <a:spcPts val="1000"/>
              </a:spcBef>
              <a:defRPr sz="1800">
                <a:solidFill>
                  <a:srgbClr val="2C3E50"/>
                </a:solidFill>
              </a:defRPr>
            </a:pPr>
            <a:r>
              <a:t>15-second overall timeout → auto-DENY if evaluation takes too long</a:t>
            </a:r>
          </a:p>
          <a:p>
            <a:pPr>
              <a:spcBef>
                <a:spcPts val="1000"/>
              </a:spcBef>
              <a:defRPr sz="1800">
                <a:solidFill>
                  <a:srgbClr val="2C3E50"/>
                </a:solidFill>
              </a:defRPr>
            </a:pPr>
            <a:r>
              <a:t>Any check returning DENY or DEFER short-circuits remaining checks</a:t>
            </a:r>
          </a:p>
          <a:p>
            <a:pPr>
              <a:spcBef>
                <a:spcPts val="1000"/>
              </a:spcBef>
              <a:defRPr sz="1800">
                <a:solidFill>
                  <a:srgbClr val="2C3E50"/>
                </a:solidFill>
              </a:defRPr>
            </a:pPr>
            <a:r>
              <a:t>All decisions logged with full audit trail in DynamoDB</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0F0F5"/>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none">
            <a:spAutoFit/>
          </a:bodyPr>
          <a:lstStyle/>
          <a:p>
            <a:pPr>
              <a:defRPr sz="2600" b="1">
                <a:solidFill>
                  <a:srgbClr val="FFFFFF"/>
                </a:solidFill>
              </a:defRPr>
            </a:pPr>
            <a:r>
              <a:t>AI Plan Validator — Denied Commands &amp; Safety Bounds</a:t>
            </a:r>
          </a:p>
        </p:txBody>
      </p:sp>
      <p:sp>
        <p:nvSpPr>
          <p:cNvPr id="4" name="TextBox 3"/>
          <p:cNvSpPr txBox="1"/>
          <p:nvPr/>
        </p:nvSpPr>
        <p:spPr>
          <a:xfrm>
            <a:off x="731520" y="1280160"/>
            <a:ext cx="10515600" cy="5303520"/>
          </a:xfrm>
          <a:prstGeom prst="rect">
            <a:avLst/>
          </a:prstGeom>
          <a:noFill/>
        </p:spPr>
        <p:txBody>
          <a:bodyPr wrap="square">
            <a:spAutoFit/>
          </a:bodyPr>
          <a:lstStyle/>
          <a:p>
            <a:pPr>
              <a:spcBef>
                <a:spcPts val="1000"/>
              </a:spcBef>
              <a:defRPr sz="1800">
                <a:solidFill>
                  <a:srgbClr val="2C3E50"/>
                </a:solidFill>
              </a:defRPr>
            </a:pPr>
            <a:r>
              <a:t>Blocks dangerous patterns in AI-generated remediation plans:</a:t>
            </a:r>
          </a:p>
          <a:p>
            <a:pPr lvl="1">
              <a:spcBef>
                <a:spcPts val="400"/>
              </a:spcBef>
              <a:defRPr sz="1600">
                <a:solidFill>
                  <a:srgbClr val="7F8C8D"/>
                </a:solidFill>
              </a:defRPr>
            </a:pPr>
            <a:r>
              <a:t>rm -rf /  (recursive root delete)</a:t>
            </a:r>
          </a:p>
          <a:p>
            <a:pPr lvl="1">
              <a:spcBef>
                <a:spcPts val="400"/>
              </a:spcBef>
              <a:defRPr sz="1600">
                <a:solidFill>
                  <a:srgbClr val="7F8C8D"/>
                </a:solidFill>
              </a:defRPr>
            </a:pPr>
            <a:r>
              <a:t>shutdown, halt, poweroff (host shutdown)</a:t>
            </a:r>
          </a:p>
          <a:p>
            <a:pPr lvl="1">
              <a:spcBef>
                <a:spcPts val="400"/>
              </a:spcBef>
              <a:defRPr sz="1600">
                <a:solidFill>
                  <a:srgbClr val="7F8C8D"/>
                </a:solidFill>
              </a:defRPr>
            </a:pPr>
            <a:r>
              <a:t>dd if= (raw disk writes)</a:t>
            </a:r>
          </a:p>
          <a:p>
            <a:pPr lvl="1">
              <a:spcBef>
                <a:spcPts val="400"/>
              </a:spcBef>
              <a:defRPr sz="1600">
                <a:solidFill>
                  <a:srgbClr val="7F8C8D"/>
                </a:solidFill>
              </a:defRPr>
            </a:pPr>
            <a:r>
              <a:t>iptables -F (firewall flush)</a:t>
            </a:r>
          </a:p>
          <a:p>
            <a:pPr lvl="1">
              <a:spcBef>
                <a:spcPts val="400"/>
              </a:spcBef>
              <a:defRPr sz="1600">
                <a:solidFill>
                  <a:srgbClr val="7F8C8D"/>
                </a:solidFill>
              </a:defRPr>
            </a:pPr>
            <a:r>
              <a:t>curl | sh (piped remote scripts)</a:t>
            </a:r>
          </a:p>
          <a:p>
            <a:pPr lvl="1">
              <a:spcBef>
                <a:spcPts val="400"/>
              </a:spcBef>
              <a:defRPr sz="1600">
                <a:solidFill>
                  <a:srgbClr val="7F8C8D"/>
                </a:solidFill>
              </a:defRPr>
            </a:pPr>
            <a:r>
              <a:t>chmod 777 (world-writable permissions)</a:t>
            </a:r>
          </a:p>
          <a:p>
            <a:pPr>
              <a:spcBef>
                <a:spcPts val="1000"/>
              </a:spcBef>
              <a:defRPr sz="1800">
                <a:solidFill>
                  <a:srgbClr val="2C3E50"/>
                </a:solidFill>
              </a:defRPr>
            </a:pPr>
          </a:p>
          <a:p>
            <a:pPr>
              <a:spcBef>
                <a:spcPts val="1000"/>
              </a:spcBef>
              <a:defRPr sz="1800">
                <a:solidFill>
                  <a:srgbClr val="2C3E50"/>
                </a:solidFill>
              </a:defRPr>
            </a:pPr>
            <a:r>
              <a:t>Parameter bounds enforced:</a:t>
            </a:r>
          </a:p>
          <a:p>
            <a:pPr lvl="1">
              <a:spcBef>
                <a:spcPts val="400"/>
              </a:spcBef>
              <a:defRPr sz="1600">
                <a:solidFill>
                  <a:srgbClr val="7F8C8D"/>
                </a:solidFill>
              </a:defRPr>
            </a:pPr>
            <a:r>
              <a:t>Max timeout: 600 seconds per action</a:t>
            </a:r>
          </a:p>
          <a:p>
            <a:pPr lvl="1">
              <a:spcBef>
                <a:spcPts val="400"/>
              </a:spcBef>
              <a:defRPr sz="1600">
                <a:solidFill>
                  <a:srgbClr val="7F8C8D"/>
                </a:solidFill>
              </a:defRPr>
            </a:pPr>
            <a:r>
              <a:t>Max target hosts: 5 per plan</a:t>
            </a:r>
          </a:p>
          <a:p>
            <a:pPr lvl="1">
              <a:spcBef>
                <a:spcPts val="400"/>
              </a:spcBef>
              <a:defRPr sz="1600">
                <a:solidFill>
                  <a:srgbClr val="7F8C8D"/>
                </a:solidFill>
              </a:defRPr>
            </a:pPr>
            <a:r>
              <a:t>Max plan steps: 10</a:t>
            </a:r>
          </a:p>
          <a:p>
            <a:pPr lvl="1">
              <a:spcBef>
                <a:spcPts val="400"/>
              </a:spcBef>
              <a:defRPr sz="1600">
                <a:solidFill>
                  <a:srgbClr val="7F8C8D"/>
                </a:solidFill>
              </a:defRPr>
            </a:pPr>
            <a:r>
              <a:t>Max AI executions per host: 3/hour</a:t>
            </a:r>
          </a:p>
          <a:p>
            <a:pPr>
              <a:spcBef>
                <a:spcPts val="1000"/>
              </a:spcBef>
              <a:defRPr sz="1800">
                <a:solidFill>
                  <a:srgbClr val="2C3E50"/>
                </a:solidFill>
              </a:defRPr>
            </a:pPr>
          </a:p>
          <a:p>
            <a:pPr>
              <a:spcBef>
                <a:spcPts val="1000"/>
              </a:spcBef>
              <a:defRPr sz="1800">
                <a:solidFill>
                  <a:srgbClr val="2C3E50"/>
                </a:solidFill>
              </a:defRPr>
            </a:pPr>
            <a:r>
              <a:t>Allowed filesystem paths: /var/log/, /tmp/, /opt/app/, /var/cache/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0F0F5"/>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none">
            <a:spAutoFit/>
          </a:bodyPr>
          <a:lstStyle/>
          <a:p>
            <a:pPr>
              <a:defRPr sz="2600" b="1">
                <a:solidFill>
                  <a:srgbClr val="FFFFFF"/>
                </a:solidFill>
              </a:defRPr>
            </a:pPr>
            <a:r>
              <a:t>Fleet-Wide Circuit Breaker — Prevents Cascading Damage</a:t>
            </a:r>
          </a:p>
        </p:txBody>
      </p:sp>
      <p:sp>
        <p:nvSpPr>
          <p:cNvPr id="4" name="TextBox 3"/>
          <p:cNvSpPr txBox="1"/>
          <p:nvPr/>
        </p:nvSpPr>
        <p:spPr>
          <a:xfrm>
            <a:off x="731520" y="1280160"/>
            <a:ext cx="10515600" cy="5303520"/>
          </a:xfrm>
          <a:prstGeom prst="rect">
            <a:avLst/>
          </a:prstGeom>
          <a:noFill/>
        </p:spPr>
        <p:txBody>
          <a:bodyPr wrap="square">
            <a:spAutoFit/>
          </a:bodyPr>
          <a:lstStyle/>
          <a:p>
            <a:pPr>
              <a:spcBef>
                <a:spcPts val="1000"/>
              </a:spcBef>
              <a:defRPr sz="1800">
                <a:solidFill>
                  <a:srgbClr val="2C3E50"/>
                </a:solidFill>
              </a:defRPr>
            </a:pPr>
            <a:r>
              <a:t>Problem: Bad playbook deployed to all hosts → every execution fails</a:t>
            </a:r>
          </a:p>
          <a:p>
            <a:pPr>
              <a:spcBef>
                <a:spcPts val="1000"/>
              </a:spcBef>
              <a:defRPr sz="1800">
                <a:solidFill>
                  <a:srgbClr val="2C3E50"/>
                </a:solidFill>
              </a:defRPr>
            </a:pPr>
          </a:p>
          <a:p>
            <a:pPr>
              <a:spcBef>
                <a:spcPts val="1000"/>
              </a:spcBef>
              <a:defRPr sz="1800">
                <a:solidFill>
                  <a:srgbClr val="2C3E50"/>
                </a:solidFill>
              </a:defRPr>
            </a:pPr>
            <a:r>
              <a:t>Fleet Breaker (global across all hosts):</a:t>
            </a:r>
          </a:p>
          <a:p>
            <a:pPr lvl="1">
              <a:spcBef>
                <a:spcPts val="400"/>
              </a:spcBef>
              <a:defRPr sz="1600">
                <a:solidFill>
                  <a:srgbClr val="7F8C8D"/>
                </a:solidFill>
              </a:defRPr>
            </a:pPr>
            <a:r>
              <a:t>Tracks failures in sliding window (default: 5 failures in 5 minutes)</a:t>
            </a:r>
          </a:p>
          <a:p>
            <a:pPr lvl="1">
              <a:spcBef>
                <a:spcPts val="400"/>
              </a:spcBef>
              <a:defRPr sz="1600">
                <a:solidFill>
                  <a:srgbClr val="7F8C8D"/>
                </a:solidFill>
              </a:defRPr>
            </a:pPr>
            <a:r>
              <a:t>CLOSED → OPEN: All automation paused fleet-wide</a:t>
            </a:r>
          </a:p>
          <a:p>
            <a:pPr lvl="1">
              <a:spcBef>
                <a:spcPts val="400"/>
              </a:spcBef>
              <a:defRPr sz="1600">
                <a:solidFill>
                  <a:srgbClr val="7F8C8D"/>
                </a:solidFill>
              </a:defRPr>
            </a:pPr>
            <a:r>
              <a:t>10-minute cooldown before recovery attempt</a:t>
            </a:r>
          </a:p>
          <a:p>
            <a:pPr lvl="1">
              <a:spcBef>
                <a:spcPts val="400"/>
              </a:spcBef>
              <a:defRPr sz="1600">
                <a:solidFill>
                  <a:srgbClr val="7F8C8D"/>
                </a:solidFill>
              </a:defRPr>
            </a:pPr>
            <a:r>
              <a:t>Adaptive ramp-up: allows 1 → 2 → 4 → 8 → max concurrent</a:t>
            </a:r>
          </a:p>
          <a:p>
            <a:pPr lvl="1">
              <a:spcBef>
                <a:spcPts val="400"/>
              </a:spcBef>
              <a:defRPr sz="1600">
                <a:solidFill>
                  <a:srgbClr val="7F8C8D"/>
                </a:solidFill>
              </a:defRPr>
            </a:pPr>
            <a:r>
              <a:t>Each ramp level requires success before advancing</a:t>
            </a:r>
          </a:p>
          <a:p>
            <a:pPr lvl="1">
              <a:spcBef>
                <a:spcPts val="400"/>
              </a:spcBef>
              <a:defRPr sz="1600">
                <a:solidFill>
                  <a:srgbClr val="7F8C8D"/>
                </a:solidFill>
              </a:defRPr>
            </a:pPr>
            <a:r>
              <a:t>Prevents thundering herd after recovery</a:t>
            </a:r>
          </a:p>
          <a:p>
            <a:pPr>
              <a:spcBef>
                <a:spcPts val="1000"/>
              </a:spcBef>
              <a:defRPr sz="1800">
                <a:solidFill>
                  <a:srgbClr val="2C3E50"/>
                </a:solidFill>
              </a:defRPr>
            </a:pPr>
          </a:p>
          <a:p>
            <a:pPr>
              <a:spcBef>
                <a:spcPts val="1000"/>
              </a:spcBef>
              <a:defRPr sz="1800">
                <a:solidFill>
                  <a:srgbClr val="2C3E50"/>
                </a:solidFill>
              </a:defRPr>
            </a:pPr>
            <a:r>
              <a:t>Per-Host Circuit Breaker (separate per target):</a:t>
            </a:r>
          </a:p>
          <a:p>
            <a:pPr lvl="1">
              <a:spcBef>
                <a:spcPts val="400"/>
              </a:spcBef>
              <a:defRPr sz="1600">
                <a:solidFill>
                  <a:srgbClr val="7F8C8D"/>
                </a:solidFill>
              </a:defRPr>
            </a:pPr>
            <a:r>
              <a:t>Tracks failures per individual host</a:t>
            </a:r>
          </a:p>
          <a:p>
            <a:pPr lvl="1">
              <a:spcBef>
                <a:spcPts val="400"/>
              </a:spcBef>
              <a:defRPr sz="1600">
                <a:solidFill>
                  <a:srgbClr val="7F8C8D"/>
                </a:solidFill>
              </a:defRPr>
            </a:pPr>
            <a:r>
              <a:t>CLOSED → OPEN → HALF_OPEN → CLOSED state machine</a:t>
            </a:r>
          </a:p>
          <a:p>
            <a:pPr lvl="1">
              <a:spcBef>
                <a:spcPts val="400"/>
              </a:spcBef>
              <a:defRPr sz="1600">
                <a:solidFill>
                  <a:srgbClr val="7F8C8D"/>
                </a:solidFill>
              </a:defRPr>
            </a:pPr>
            <a:r>
              <a:t>Prevents repeated failed attempts on a broken host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2743200"/>
            <a:ext cx="10058400" cy="1371600"/>
          </a:xfrm>
          <a:prstGeom prst="rect">
            <a:avLst/>
          </a:prstGeom>
          <a:noFill/>
        </p:spPr>
        <p:txBody>
          <a:bodyPr wrap="square">
            <a:spAutoFit/>
          </a:bodyPr>
          <a:lstStyle/>
          <a:p>
            <a:pPr algn="ctr">
              <a:defRPr sz="3600" b="1">
                <a:solidFill>
                  <a:srgbClr val="FF9900"/>
                </a:solidFill>
              </a:defRPr>
            </a:pPr>
            <a:r>
              <a:t>Configuration-Driven Design (12 YAML Files)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0F0F5"/>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none">
            <a:spAutoFit/>
          </a:bodyPr>
          <a:lstStyle/>
          <a:p>
            <a:pPr>
              <a:defRPr sz="2600" b="1">
                <a:solidFill>
                  <a:srgbClr val="FFFFFF"/>
                </a:solidFill>
              </a:defRPr>
            </a:pPr>
            <a:r>
              <a:t>12 YAML Config Files — Declarative Safety &amp; Routing</a:t>
            </a:r>
          </a:p>
        </p:txBody>
      </p:sp>
      <p:sp>
        <p:nvSpPr>
          <p:cNvPr id="4" name="TextBox 3"/>
          <p:cNvSpPr txBox="1"/>
          <p:nvPr/>
        </p:nvSpPr>
        <p:spPr>
          <a:xfrm>
            <a:off x="457200" y="1188720"/>
            <a:ext cx="5303520" cy="457200"/>
          </a:xfrm>
          <a:prstGeom prst="rect">
            <a:avLst/>
          </a:prstGeom>
          <a:noFill/>
        </p:spPr>
        <p:txBody>
          <a:bodyPr wrap="none">
            <a:spAutoFit/>
          </a:bodyPr>
          <a:lstStyle/>
          <a:p>
            <a:pPr>
              <a:defRPr sz="2000" b="1">
                <a:solidFill>
                  <a:srgbClr val="0096D6"/>
                </a:solidFill>
              </a:defRPr>
            </a:pPr>
            <a:r>
              <a:t>Routing &amp; Mapping</a:t>
            </a:r>
          </a:p>
        </p:txBody>
      </p:sp>
      <p:sp>
        <p:nvSpPr>
          <p:cNvPr id="5" name="TextBox 4"/>
          <p:cNvSpPr txBox="1"/>
          <p:nvPr/>
        </p:nvSpPr>
        <p:spPr>
          <a:xfrm>
            <a:off x="640080" y="1737360"/>
            <a:ext cx="5120640" cy="4572000"/>
          </a:xfrm>
          <a:prstGeom prst="rect">
            <a:avLst/>
          </a:prstGeom>
          <a:noFill/>
        </p:spPr>
        <p:txBody>
          <a:bodyPr wrap="square">
            <a:spAutoFit/>
          </a:bodyPr>
          <a:lstStyle/>
          <a:p>
            <a:pPr>
              <a:spcBef>
                <a:spcPts val="800"/>
              </a:spcBef>
              <a:defRPr sz="1600">
                <a:solidFill>
                  <a:srgbClr val="2C3E50"/>
                </a:solidFill>
              </a:defRPr>
            </a:pPr>
            <a:r>
              <a:t>• playbook_mapping.yml</a:t>
            </a:r>
          </a:p>
          <a:p>
            <a:pPr>
              <a:spcBef>
                <a:spcPts val="800"/>
              </a:spcBef>
              <a:defRPr sz="1600">
                <a:solidFill>
                  <a:srgbClr val="2C3E50"/>
                </a:solidFill>
              </a:defRPr>
            </a:pPr>
            <a:r>
              <a:t>  Alert → Ansible playbook rules</a:t>
            </a:r>
          </a:p>
          <a:p>
            <a:pPr>
              <a:spcBef>
                <a:spcPts val="800"/>
              </a:spcBef>
              <a:defRPr sz="1600">
                <a:solidFill>
                  <a:srgbClr val="2C3E50"/>
                </a:solidFill>
              </a:defRPr>
            </a:pPr>
            <a:r>
              <a:t>• asset_inventory.yml</a:t>
            </a:r>
          </a:p>
          <a:p>
            <a:pPr>
              <a:spcBef>
                <a:spcPts val="800"/>
              </a:spcBef>
              <a:defRPr sz="1600">
                <a:solidFill>
                  <a:srgbClr val="2C3E50"/>
                </a:solidFill>
              </a:defRPr>
            </a:pPr>
            <a:r>
              <a:t>  Host/IP/service registry</a:t>
            </a:r>
          </a:p>
          <a:p>
            <a:pPr>
              <a:spcBef>
                <a:spcPts val="800"/>
              </a:spcBef>
              <a:defRPr sz="1600">
                <a:solidFill>
                  <a:srgbClr val="2C3E50"/>
                </a:solidFill>
              </a:defRPr>
            </a:pPr>
            <a:r>
              <a:t>• service_dependencies.yml</a:t>
            </a:r>
          </a:p>
          <a:p>
            <a:pPr>
              <a:spcBef>
                <a:spcPts val="800"/>
              </a:spcBef>
              <a:defRPr sz="1600">
                <a:solidFill>
                  <a:srgbClr val="2C3E50"/>
                </a:solidFill>
              </a:defRPr>
            </a:pPr>
            <a:r>
              <a:t>  Dependency graph + availability thresholds</a:t>
            </a:r>
          </a:p>
          <a:p>
            <a:pPr>
              <a:spcBef>
                <a:spcPts val="800"/>
              </a:spcBef>
              <a:defRPr sz="1600">
                <a:solidFill>
                  <a:srgbClr val="2C3E50"/>
                </a:solidFill>
              </a:defRPr>
            </a:pPr>
            <a:r>
              <a:t>• execution_dependencies.yaml</a:t>
            </a:r>
          </a:p>
          <a:p>
            <a:pPr>
              <a:spcBef>
                <a:spcPts val="800"/>
              </a:spcBef>
              <a:defRPr sz="1600">
                <a:solidFill>
                  <a:srgbClr val="2C3E50"/>
                </a:solidFill>
              </a:defRPr>
            </a:pPr>
            <a:r>
              <a:t>  DAG ordering between actions</a:t>
            </a:r>
          </a:p>
          <a:p>
            <a:pPr>
              <a:spcBef>
                <a:spcPts val="800"/>
              </a:spcBef>
              <a:defRPr sz="1600">
                <a:solidFill>
                  <a:srgbClr val="2C3E50"/>
                </a:solidFill>
              </a:defRPr>
            </a:pPr>
            <a:r>
              <a:t>• risk_classification.yml</a:t>
            </a:r>
          </a:p>
          <a:p>
            <a:pPr>
              <a:spcBef>
                <a:spcPts val="800"/>
              </a:spcBef>
              <a:defRPr sz="1600">
                <a:solidFill>
                  <a:srgbClr val="2C3E50"/>
                </a:solidFill>
              </a:defRPr>
            </a:pPr>
            <a:r>
              <a:t>  Blast radius scoring per (service, action)</a:t>
            </a:r>
          </a:p>
          <a:p>
            <a:pPr>
              <a:spcBef>
                <a:spcPts val="800"/>
              </a:spcBef>
              <a:defRPr sz="1600">
                <a:solidFill>
                  <a:srgbClr val="2C3E50"/>
                </a:solidFill>
              </a:defRPr>
            </a:pPr>
            <a:r>
              <a:t>• resource_conflicts.yaml</a:t>
            </a:r>
          </a:p>
          <a:p>
            <a:pPr>
              <a:spcBef>
                <a:spcPts val="800"/>
              </a:spcBef>
              <a:defRPr sz="1600">
                <a:solidFill>
                  <a:srgbClr val="2C3E50"/>
                </a:solidFill>
              </a:defRPr>
            </a:pPr>
            <a:r>
              <a:t>  Conflict resolution: QUEUE / REJECT / PREEMPT</a:t>
            </a:r>
          </a:p>
        </p:txBody>
      </p:sp>
      <p:sp>
        <p:nvSpPr>
          <p:cNvPr id="6" name="TextBox 5"/>
          <p:cNvSpPr txBox="1"/>
          <p:nvPr/>
        </p:nvSpPr>
        <p:spPr>
          <a:xfrm>
            <a:off x="6217920" y="1188720"/>
            <a:ext cx="5303520" cy="457200"/>
          </a:xfrm>
          <a:prstGeom prst="rect">
            <a:avLst/>
          </a:prstGeom>
          <a:noFill/>
        </p:spPr>
        <p:txBody>
          <a:bodyPr wrap="none">
            <a:spAutoFit/>
          </a:bodyPr>
          <a:lstStyle/>
          <a:p>
            <a:pPr>
              <a:defRPr sz="2000" b="1">
                <a:solidFill>
                  <a:srgbClr val="FF9900"/>
                </a:solidFill>
              </a:defRPr>
            </a:pPr>
            <a:r>
              <a:t>Safety &amp; Protection</a:t>
            </a:r>
          </a:p>
        </p:txBody>
      </p:sp>
      <p:sp>
        <p:nvSpPr>
          <p:cNvPr id="7" name="TextBox 6"/>
          <p:cNvSpPr txBox="1"/>
          <p:nvPr/>
        </p:nvSpPr>
        <p:spPr>
          <a:xfrm>
            <a:off x="6400800" y="1737360"/>
            <a:ext cx="5120640" cy="4572000"/>
          </a:xfrm>
          <a:prstGeom prst="rect">
            <a:avLst/>
          </a:prstGeom>
          <a:noFill/>
        </p:spPr>
        <p:txBody>
          <a:bodyPr wrap="square">
            <a:spAutoFit/>
          </a:bodyPr>
          <a:lstStyle/>
          <a:p>
            <a:pPr>
              <a:spcBef>
                <a:spcPts val="800"/>
              </a:spcBef>
              <a:defRPr sz="1600">
                <a:solidFill>
                  <a:srgbClr val="2C3E50"/>
                </a:solidFill>
              </a:defRPr>
            </a:pPr>
            <a:r>
              <a:t>• denied_commands.yml</a:t>
            </a:r>
          </a:p>
          <a:p>
            <a:pPr>
              <a:spcBef>
                <a:spcPts val="800"/>
              </a:spcBef>
              <a:defRPr sz="1600">
                <a:solidFill>
                  <a:srgbClr val="2C3E50"/>
                </a:solidFill>
              </a:defRPr>
            </a:pPr>
            <a:r>
              <a:t>  AI plan safety blocklist</a:t>
            </a:r>
          </a:p>
          <a:p>
            <a:pPr>
              <a:spcBef>
                <a:spcPts val="800"/>
              </a:spcBef>
              <a:defRPr sz="1600">
                <a:solidFill>
                  <a:srgbClr val="2C3E50"/>
                </a:solidFill>
              </a:defRPr>
            </a:pPr>
            <a:r>
              <a:t>• protected_hosts.yml</a:t>
            </a:r>
          </a:p>
          <a:p>
            <a:pPr>
              <a:spcBef>
                <a:spcPts val="800"/>
              </a:spcBef>
              <a:defRPr sz="1600">
                <a:solidFill>
                  <a:srgbClr val="2C3E50"/>
                </a:solidFill>
              </a:defRPr>
            </a:pPr>
            <a:r>
              <a:t>  Untouchable hosts (automation infra)</a:t>
            </a:r>
          </a:p>
          <a:p>
            <a:pPr>
              <a:spcBef>
                <a:spcPts val="800"/>
              </a:spcBef>
              <a:defRPr sz="1600">
                <a:solidFill>
                  <a:srgbClr val="2C3E50"/>
                </a:solidFill>
              </a:defRPr>
            </a:pPr>
            <a:r>
              <a:t>• inhibition_rules.yml</a:t>
            </a:r>
          </a:p>
          <a:p>
            <a:pPr>
              <a:spcBef>
                <a:spcPts val="800"/>
              </a:spcBef>
              <a:defRPr sz="1600">
                <a:solidFill>
                  <a:srgbClr val="2C3E50"/>
                </a:solidFill>
              </a:defRPr>
            </a:pPr>
            <a:r>
              <a:t>  Root-cause → symptom suppression</a:t>
            </a:r>
          </a:p>
          <a:p>
            <a:pPr>
              <a:spcBef>
                <a:spcPts val="800"/>
              </a:spcBef>
              <a:defRPr sz="1600">
                <a:solidFill>
                  <a:srgbClr val="2C3E50"/>
                </a:solidFill>
              </a:defRPr>
            </a:pPr>
            <a:r>
              <a:t>• maintenance_windows.yml</a:t>
            </a:r>
          </a:p>
          <a:p>
            <a:pPr>
              <a:spcBef>
                <a:spcPts val="800"/>
              </a:spcBef>
              <a:defRPr sz="1600">
                <a:solidFill>
                  <a:srgbClr val="2C3E50"/>
                </a:solidFill>
              </a:defRPr>
            </a:pPr>
            <a:r>
              <a:t>  Scheduled deferral windows</a:t>
            </a:r>
          </a:p>
          <a:p>
            <a:pPr>
              <a:spcBef>
                <a:spcPts val="800"/>
              </a:spcBef>
              <a:defRPr sz="1600">
                <a:solidFill>
                  <a:srgbClr val="2C3E50"/>
                </a:solidFill>
              </a:defRPr>
            </a:pPr>
            <a:r>
              <a:t>• bulkhead_limits.yml</a:t>
            </a:r>
          </a:p>
          <a:p>
            <a:pPr>
              <a:spcBef>
                <a:spcPts val="800"/>
              </a:spcBef>
              <a:defRPr sz="1600">
                <a:solidFill>
                  <a:srgbClr val="2C3E50"/>
                </a:solidFill>
              </a:defRPr>
            </a:pPr>
            <a:r>
              <a:t>  Per-service concurrency caps</a:t>
            </a:r>
          </a:p>
          <a:p>
            <a:pPr>
              <a:spcBef>
                <a:spcPts val="800"/>
              </a:spcBef>
              <a:defRPr sz="1600">
                <a:solidFill>
                  <a:srgbClr val="2C3E50"/>
                </a:solidFill>
              </a:defRPr>
            </a:pPr>
            <a:r>
              <a:t>• stop_conditions.yml</a:t>
            </a:r>
          </a:p>
          <a:p>
            <a:pPr>
              <a:spcBef>
                <a:spcPts val="800"/>
              </a:spcBef>
              <a:defRPr sz="1600">
                <a:solidFill>
                  <a:srgbClr val="2C3E50"/>
                </a:solidFill>
              </a:defRPr>
            </a:pPr>
            <a:r>
              <a:t>  CloudWatch alarms monitored during execution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2743200"/>
            <a:ext cx="10058400" cy="1371600"/>
          </a:xfrm>
          <a:prstGeom prst="rect">
            <a:avLst/>
          </a:prstGeom>
          <a:noFill/>
        </p:spPr>
        <p:txBody>
          <a:bodyPr wrap="square">
            <a:spAutoFit/>
          </a:bodyPr>
          <a:lstStyle/>
          <a:p>
            <a:pPr algn="ctr">
              <a:defRPr sz="3600" b="1">
                <a:solidFill>
                  <a:srgbClr val="FF9900"/>
                </a:solidFill>
              </a:defRPr>
            </a:pPr>
            <a:r>
              <a:t>Human-in-the-Loop Approval Workflow</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0F0F5"/>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none">
            <a:spAutoFit/>
          </a:bodyPr>
          <a:lstStyle/>
          <a:p>
            <a:pPr>
              <a:defRPr sz="2600" b="1">
                <a:solidFill>
                  <a:srgbClr val="FFFFFF"/>
                </a:solidFill>
              </a:defRPr>
            </a:pPr>
            <a:r>
              <a:t>Email-Based Approval Workflow</a:t>
            </a:r>
          </a:p>
        </p:txBody>
      </p:sp>
      <p:sp>
        <p:nvSpPr>
          <p:cNvPr id="4" name="TextBox 3"/>
          <p:cNvSpPr txBox="1"/>
          <p:nvPr/>
        </p:nvSpPr>
        <p:spPr>
          <a:xfrm>
            <a:off x="731520" y="1280160"/>
            <a:ext cx="10515600" cy="5303520"/>
          </a:xfrm>
          <a:prstGeom prst="rect">
            <a:avLst/>
          </a:prstGeom>
          <a:noFill/>
        </p:spPr>
        <p:txBody>
          <a:bodyPr wrap="square">
            <a:spAutoFit/>
          </a:bodyPr>
          <a:lstStyle/>
          <a:p>
            <a:pPr>
              <a:spcBef>
                <a:spcPts val="1000"/>
              </a:spcBef>
              <a:defRPr sz="1800">
                <a:solidFill>
                  <a:srgbClr val="2C3E50"/>
                </a:solidFill>
              </a:defRPr>
            </a:pPr>
            <a:r>
              <a:t>Flow: Alert → Pipeline → Match → Generate Approval Token → Send Email</a:t>
            </a:r>
          </a:p>
          <a:p>
            <a:pPr>
              <a:spcBef>
                <a:spcPts val="1000"/>
              </a:spcBef>
              <a:defRPr sz="1800">
                <a:solidFill>
                  <a:srgbClr val="2C3E50"/>
                </a:solidFill>
              </a:defRPr>
            </a:pPr>
          </a:p>
          <a:p>
            <a:pPr>
              <a:spcBef>
                <a:spcPts val="1000"/>
              </a:spcBef>
              <a:defRPr sz="1800">
                <a:solidFill>
                  <a:srgbClr val="2C3E50"/>
                </a:solidFill>
              </a:defRPr>
            </a:pPr>
            <a:r>
              <a:t>Email contains:</a:t>
            </a:r>
          </a:p>
          <a:p>
            <a:pPr lvl="1">
              <a:spcBef>
                <a:spcPts val="400"/>
              </a:spcBef>
              <a:defRPr sz="1600">
                <a:solidFill>
                  <a:srgbClr val="7F8C8D"/>
                </a:solidFill>
              </a:defRPr>
            </a:pPr>
            <a:r>
              <a:t>Root Cause Analysis (AI-generated or rule-based)</a:t>
            </a:r>
          </a:p>
          <a:p>
            <a:pPr lvl="1">
              <a:spcBef>
                <a:spcPts val="400"/>
              </a:spcBef>
              <a:defRPr sz="1600">
                <a:solidFill>
                  <a:srgbClr val="7F8C8D"/>
                </a:solidFill>
              </a:defRPr>
            </a:pPr>
            <a:r>
              <a:t>Alert details (name, severity, host, timestamp)</a:t>
            </a:r>
          </a:p>
          <a:p>
            <a:pPr lvl="1">
              <a:spcBef>
                <a:spcPts val="400"/>
              </a:spcBef>
              <a:defRPr sz="1600">
                <a:solidFill>
                  <a:srgbClr val="7F8C8D"/>
                </a:solidFill>
              </a:defRPr>
            </a:pPr>
            <a:r>
              <a:t>Proposed remediation steps</a:t>
            </a:r>
          </a:p>
          <a:p>
            <a:pPr lvl="1">
              <a:spcBef>
                <a:spcPts val="400"/>
              </a:spcBef>
              <a:defRPr sz="1600">
                <a:solidFill>
                  <a:srgbClr val="7F8C8D"/>
                </a:solidFill>
              </a:defRPr>
            </a:pPr>
            <a:r>
              <a:t>'Approve Auto-Remediation' button (time-limited link)</a:t>
            </a:r>
          </a:p>
          <a:p>
            <a:pPr>
              <a:spcBef>
                <a:spcPts val="1000"/>
              </a:spcBef>
              <a:defRPr sz="1800">
                <a:solidFill>
                  <a:srgbClr val="2C3E50"/>
                </a:solidFill>
              </a:defRPr>
            </a:pPr>
          </a:p>
          <a:p>
            <a:pPr>
              <a:spcBef>
                <a:spcPts val="1000"/>
              </a:spcBef>
              <a:defRPr sz="1800">
                <a:solidFill>
                  <a:srgbClr val="2C3E50"/>
                </a:solidFill>
              </a:defRPr>
            </a:pPr>
            <a:r>
              <a:t>Security measures:</a:t>
            </a:r>
          </a:p>
          <a:p>
            <a:pPr lvl="1">
              <a:spcBef>
                <a:spcPts val="400"/>
              </a:spcBef>
              <a:defRPr sz="1600">
                <a:solidFill>
                  <a:srgbClr val="7F8C8D"/>
                </a:solidFill>
              </a:defRPr>
            </a:pPr>
            <a:r>
              <a:t>HMAC-signed tokens (Secrets Manager-backed signing key)</a:t>
            </a:r>
          </a:p>
          <a:p>
            <a:pPr lvl="1">
              <a:spcBef>
                <a:spcPts val="400"/>
              </a:spcBef>
              <a:defRPr sz="1600">
                <a:solidFill>
                  <a:srgbClr val="7F8C8D"/>
                </a:solidFill>
              </a:defRPr>
            </a:pPr>
            <a:r>
              <a:t>30-minute expiry (configurable)</a:t>
            </a:r>
          </a:p>
          <a:p>
            <a:pPr lvl="1">
              <a:spcBef>
                <a:spcPts val="400"/>
              </a:spcBef>
              <a:defRPr sz="1600">
                <a:solidFill>
                  <a:srgbClr val="7F8C8D"/>
                </a:solidFill>
              </a:defRPr>
            </a:pPr>
            <a:r>
              <a:t>DynamoDB-backed storage (survives ECS task restarts)</a:t>
            </a:r>
          </a:p>
          <a:p>
            <a:pPr lvl="1">
              <a:spcBef>
                <a:spcPts val="400"/>
              </a:spcBef>
              <a:defRPr sz="1600">
                <a:solidFill>
                  <a:srgbClr val="7F8C8D"/>
                </a:solidFill>
              </a:defRPr>
            </a:pPr>
            <a:r>
              <a:t>Exactly-once consumption (DynamoDB conditional writes)</a:t>
            </a:r>
          </a:p>
          <a:p>
            <a:pPr lvl="1">
              <a:spcBef>
                <a:spcPts val="400"/>
              </a:spcBef>
              <a:defRPr sz="1600">
                <a:solidFill>
                  <a:srgbClr val="7F8C8D"/>
                </a:solidFill>
              </a:defRPr>
            </a:pPr>
            <a:r>
              <a:t>Two-step: GET shows confirmation page → POST executes</a:t>
            </a:r>
          </a:p>
          <a:p>
            <a:pPr lvl="1">
              <a:spcBef>
                <a:spcPts val="400"/>
              </a:spcBef>
              <a:defRPr sz="1600">
                <a:solidFill>
                  <a:srgbClr val="7F8C8D"/>
                </a:solidFill>
              </a:defRPr>
            </a:pPr>
            <a:r>
              <a:t>Prevents email link-scanner auto-approval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2743200"/>
            <a:ext cx="10058400" cy="1371600"/>
          </a:xfrm>
          <a:prstGeom prst="rect">
            <a:avLst/>
          </a:prstGeom>
          <a:noFill/>
        </p:spPr>
        <p:txBody>
          <a:bodyPr wrap="square">
            <a:spAutoFit/>
          </a:bodyPr>
          <a:lstStyle/>
          <a:p>
            <a:pPr algn="ctr">
              <a:defRPr sz="3600" b="1">
                <a:solidFill>
                  <a:srgbClr val="FF9900"/>
                </a:solidFill>
              </a:defRPr>
            </a:pPr>
            <a:r>
              <a:t>Execution &amp; Remediation Layer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0F0F5"/>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none">
            <a:spAutoFit/>
          </a:bodyPr>
          <a:lstStyle/>
          <a:p>
            <a:pPr>
              <a:defRPr sz="2600" b="1">
                <a:solidFill>
                  <a:srgbClr val="FFFFFF"/>
                </a:solidFill>
              </a:defRPr>
            </a:pPr>
            <a:r>
              <a:t>Ansible Playbook Execution</a:t>
            </a:r>
          </a:p>
        </p:txBody>
      </p:sp>
      <p:sp>
        <p:nvSpPr>
          <p:cNvPr id="4" name="TextBox 3"/>
          <p:cNvSpPr txBox="1"/>
          <p:nvPr/>
        </p:nvSpPr>
        <p:spPr>
          <a:xfrm>
            <a:off x="731520" y="1280160"/>
            <a:ext cx="10515600" cy="5303520"/>
          </a:xfrm>
          <a:prstGeom prst="rect">
            <a:avLst/>
          </a:prstGeom>
          <a:noFill/>
        </p:spPr>
        <p:txBody>
          <a:bodyPr wrap="square">
            <a:spAutoFit/>
          </a:bodyPr>
          <a:lstStyle/>
          <a:p>
            <a:pPr>
              <a:spcBef>
                <a:spcPts val="1000"/>
              </a:spcBef>
              <a:defRPr sz="1800">
                <a:solidFill>
                  <a:srgbClr val="2C3E50"/>
                </a:solidFill>
              </a:defRPr>
            </a:pPr>
            <a:r>
              <a:t>Executor capabilities:</a:t>
            </a:r>
          </a:p>
          <a:p>
            <a:pPr lvl="1">
              <a:spcBef>
                <a:spcPts val="400"/>
              </a:spcBef>
              <a:defRPr sz="1600">
                <a:solidFill>
                  <a:srgbClr val="7F8C8D"/>
                </a:solidFill>
              </a:defRPr>
            </a:pPr>
            <a:r>
              <a:t>asyncio subprocess with configurable timeout (default 300s)</a:t>
            </a:r>
          </a:p>
          <a:p>
            <a:pPr lvl="1">
              <a:spcBef>
                <a:spcPts val="400"/>
              </a:spcBef>
              <a:defRPr sz="1600">
                <a:solidFill>
                  <a:srgbClr val="7F8C8D"/>
                </a:solidFill>
              </a:defRPr>
            </a:pPr>
            <a:r>
              <a:t>SIGTERM → 5s grace period → SIGKILL escalation</a:t>
            </a:r>
          </a:p>
          <a:p>
            <a:pPr lvl="1">
              <a:spcBef>
                <a:spcPts val="400"/>
              </a:spcBef>
              <a:defRPr sz="1600">
                <a:solidFill>
                  <a:srgbClr val="7F8C8D"/>
                </a:solidFill>
              </a:defRPr>
            </a:pPr>
            <a:r>
              <a:t>Concurrency: 10 simultaneous executions (Semaphore-limited)</a:t>
            </a:r>
          </a:p>
          <a:p>
            <a:pPr lvl="1">
              <a:spcBef>
                <a:spcPts val="400"/>
              </a:spcBef>
              <a:defRPr sz="1600">
                <a:solidFill>
                  <a:srgbClr val="7F8C8D"/>
                </a:solidFill>
              </a:defRPr>
            </a:pPr>
            <a:r>
              <a:t>Output captured + truncated to 10,000 chars (stdout/stderr)</a:t>
            </a:r>
          </a:p>
          <a:p>
            <a:pPr>
              <a:spcBef>
                <a:spcPts val="1000"/>
              </a:spcBef>
              <a:defRPr sz="1800">
                <a:solidFill>
                  <a:srgbClr val="2C3E50"/>
                </a:solidFill>
              </a:defRPr>
            </a:pPr>
          </a:p>
          <a:p>
            <a:pPr>
              <a:spcBef>
                <a:spcPts val="1000"/>
              </a:spcBef>
              <a:defRPr sz="1800">
                <a:solidFill>
                  <a:srgbClr val="2C3E50"/>
                </a:solidFill>
              </a:defRPr>
            </a:pPr>
            <a:r>
              <a:t>Available playbooks:</a:t>
            </a:r>
          </a:p>
          <a:p>
            <a:pPr lvl="1">
              <a:spcBef>
                <a:spcPts val="400"/>
              </a:spcBef>
              <a:defRPr sz="1600">
                <a:solidFill>
                  <a:srgbClr val="7F8C8D"/>
                </a:solidFill>
              </a:defRPr>
            </a:pPr>
            <a:r>
              <a:t>fix_high_cpu.yml — Kills stress-ng / runaway processes</a:t>
            </a:r>
          </a:p>
          <a:p>
            <a:pPr lvl="1">
              <a:spcBef>
                <a:spcPts val="400"/>
              </a:spcBef>
              <a:defRPr sz="1600">
                <a:solidFill>
                  <a:srgbClr val="7F8C8D"/>
                </a:solidFill>
              </a:defRPr>
            </a:pPr>
            <a:r>
              <a:t>restart_service.yml — Systemd service restart with health check</a:t>
            </a:r>
          </a:p>
          <a:p>
            <a:pPr lvl="1">
              <a:spcBef>
                <a:spcPts val="400"/>
              </a:spcBef>
              <a:defRPr sz="1600">
                <a:solidFill>
                  <a:srgbClr val="7F8C8D"/>
                </a:solidFill>
              </a:defRPr>
            </a:pPr>
            <a:r>
              <a:t>clear_disk.yml — Remove old logs + temp files</a:t>
            </a:r>
          </a:p>
          <a:p>
            <a:pPr lvl="1">
              <a:spcBef>
                <a:spcPts val="400"/>
              </a:spcBef>
              <a:defRPr sz="1600">
                <a:solidFill>
                  <a:srgbClr val="7F8C8D"/>
                </a:solidFill>
              </a:defRPr>
            </a:pPr>
            <a:r>
              <a:t>restart_process.yml — Process-level restart</a:t>
            </a:r>
          </a:p>
          <a:p>
            <a:pPr>
              <a:spcBef>
                <a:spcPts val="1000"/>
              </a:spcBef>
              <a:defRPr sz="1800">
                <a:solidFill>
                  <a:srgbClr val="2C3E50"/>
                </a:solidFill>
              </a:defRPr>
            </a:pPr>
          </a:p>
          <a:p>
            <a:pPr>
              <a:spcBef>
                <a:spcPts val="1000"/>
              </a:spcBef>
              <a:defRPr sz="1800">
                <a:solidFill>
                  <a:srgbClr val="2C3E50"/>
                </a:solidFill>
              </a:defRPr>
            </a:pPr>
            <a:r>
              <a:t>Execution via SSM RunCommand (no SSH keys needed):</a:t>
            </a:r>
          </a:p>
          <a:p>
            <a:pPr lvl="1">
              <a:spcBef>
                <a:spcPts val="400"/>
              </a:spcBef>
              <a:defRPr sz="1600">
                <a:solidFill>
                  <a:srgbClr val="7F8C8D"/>
                </a:solidFill>
              </a:defRPr>
            </a:pPr>
            <a:r>
              <a:t>EC2 instances tagged 'managed-by: aiops'</a:t>
            </a:r>
          </a:p>
          <a:p>
            <a:pPr lvl="1">
              <a:spcBef>
                <a:spcPts val="400"/>
              </a:spcBef>
              <a:defRPr sz="1600">
                <a:solidFill>
                  <a:srgbClr val="7F8C8D"/>
                </a:solidFill>
              </a:defRPr>
            </a:pPr>
            <a:r>
              <a:t>SSM documents: AWS-RunShellScript, AWS-RunAnsiblePlaybook</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0F0F5"/>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none">
            <a:spAutoFit/>
          </a:bodyPr>
          <a:lstStyle/>
          <a:p>
            <a:pPr>
              <a:defRPr sz="2600" b="1">
                <a:solidFill>
                  <a:srgbClr val="FFFFFF"/>
                </a:solidFill>
              </a:defRPr>
            </a:pPr>
            <a:r>
              <a:t>Runtime Safety: Stop Conditions &amp; Baking Validation</a:t>
            </a:r>
          </a:p>
        </p:txBody>
      </p:sp>
      <p:sp>
        <p:nvSpPr>
          <p:cNvPr id="4" name="TextBox 3"/>
          <p:cNvSpPr txBox="1"/>
          <p:nvPr/>
        </p:nvSpPr>
        <p:spPr>
          <a:xfrm>
            <a:off x="731520" y="1280160"/>
            <a:ext cx="10515600" cy="5303520"/>
          </a:xfrm>
          <a:prstGeom prst="rect">
            <a:avLst/>
          </a:prstGeom>
          <a:noFill/>
        </p:spPr>
        <p:txBody>
          <a:bodyPr wrap="square">
            <a:spAutoFit/>
          </a:bodyPr>
          <a:lstStyle/>
          <a:p>
            <a:pPr>
              <a:spcBef>
                <a:spcPts val="1000"/>
              </a:spcBef>
              <a:defRPr sz="1800">
                <a:solidFill>
                  <a:srgbClr val="2C3E50"/>
                </a:solidFill>
              </a:defRPr>
            </a:pPr>
            <a:r>
              <a:t>Stop Conditions (monitored DURING execution):</a:t>
            </a:r>
          </a:p>
          <a:p>
            <a:pPr lvl="1">
              <a:spcBef>
                <a:spcPts val="400"/>
              </a:spcBef>
              <a:defRPr sz="1600">
                <a:solidFill>
                  <a:srgbClr val="7F8C8D"/>
                </a:solidFill>
              </a:defRPr>
            </a:pPr>
            <a:r>
              <a:t>CloudWatch alarms polled every 10 seconds</a:t>
            </a:r>
          </a:p>
          <a:p>
            <a:pPr lvl="1">
              <a:spcBef>
                <a:spcPts val="400"/>
              </a:spcBef>
              <a:defRPr sz="1600">
                <a:solidFill>
                  <a:srgbClr val="7F8C8D"/>
                </a:solidFill>
              </a:defRPr>
            </a:pPr>
            <a:r>
              <a:t>If any alarm fires → immediate abort of remediation</a:t>
            </a:r>
          </a:p>
          <a:p>
            <a:pPr lvl="1">
              <a:spcBef>
                <a:spcPts val="400"/>
              </a:spcBef>
              <a:defRPr sz="1600">
                <a:solidFill>
                  <a:srgbClr val="7F8C8D"/>
                </a:solidFill>
              </a:defRPr>
            </a:pPr>
            <a:r>
              <a:t>Examples: HealthyHostCount &lt; 1, 5xx spike &gt; 100/min, DB connections &gt; 95%</a:t>
            </a:r>
          </a:p>
          <a:p>
            <a:pPr lvl="1">
              <a:spcBef>
                <a:spcPts val="400"/>
              </a:spcBef>
              <a:defRPr sz="1600">
                <a:solidFill>
                  <a:srgbClr val="7F8C8D"/>
                </a:solidFill>
              </a:defRPr>
            </a:pPr>
            <a:r>
              <a:t>Global: MultiServiceDegradation &gt; 3 services → halt all automation</a:t>
            </a:r>
          </a:p>
          <a:p>
            <a:pPr lvl="1">
              <a:spcBef>
                <a:spcPts val="400"/>
              </a:spcBef>
              <a:defRPr sz="1600">
                <a:solidFill>
                  <a:srgbClr val="7F8C8D"/>
                </a:solidFill>
              </a:defRPr>
            </a:pPr>
            <a:r>
              <a:t>15-second grace period before monitoring starts</a:t>
            </a:r>
          </a:p>
          <a:p>
            <a:pPr>
              <a:spcBef>
                <a:spcPts val="1000"/>
              </a:spcBef>
              <a:defRPr sz="1800">
                <a:solidFill>
                  <a:srgbClr val="2C3E50"/>
                </a:solidFill>
              </a:defRPr>
            </a:pPr>
          </a:p>
          <a:p>
            <a:pPr>
              <a:spcBef>
                <a:spcPts val="1000"/>
              </a:spcBef>
              <a:defRPr sz="1800">
                <a:solidFill>
                  <a:srgbClr val="2C3E50"/>
                </a:solidFill>
              </a:defRPr>
            </a:pPr>
            <a:r>
              <a:t>Baking Validation (AFTER execution):</a:t>
            </a:r>
          </a:p>
          <a:p>
            <a:pPr lvl="1">
              <a:spcBef>
                <a:spcPts val="400"/>
              </a:spcBef>
              <a:defRPr sz="1600">
                <a:solidFill>
                  <a:srgbClr val="7F8C8D"/>
                </a:solidFill>
              </a:defRPr>
            </a:pPr>
            <a:r>
              <a:t>Monitors alarm resolution after remediation completes</a:t>
            </a:r>
          </a:p>
          <a:p>
            <a:pPr lvl="1">
              <a:spcBef>
                <a:spcPts val="400"/>
              </a:spcBef>
              <a:defRPr sz="1600">
                <a:solidFill>
                  <a:srgbClr val="7F8C8D"/>
                </a:solidFill>
              </a:defRPr>
            </a:pPr>
            <a:r>
              <a:t>Checks host health (can target come back healthy?)</a:t>
            </a:r>
          </a:p>
          <a:p>
            <a:pPr lvl="1">
              <a:spcBef>
                <a:spcPts val="400"/>
              </a:spcBef>
              <a:defRPr sz="1600">
                <a:solidFill>
                  <a:srgbClr val="7F8C8D"/>
                </a:solidFill>
              </a:defRPr>
            </a:pPr>
            <a:r>
              <a:t>If alarm doesn't resolve → marks outcome as INEFFECTIVE</a:t>
            </a:r>
          </a:p>
          <a:p>
            <a:pPr lvl="1">
              <a:spcBef>
                <a:spcPts val="400"/>
              </a:spcBef>
              <a:defRPr sz="1600">
                <a:solidFill>
                  <a:srgbClr val="7F8C8D"/>
                </a:solidFill>
              </a:defRPr>
            </a:pPr>
            <a:r>
              <a:t>Feeds back into effectiveness scorer for future routing</a:t>
            </a:r>
          </a:p>
          <a:p>
            <a:pPr lvl="1">
              <a:spcBef>
                <a:spcPts val="400"/>
              </a:spcBef>
              <a:defRPr sz="1600">
                <a:solidFill>
                  <a:srgbClr val="7F8C8D"/>
                </a:solidFill>
              </a:defRPr>
            </a:pPr>
            <a:r>
              <a:t>Inspired by AWS CodeDeploy bake time / SageMaker Deployment Guardrails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2743200"/>
            <a:ext cx="10058400" cy="1371600"/>
          </a:xfrm>
          <a:prstGeom prst="rect">
            <a:avLst/>
          </a:prstGeom>
          <a:noFill/>
        </p:spPr>
        <p:txBody>
          <a:bodyPr wrap="square">
            <a:spAutoFit/>
          </a:bodyPr>
          <a:lstStyle/>
          <a:p>
            <a:pPr algn="ctr">
              <a:defRPr sz="3600" b="1">
                <a:solidFill>
                  <a:srgbClr val="FF9900"/>
                </a:solidFill>
              </a:defRPr>
            </a:pPr>
            <a:r>
              <a:t>Observability &amp; Operations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0F0F5"/>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none">
            <a:spAutoFit/>
          </a:bodyPr>
          <a:lstStyle/>
          <a:p>
            <a:pPr>
              <a:defRPr sz="2600" b="1">
                <a:solidFill>
                  <a:srgbClr val="FFFFFF"/>
                </a:solidFill>
              </a:defRPr>
            </a:pPr>
            <a:r>
              <a:t>Observability: Logging, Metrics, Tracing, Alarms</a:t>
            </a:r>
          </a:p>
        </p:txBody>
      </p:sp>
      <p:sp>
        <p:nvSpPr>
          <p:cNvPr id="4" name="TextBox 3"/>
          <p:cNvSpPr txBox="1"/>
          <p:nvPr/>
        </p:nvSpPr>
        <p:spPr>
          <a:xfrm>
            <a:off x="731520" y="1280160"/>
            <a:ext cx="10515600" cy="5303520"/>
          </a:xfrm>
          <a:prstGeom prst="rect">
            <a:avLst/>
          </a:prstGeom>
          <a:noFill/>
        </p:spPr>
        <p:txBody>
          <a:bodyPr wrap="square">
            <a:spAutoFit/>
          </a:bodyPr>
          <a:lstStyle/>
          <a:p>
            <a:pPr>
              <a:spcBef>
                <a:spcPts val="1000"/>
              </a:spcBef>
              <a:defRPr sz="1800">
                <a:solidFill>
                  <a:srgbClr val="2C3E50"/>
                </a:solidFill>
              </a:defRPr>
            </a:pPr>
            <a:r>
              <a:t>Structured JSON Logging (CloudWatch via awslogs driver):</a:t>
            </a:r>
          </a:p>
          <a:p>
            <a:pPr lvl="1">
              <a:spcBef>
                <a:spcPts val="400"/>
              </a:spcBef>
              <a:defRPr sz="1600">
                <a:solidFill>
                  <a:srgbClr val="7F8C8D"/>
                </a:solidFill>
              </a:defRPr>
            </a:pPr>
            <a:r>
              <a:t>Retention: 30d (dev) / 90d (staging) / 365d (prod)</a:t>
            </a:r>
          </a:p>
          <a:p>
            <a:pPr lvl="1">
              <a:spcBef>
                <a:spcPts val="400"/>
              </a:spcBef>
              <a:defRPr sz="1600">
                <a:solidFill>
                  <a:srgbClr val="7F8C8D"/>
                </a:solidFill>
              </a:defRPr>
            </a:pPr>
            <a:r>
              <a:t>Always includes: timestamp, level, logger, incident_id</a:t>
            </a:r>
          </a:p>
          <a:p>
            <a:pPr>
              <a:spcBef>
                <a:spcPts val="1000"/>
              </a:spcBef>
              <a:defRPr sz="1800">
                <a:solidFill>
                  <a:srgbClr val="2C3E50"/>
                </a:solidFill>
              </a:defRPr>
            </a:pPr>
          </a:p>
          <a:p>
            <a:pPr>
              <a:spcBef>
                <a:spcPts val="1000"/>
              </a:spcBef>
              <a:defRPr sz="1800">
                <a:solidFill>
                  <a:srgbClr val="2C3E50"/>
                </a:solidFill>
              </a:defRPr>
            </a:pPr>
            <a:r>
              <a:t>Custom Metrics (CloudWatch Namespace: AIOps/{environment}):</a:t>
            </a:r>
          </a:p>
          <a:p>
            <a:pPr lvl="1">
              <a:spcBef>
                <a:spcPts val="400"/>
              </a:spcBef>
              <a:defRPr sz="1600">
                <a:solidFill>
                  <a:srgbClr val="7F8C8D"/>
                </a:solidFill>
              </a:defRPr>
            </a:pPr>
            <a:r>
              <a:t>alerts_received, remediation_success/failure/timeout</a:t>
            </a:r>
          </a:p>
          <a:p>
            <a:pPr lvl="1">
              <a:spcBef>
                <a:spcPts val="400"/>
              </a:spcBef>
              <a:defRPr sz="1600">
                <a:solidFill>
                  <a:srgbClr val="7F8C8D"/>
                </a:solidFill>
              </a:defRPr>
            </a:pPr>
            <a:r>
              <a:t>AI reasoning latency, storm suppression count</a:t>
            </a:r>
          </a:p>
          <a:p>
            <a:pPr>
              <a:spcBef>
                <a:spcPts val="1000"/>
              </a:spcBef>
              <a:defRPr sz="1800">
                <a:solidFill>
                  <a:srgbClr val="2C3E50"/>
                </a:solidFill>
              </a:defRPr>
            </a:pPr>
          </a:p>
          <a:p>
            <a:pPr>
              <a:spcBef>
                <a:spcPts val="1000"/>
              </a:spcBef>
              <a:defRPr sz="1800">
                <a:solidFill>
                  <a:srgbClr val="2C3E50"/>
                </a:solidFill>
              </a:defRPr>
            </a:pPr>
            <a:r>
              <a:t>CloudWatch Alarms (staging/prod):</a:t>
            </a:r>
          </a:p>
          <a:p>
            <a:pPr lvl="1">
              <a:spcBef>
                <a:spcPts val="400"/>
              </a:spcBef>
              <a:defRPr sz="1600">
                <a:solidFill>
                  <a:srgbClr val="7F8C8D"/>
                </a:solidFill>
              </a:defRPr>
            </a:pPr>
            <a:r>
              <a:t>DLQ depth &gt; 5, AI latency p95 &gt; 15s, failure rate &gt; 30%</a:t>
            </a:r>
          </a:p>
          <a:p>
            <a:pPr lvl="1">
              <a:spcBef>
                <a:spcPts val="400"/>
              </a:spcBef>
              <a:defRPr sz="1600">
                <a:solidFill>
                  <a:srgbClr val="7F8C8D"/>
                </a:solidFill>
              </a:defRPr>
            </a:pPr>
            <a:r>
              <a:t>Composite: RollbackRequired (ECS unhealthy AND DLQ depth)</a:t>
            </a:r>
          </a:p>
          <a:p>
            <a:pPr>
              <a:spcBef>
                <a:spcPts val="1000"/>
              </a:spcBef>
              <a:defRPr sz="1800">
                <a:solidFill>
                  <a:srgbClr val="2C3E50"/>
                </a:solidFill>
              </a:defRPr>
            </a:pPr>
          </a:p>
          <a:p>
            <a:pPr>
              <a:spcBef>
                <a:spcPts val="1000"/>
              </a:spcBef>
              <a:defRPr sz="1800">
                <a:solidFill>
                  <a:srgbClr val="2C3E50"/>
                </a:solidFill>
              </a:defRPr>
            </a:pPr>
            <a:r>
              <a:t>Distributed Tracing (OpenTelemetry → X-Ray):</a:t>
            </a:r>
          </a:p>
          <a:p>
            <a:pPr lvl="1">
              <a:spcBef>
                <a:spcPts val="400"/>
              </a:spcBef>
              <a:defRPr sz="1600">
                <a:solidFill>
                  <a:srgbClr val="7F8C8D"/>
                </a:solidFill>
              </a:defRPr>
            </a:pPr>
            <a:r>
              <a:t>Each pipeline stage emits a span with incident_id</a:t>
            </a:r>
          </a:p>
          <a:p>
            <a:pPr lvl="1">
              <a:spcBef>
                <a:spcPts val="400"/>
              </a:spcBef>
              <a:defRPr sz="1600">
                <a:solidFill>
                  <a:srgbClr val="7F8C8D"/>
                </a:solidFill>
              </a:defRPr>
            </a:pPr>
            <a:r>
              <a:t>Bedrock calls emit GenAI semantic convention spans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2743200"/>
            <a:ext cx="10058400" cy="1371600"/>
          </a:xfrm>
          <a:prstGeom prst="rect">
            <a:avLst/>
          </a:prstGeom>
          <a:noFill/>
        </p:spPr>
        <p:txBody>
          <a:bodyPr wrap="square">
            <a:spAutoFit/>
          </a:bodyPr>
          <a:lstStyle/>
          <a:p>
            <a:pPr algn="ctr">
              <a:defRPr sz="3600" b="1">
                <a:solidFill>
                  <a:srgbClr val="FF9900"/>
                </a:solidFill>
              </a:defRPr>
            </a:pPr>
            <a:r>
              <a:t>CI/CD Pipeline &amp; Deployment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0F0F5"/>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none">
            <a:spAutoFit/>
          </a:bodyPr>
          <a:lstStyle/>
          <a:p>
            <a:pPr>
              <a:defRPr sz="2600" b="1">
                <a:solidFill>
                  <a:srgbClr val="FFFFFF"/>
                </a:solidFill>
              </a:defRPr>
            </a:pPr>
            <a:r>
              <a:t>CI/CD Pipeline — GitHub Actions</a:t>
            </a:r>
          </a:p>
        </p:txBody>
      </p:sp>
      <p:sp>
        <p:nvSpPr>
          <p:cNvPr id="4" name="TextBox 3"/>
          <p:cNvSpPr txBox="1"/>
          <p:nvPr/>
        </p:nvSpPr>
        <p:spPr>
          <a:xfrm>
            <a:off x="457200" y="1188720"/>
            <a:ext cx="5303520" cy="457200"/>
          </a:xfrm>
          <a:prstGeom prst="rect">
            <a:avLst/>
          </a:prstGeom>
          <a:noFill/>
        </p:spPr>
        <p:txBody>
          <a:bodyPr wrap="none">
            <a:spAutoFit/>
          </a:bodyPr>
          <a:lstStyle/>
          <a:p>
            <a:pPr>
              <a:defRPr sz="2000" b="1">
                <a:solidFill>
                  <a:srgbClr val="0096D6"/>
                </a:solidFill>
              </a:defRPr>
            </a:pPr>
            <a:r>
              <a:t>CI (on push/PR)</a:t>
            </a:r>
          </a:p>
        </p:txBody>
      </p:sp>
      <p:sp>
        <p:nvSpPr>
          <p:cNvPr id="5" name="TextBox 4"/>
          <p:cNvSpPr txBox="1"/>
          <p:nvPr/>
        </p:nvSpPr>
        <p:spPr>
          <a:xfrm>
            <a:off x="640080" y="1737360"/>
            <a:ext cx="5120640" cy="4572000"/>
          </a:xfrm>
          <a:prstGeom prst="rect">
            <a:avLst/>
          </a:prstGeom>
          <a:noFill/>
        </p:spPr>
        <p:txBody>
          <a:bodyPr wrap="square">
            <a:spAutoFit/>
          </a:bodyPr>
          <a:lstStyle/>
          <a:p>
            <a:pPr>
              <a:spcBef>
                <a:spcPts val="800"/>
              </a:spcBef>
              <a:defRPr sz="1600">
                <a:solidFill>
                  <a:srgbClr val="2C3E50"/>
                </a:solidFill>
              </a:defRPr>
            </a:pPr>
            <a:r>
              <a:t>1. Lint: ruff check + ruff format</a:t>
            </a:r>
          </a:p>
          <a:p>
            <a:pPr>
              <a:spcBef>
                <a:spcPts val="800"/>
              </a:spcBef>
              <a:defRPr sz="1600">
                <a:solidFill>
                  <a:srgbClr val="2C3E50"/>
                </a:solidFill>
              </a:defRPr>
            </a:pPr>
            <a:r>
              <a:t>2. Unit tests (coverage &gt;= 80%)</a:t>
            </a:r>
          </a:p>
          <a:p>
            <a:pPr>
              <a:spcBef>
                <a:spcPts val="800"/>
              </a:spcBef>
              <a:defRPr sz="1600">
                <a:solidFill>
                  <a:srgbClr val="2C3E50"/>
                </a:solidFill>
              </a:defRPr>
            </a:pPr>
            <a:r>
              <a:t>3. Property-based tests (Hypothesis)</a:t>
            </a:r>
          </a:p>
          <a:p>
            <a:pPr>
              <a:spcBef>
                <a:spcPts val="800"/>
              </a:spcBef>
              <a:defRPr sz="1600">
                <a:solidFill>
                  <a:srgbClr val="2C3E50"/>
                </a:solidFill>
              </a:defRPr>
            </a:pPr>
            <a:r>
              <a:t>4. CDK synth (validate templates)</a:t>
            </a:r>
          </a:p>
          <a:p>
            <a:pPr>
              <a:spcBef>
                <a:spcPts val="800"/>
              </a:spcBef>
              <a:defRPr sz="1600">
                <a:solidFill>
                  <a:srgbClr val="2C3E50"/>
                </a:solidFill>
              </a:defRPr>
            </a:pPr>
            <a:r>
              <a:t>5. CDK assertion tests</a:t>
            </a:r>
          </a:p>
          <a:p>
            <a:pPr>
              <a:spcBef>
                <a:spcPts val="800"/>
              </a:spcBef>
              <a:defRPr sz="1600">
                <a:solidFill>
                  <a:srgbClr val="2C3E50"/>
                </a:solidFill>
              </a:defRPr>
            </a:pPr>
            <a:r>
              <a:t>6. Docker build + ECR push</a:t>
            </a:r>
          </a:p>
          <a:p>
            <a:pPr>
              <a:spcBef>
                <a:spcPts val="800"/>
              </a:spcBef>
              <a:defRPr sz="1600">
                <a:solidFill>
                  <a:srgbClr val="2C3E50"/>
                </a:solidFill>
              </a:defRPr>
            </a:pPr>
            <a:r>
              <a:t>7. Vulnerability scan</a:t>
            </a:r>
          </a:p>
          <a:p>
            <a:pPr>
              <a:spcBef>
                <a:spcPts val="800"/>
              </a:spcBef>
              <a:defRPr sz="1600">
                <a:solidFill>
                  <a:srgbClr val="2C3E50"/>
                </a:solidFill>
              </a:defRPr>
            </a:pPr>
          </a:p>
          <a:p>
            <a:pPr>
              <a:spcBef>
                <a:spcPts val="800"/>
              </a:spcBef>
              <a:defRPr sz="1600">
                <a:solidFill>
                  <a:srgbClr val="2C3E50"/>
                </a:solidFill>
              </a:defRPr>
            </a:pPr>
            <a:r>
              <a:t>Branch Strategy:</a:t>
            </a:r>
          </a:p>
          <a:p>
            <a:pPr>
              <a:spcBef>
                <a:spcPts val="800"/>
              </a:spcBef>
              <a:defRPr sz="1600">
                <a:solidFill>
                  <a:srgbClr val="2C3E50"/>
                </a:solidFill>
              </a:defRPr>
            </a:pPr>
            <a:r>
              <a:t>  main → dev</a:t>
            </a:r>
          </a:p>
          <a:p>
            <a:pPr>
              <a:spcBef>
                <a:spcPts val="800"/>
              </a:spcBef>
              <a:defRPr sz="1600">
                <a:solidFill>
                  <a:srgbClr val="2C3E50"/>
                </a:solidFill>
              </a:defRPr>
            </a:pPr>
            <a:r>
              <a:t>  staging → staging</a:t>
            </a:r>
          </a:p>
          <a:p>
            <a:pPr>
              <a:spcBef>
                <a:spcPts val="800"/>
              </a:spcBef>
              <a:defRPr sz="1600">
                <a:solidFill>
                  <a:srgbClr val="2C3E50"/>
                </a:solidFill>
              </a:defRPr>
            </a:pPr>
            <a:r>
              <a:t>  v*.*.* tags → prod</a:t>
            </a:r>
          </a:p>
        </p:txBody>
      </p:sp>
      <p:sp>
        <p:nvSpPr>
          <p:cNvPr id="6" name="TextBox 5"/>
          <p:cNvSpPr txBox="1"/>
          <p:nvPr/>
        </p:nvSpPr>
        <p:spPr>
          <a:xfrm>
            <a:off x="6217920" y="1188720"/>
            <a:ext cx="5303520" cy="457200"/>
          </a:xfrm>
          <a:prstGeom prst="rect">
            <a:avLst/>
          </a:prstGeom>
          <a:noFill/>
        </p:spPr>
        <p:txBody>
          <a:bodyPr wrap="none">
            <a:spAutoFit/>
          </a:bodyPr>
          <a:lstStyle/>
          <a:p>
            <a:pPr>
              <a:defRPr sz="2000" b="1">
                <a:solidFill>
                  <a:srgbClr val="FF9900"/>
                </a:solidFill>
              </a:defRPr>
            </a:pPr>
            <a:r>
              <a:t>CD (on CI success)</a:t>
            </a:r>
          </a:p>
        </p:txBody>
      </p:sp>
      <p:sp>
        <p:nvSpPr>
          <p:cNvPr id="7" name="TextBox 6"/>
          <p:cNvSpPr txBox="1"/>
          <p:nvPr/>
        </p:nvSpPr>
        <p:spPr>
          <a:xfrm>
            <a:off x="6400800" y="1737360"/>
            <a:ext cx="5120640" cy="4572000"/>
          </a:xfrm>
          <a:prstGeom prst="rect">
            <a:avLst/>
          </a:prstGeom>
          <a:noFill/>
        </p:spPr>
        <p:txBody>
          <a:bodyPr wrap="square">
            <a:spAutoFit/>
          </a:bodyPr>
          <a:lstStyle/>
          <a:p>
            <a:pPr>
              <a:spcBef>
                <a:spcPts val="800"/>
              </a:spcBef>
              <a:defRPr sz="1600">
                <a:solidFill>
                  <a:srgbClr val="2C3E50"/>
                </a:solidFill>
              </a:defRPr>
            </a:pPr>
            <a:r>
              <a:t>1. Resolve image tag + environment</a:t>
            </a:r>
          </a:p>
          <a:p>
            <a:pPr>
              <a:spcBef>
                <a:spcPts val="800"/>
              </a:spcBef>
              <a:defRPr sz="1600">
                <a:solidFill>
                  <a:srgbClr val="2C3E50"/>
                </a:solidFill>
              </a:defRPr>
            </a:pPr>
            <a:r>
              <a:t>2. Production approval gate (4h timeout)</a:t>
            </a:r>
          </a:p>
          <a:p>
            <a:pPr>
              <a:spcBef>
                <a:spcPts val="800"/>
              </a:spcBef>
              <a:defRPr sz="1600">
                <a:solidFill>
                  <a:srgbClr val="2C3E50"/>
                </a:solidFill>
              </a:defRPr>
            </a:pPr>
            <a:r>
              <a:t>3. Deploy stacks in order:</a:t>
            </a:r>
          </a:p>
          <a:p>
            <a:pPr>
              <a:spcBef>
                <a:spcPts val="800"/>
              </a:spcBef>
              <a:defRPr sz="1600">
                <a:solidFill>
                  <a:srgbClr val="2C3E50"/>
                </a:solidFill>
              </a:defRPr>
            </a:pPr>
            <a:r>
              <a:t>   Network → Data → Compute</a:t>
            </a:r>
          </a:p>
          <a:p>
            <a:pPr>
              <a:spcBef>
                <a:spcPts val="800"/>
              </a:spcBef>
              <a:defRPr sz="1600">
                <a:solidFill>
                  <a:srgbClr val="2C3E50"/>
                </a:solidFill>
              </a:defRPr>
            </a:pPr>
            <a:r>
              <a:t>   → Health Gate → Observability</a:t>
            </a:r>
          </a:p>
          <a:p>
            <a:pPr>
              <a:spcBef>
                <a:spcPts val="800"/>
              </a:spcBef>
              <a:defRPr sz="1600">
                <a:solidFill>
                  <a:srgbClr val="2C3E50"/>
                </a:solidFill>
              </a:defRPr>
            </a:pPr>
            <a:r>
              <a:t>4. Health gate: 3 consecutive healthy</a:t>
            </a:r>
          </a:p>
          <a:p>
            <a:pPr>
              <a:spcBef>
                <a:spcPts val="800"/>
              </a:spcBef>
              <a:defRPr sz="1600">
                <a:solidFill>
                  <a:srgbClr val="2C3E50"/>
                </a:solidFill>
              </a:defRPr>
            </a:pPr>
            <a:r>
              <a:t>   responses within 5 minutes</a:t>
            </a:r>
          </a:p>
          <a:p>
            <a:pPr>
              <a:spcBef>
                <a:spcPts val="800"/>
              </a:spcBef>
              <a:defRPr sz="1600">
                <a:solidFill>
                  <a:srgbClr val="2C3E50"/>
                </a:solidFill>
              </a:defRPr>
            </a:pPr>
            <a:r>
              <a:t>5. Rollback: automatic on health failure</a:t>
            </a:r>
          </a:p>
          <a:p>
            <a:pPr>
              <a:spcBef>
                <a:spcPts val="800"/>
              </a:spcBef>
              <a:defRPr sz="1600">
                <a:solidFill>
                  <a:srgbClr val="2C3E50"/>
                </a:solidFill>
              </a:defRPr>
            </a:pPr>
            <a:r>
              <a:t>   (previous manifest from SSM)</a:t>
            </a:r>
          </a:p>
          <a:p>
            <a:pPr>
              <a:spcBef>
                <a:spcPts val="800"/>
              </a:spcBef>
              <a:defRPr sz="1600">
                <a:solidFill>
                  <a:srgbClr val="2C3E50"/>
                </a:solidFill>
              </a:defRPr>
            </a:pPr>
            <a:r>
              <a:t>6. Store manifest in SSM (5-slot window)</a:t>
            </a:r>
          </a:p>
          <a:p>
            <a:pPr>
              <a:spcBef>
                <a:spcPts val="800"/>
              </a:spcBef>
              <a:defRPr sz="1600">
                <a:solidFill>
                  <a:srgbClr val="2C3E50"/>
                </a:solidFill>
              </a:defRPr>
            </a:pPr>
          </a:p>
          <a:p>
            <a:pPr>
              <a:spcBef>
                <a:spcPts val="800"/>
              </a:spcBef>
              <a:defRPr sz="1600">
                <a:solidFill>
                  <a:srgbClr val="2C3E50"/>
                </a:solidFill>
              </a:defRPr>
            </a:pPr>
            <a:r>
              <a:t>Safety: CDK diff uploaded as artifact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2743200"/>
            <a:ext cx="10058400" cy="1371600"/>
          </a:xfrm>
          <a:prstGeom prst="rect">
            <a:avLst/>
          </a:prstGeom>
          <a:noFill/>
        </p:spPr>
        <p:txBody>
          <a:bodyPr wrap="square">
            <a:spAutoFit/>
          </a:bodyPr>
          <a:lstStyle/>
          <a:p>
            <a:pPr algn="ctr">
              <a:defRPr sz="3600" b="1">
                <a:solidFill>
                  <a:srgbClr val="FF9900"/>
                </a:solidFill>
              </a:defRPr>
            </a:pPr>
            <a:r>
              <a:t>Cost Optimization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0F0F5"/>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none">
            <a:spAutoFit/>
          </a:bodyPr>
          <a:lstStyle/>
          <a:p>
            <a:pPr>
              <a:defRPr sz="2600" b="1">
                <a:solidFill>
                  <a:srgbClr val="FFFFFF"/>
                </a:solidFill>
              </a:defRPr>
            </a:pPr>
            <a:r>
              <a:t>Cost Optimization Strategies</a:t>
            </a:r>
          </a:p>
        </p:txBody>
      </p:sp>
      <p:sp>
        <p:nvSpPr>
          <p:cNvPr id="4" name="TextBox 3"/>
          <p:cNvSpPr txBox="1"/>
          <p:nvPr/>
        </p:nvSpPr>
        <p:spPr>
          <a:xfrm>
            <a:off x="731520" y="1280160"/>
            <a:ext cx="10515600" cy="5303520"/>
          </a:xfrm>
          <a:prstGeom prst="rect">
            <a:avLst/>
          </a:prstGeom>
          <a:noFill/>
        </p:spPr>
        <p:txBody>
          <a:bodyPr wrap="square">
            <a:spAutoFit/>
          </a:bodyPr>
          <a:lstStyle/>
          <a:p>
            <a:pPr>
              <a:spcBef>
                <a:spcPts val="1000"/>
              </a:spcBef>
              <a:defRPr sz="1800">
                <a:solidFill>
                  <a:srgbClr val="2C3E50"/>
                </a:solidFill>
              </a:defRPr>
            </a:pPr>
            <a:r>
              <a:t>AI Model Routing (biggest savings):</a:t>
            </a:r>
          </a:p>
          <a:p>
            <a:pPr lvl="1">
              <a:spcBef>
                <a:spcPts val="400"/>
              </a:spcBef>
              <a:defRPr sz="1600">
                <a:solidFill>
                  <a:srgbClr val="7F8C8D"/>
                </a:solidFill>
              </a:defRPr>
            </a:pPr>
            <a:r>
              <a:t>70% of alerts use Nova Lite ($0.0003) instead of Claude ($0.003)</a:t>
            </a:r>
          </a:p>
          <a:p>
            <a:pPr lvl="1">
              <a:spcBef>
                <a:spcPts val="400"/>
              </a:spcBef>
              <a:defRPr sz="1600">
                <a:solidFill>
                  <a:srgbClr val="7F8C8D"/>
                </a:solidFill>
              </a:defRPr>
            </a:pPr>
            <a:r>
              <a:t>60-90% reduction in Bedrock costs</a:t>
            </a:r>
          </a:p>
          <a:p>
            <a:pPr>
              <a:spcBef>
                <a:spcPts val="1000"/>
              </a:spcBef>
              <a:defRPr sz="1800">
                <a:solidFill>
                  <a:srgbClr val="2C3E50"/>
                </a:solidFill>
              </a:defRPr>
            </a:pPr>
          </a:p>
          <a:p>
            <a:pPr>
              <a:spcBef>
                <a:spcPts val="1000"/>
              </a:spcBef>
              <a:defRPr sz="1800">
                <a:solidFill>
                  <a:srgbClr val="2C3E50"/>
                </a:solidFill>
              </a:defRPr>
            </a:pPr>
            <a:r>
              <a:t>Infrastructure cost controls:</a:t>
            </a:r>
          </a:p>
          <a:p>
            <a:pPr lvl="1">
              <a:spcBef>
                <a:spcPts val="400"/>
              </a:spcBef>
              <a:defRPr sz="1600">
                <a:solidFill>
                  <a:srgbClr val="7F8C8D"/>
                </a:solidFill>
              </a:defRPr>
            </a:pPr>
            <a:r>
              <a:t>Dev: 1 NAT Gateway, 1 ECS task, short log retention</a:t>
            </a:r>
          </a:p>
          <a:p>
            <a:pPr lvl="1">
              <a:spcBef>
                <a:spcPts val="400"/>
              </a:spcBef>
              <a:defRPr sz="1600">
                <a:solidFill>
                  <a:srgbClr val="7F8C8D"/>
                </a:solidFill>
              </a:defRPr>
            </a:pPr>
            <a:r>
              <a:t>VPC Gateway Endpoints (DynamoDB, S3) = free, avoids NAT data charges</a:t>
            </a:r>
          </a:p>
          <a:p>
            <a:pPr lvl="1">
              <a:spcBef>
                <a:spcPts val="400"/>
              </a:spcBef>
              <a:defRPr sz="1600">
                <a:solidFill>
                  <a:srgbClr val="7F8C8D"/>
                </a:solidFill>
              </a:defRPr>
            </a:pPr>
            <a:r>
              <a:t>DynamoDB PAY_PER_REQUEST (no over-provisioning)</a:t>
            </a:r>
          </a:p>
          <a:p>
            <a:pPr lvl="1">
              <a:spcBef>
                <a:spcPts val="400"/>
              </a:spcBef>
              <a:defRPr sz="1600">
                <a:solidFill>
                  <a:srgbClr val="7F8C8D"/>
                </a:solidFill>
              </a:defRPr>
            </a:pPr>
            <a:r>
              <a:t>ECR lifecycle rules (keep last 20 images, remove untagged after 7d)</a:t>
            </a:r>
          </a:p>
          <a:p>
            <a:pPr lvl="1">
              <a:spcBef>
                <a:spcPts val="400"/>
              </a:spcBef>
              <a:defRPr sz="1600">
                <a:solidFill>
                  <a:srgbClr val="7F8C8D"/>
                </a:solidFill>
              </a:defRPr>
            </a:pPr>
            <a:r>
              <a:t>ECS auto-scaling: scale to zero in dev, min 2 in prod</a:t>
            </a:r>
          </a:p>
          <a:p>
            <a:pPr>
              <a:spcBef>
                <a:spcPts val="1000"/>
              </a:spcBef>
              <a:defRPr sz="1800">
                <a:solidFill>
                  <a:srgbClr val="2C3E50"/>
                </a:solidFill>
              </a:defRPr>
            </a:pPr>
          </a:p>
          <a:p>
            <a:pPr>
              <a:spcBef>
                <a:spcPts val="1000"/>
              </a:spcBef>
              <a:defRPr sz="1800">
                <a:solidFill>
                  <a:srgbClr val="2C3E50"/>
                </a:solidFill>
              </a:defRPr>
            </a:pPr>
            <a:r>
              <a:t>Operational cost controls:</a:t>
            </a:r>
          </a:p>
          <a:p>
            <a:pPr lvl="1">
              <a:spcBef>
                <a:spcPts val="400"/>
              </a:spcBef>
              <a:defRPr sz="1600">
                <a:solidFill>
                  <a:srgbClr val="7F8C8D"/>
                </a:solidFill>
              </a:defRPr>
            </a:pPr>
            <a:r>
              <a:t>Storm detection prevents wasteful parallel remediations</a:t>
            </a:r>
          </a:p>
          <a:p>
            <a:pPr lvl="1">
              <a:spcBef>
                <a:spcPts val="400"/>
              </a:spcBef>
              <a:defRPr sz="1600">
                <a:solidFill>
                  <a:srgbClr val="7F8C8D"/>
                </a:solidFill>
              </a:defRPr>
            </a:pPr>
            <a:r>
              <a:t>Alert inhibition avoids fixing symptoms (only root cause)</a:t>
            </a:r>
          </a:p>
          <a:p>
            <a:pPr lvl="1">
              <a:spcBef>
                <a:spcPts val="400"/>
              </a:spcBef>
              <a:defRPr sz="1600">
                <a:solidFill>
                  <a:srgbClr val="7F8C8D"/>
                </a:solidFill>
              </a:defRPr>
            </a:pPr>
            <a:r>
              <a:t>Bulkhead limits prevent runaway automation costs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2743200"/>
            <a:ext cx="10058400" cy="1371600"/>
          </a:xfrm>
          <a:prstGeom prst="rect">
            <a:avLst/>
          </a:prstGeom>
          <a:noFill/>
        </p:spPr>
        <p:txBody>
          <a:bodyPr wrap="square">
            <a:spAutoFit/>
          </a:bodyPr>
          <a:lstStyle/>
          <a:p>
            <a:pPr algn="ctr">
              <a:defRPr sz="3600" b="1">
                <a:solidFill>
                  <a:srgbClr val="FF9900"/>
                </a:solidFill>
              </a:defRPr>
            </a:pPr>
            <a:r>
              <a:t>Resilience &amp; Fault Tolerance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0F0F5"/>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none">
            <a:spAutoFit/>
          </a:bodyPr>
          <a:lstStyle/>
          <a:p>
            <a:pPr>
              <a:defRPr sz="2600" b="1">
                <a:solidFill>
                  <a:srgbClr val="FFFFFF"/>
                </a:solidFill>
              </a:defRPr>
            </a:pPr>
            <a:r>
              <a:t>Resilience Patterns Implemented</a:t>
            </a:r>
          </a:p>
        </p:txBody>
      </p:sp>
      <p:sp>
        <p:nvSpPr>
          <p:cNvPr id="4" name="TextBox 3"/>
          <p:cNvSpPr txBox="1"/>
          <p:nvPr/>
        </p:nvSpPr>
        <p:spPr>
          <a:xfrm>
            <a:off x="731520" y="1280160"/>
            <a:ext cx="10515600" cy="5303520"/>
          </a:xfrm>
          <a:prstGeom prst="rect">
            <a:avLst/>
          </a:prstGeom>
          <a:noFill/>
        </p:spPr>
        <p:txBody>
          <a:bodyPr wrap="square">
            <a:spAutoFit/>
          </a:bodyPr>
          <a:lstStyle/>
          <a:p>
            <a:pPr>
              <a:spcBef>
                <a:spcPts val="1000"/>
              </a:spcBef>
              <a:defRPr sz="1800">
                <a:solidFill>
                  <a:srgbClr val="2C3E50"/>
                </a:solidFill>
              </a:defRPr>
            </a:pPr>
            <a:r>
              <a:t>Retry + Fallback: Bedrock calls → 2 retries, exponential backoff, model chain</a:t>
            </a:r>
          </a:p>
          <a:p>
            <a:pPr>
              <a:spcBef>
                <a:spcPts val="1000"/>
              </a:spcBef>
              <a:defRPr sz="1800">
                <a:solidFill>
                  <a:srgbClr val="2C3E50"/>
                </a:solidFill>
              </a:defRPr>
            </a:pPr>
            <a:r>
              <a:t>Circuit Breaker: Per-host (prevents repeated failures) + Fleet-wide (global halt)</a:t>
            </a:r>
          </a:p>
          <a:p>
            <a:pPr>
              <a:spcBef>
                <a:spcPts val="1000"/>
              </a:spcBef>
              <a:defRPr sz="1800">
                <a:solidFill>
                  <a:srgbClr val="2C3E50"/>
                </a:solidFill>
              </a:defRPr>
            </a:pPr>
            <a:r>
              <a:t>Bulkhead Isolation: Per-service concurrency limits prevent monopolization</a:t>
            </a:r>
          </a:p>
          <a:p>
            <a:pPr>
              <a:spcBef>
                <a:spcPts val="1000"/>
              </a:spcBef>
              <a:defRPr sz="1800">
                <a:solidFill>
                  <a:srgbClr val="2C3E50"/>
                </a:solidFill>
              </a:defRPr>
            </a:pPr>
            <a:r>
              <a:t>Backpressure: Storm detector + HTTP 429 + SQS visibility timeout</a:t>
            </a:r>
          </a:p>
          <a:p>
            <a:pPr>
              <a:spcBef>
                <a:spcPts val="1000"/>
              </a:spcBef>
              <a:defRPr sz="1800">
                <a:solidFill>
                  <a:srgbClr val="2C3E50"/>
                </a:solidFill>
              </a:defRPr>
            </a:pPr>
            <a:r>
              <a:t>Graceful Degradation: If Bedrock fails → fall back to rule-based mapping</a:t>
            </a:r>
          </a:p>
          <a:p>
            <a:pPr>
              <a:spcBef>
                <a:spcPts val="1000"/>
              </a:spcBef>
              <a:defRPr sz="1800">
                <a:solidFill>
                  <a:srgbClr val="2C3E50"/>
                </a:solidFill>
              </a:defRPr>
            </a:pPr>
            <a:r>
              <a:t>Idempotency: Alert fingerprint dedup in DynamoDB (TTL-based expiry)</a:t>
            </a:r>
          </a:p>
          <a:p>
            <a:pPr>
              <a:spcBef>
                <a:spcPts val="1000"/>
              </a:spcBef>
              <a:defRPr sz="1800">
                <a:solidFill>
                  <a:srgbClr val="2C3E50"/>
                </a:solidFill>
              </a:defRPr>
            </a:pPr>
            <a:r>
              <a:t>Host Locks: DynamoDB conditional PutItem prevents conflicting remediations</a:t>
            </a:r>
          </a:p>
          <a:p>
            <a:pPr>
              <a:spcBef>
                <a:spcPts val="1000"/>
              </a:spcBef>
              <a:defRPr sz="1800">
                <a:solidFill>
                  <a:srgbClr val="2C3E50"/>
                </a:solidFill>
              </a:defRPr>
            </a:pPr>
            <a:r>
              <a:t>Graceful Shutdown: SIGTERM → drain 25s → release locks → exit cleanly</a:t>
            </a:r>
          </a:p>
          <a:p>
            <a:pPr>
              <a:spcBef>
                <a:spcPts val="1000"/>
              </a:spcBef>
              <a:defRPr sz="1800">
                <a:solidFill>
                  <a:srgbClr val="2C3E50"/>
                </a:solidFill>
              </a:defRPr>
            </a:pPr>
            <a:r>
              <a:t>DLQ: Failed messages retry 3x then move to dead-letter queue</a:t>
            </a:r>
          </a:p>
          <a:p>
            <a:pPr>
              <a:spcBef>
                <a:spcPts val="1000"/>
              </a:spcBef>
              <a:defRPr sz="1800">
                <a:solidFill>
                  <a:srgbClr val="2C3E50"/>
                </a:solidFill>
              </a:defRPr>
            </a:pPr>
            <a:r>
              <a:t>Stop Conditions: Abort mid-execution if target system degrades</a:t>
            </a:r>
          </a:p>
          <a:p>
            <a:pPr>
              <a:spcBef>
                <a:spcPts val="1000"/>
              </a:spcBef>
              <a:defRPr sz="1800">
                <a:solidFill>
                  <a:srgbClr val="2C3E50"/>
                </a:solidFill>
              </a:defRPr>
            </a:pPr>
            <a:r>
              <a:t>Adaptive Ramp-up: After circuit breaker reset, slowly increase load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2743200"/>
            <a:ext cx="10058400" cy="1371600"/>
          </a:xfrm>
          <a:prstGeom prst="rect">
            <a:avLst/>
          </a:prstGeom>
          <a:noFill/>
        </p:spPr>
        <p:txBody>
          <a:bodyPr wrap="square">
            <a:spAutoFit/>
          </a:bodyPr>
          <a:lstStyle/>
          <a:p>
            <a:pPr algn="ctr">
              <a:defRPr sz="3600" b="1">
                <a:solidFill>
                  <a:srgbClr val="FF9900"/>
                </a:solidFill>
              </a:defRPr>
            </a:pPr>
            <a:r>
              <a:t>Demo Scenario</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0F0F5"/>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none">
            <a:spAutoFit/>
          </a:bodyPr>
          <a:lstStyle/>
          <a:p>
            <a:pPr>
              <a:defRPr sz="2600" b="1">
                <a:solidFill>
                  <a:srgbClr val="FFFFFF"/>
                </a:solidFill>
              </a:defRPr>
            </a:pPr>
            <a:r>
              <a:t>Demo: High CPU Alert → Auto-Remediation</a:t>
            </a:r>
          </a:p>
        </p:txBody>
      </p:sp>
      <p:sp>
        <p:nvSpPr>
          <p:cNvPr id="4" name="TextBox 3"/>
          <p:cNvSpPr txBox="1"/>
          <p:nvPr/>
        </p:nvSpPr>
        <p:spPr>
          <a:xfrm>
            <a:off x="731520" y="1280160"/>
            <a:ext cx="10515600" cy="5303520"/>
          </a:xfrm>
          <a:prstGeom prst="rect">
            <a:avLst/>
          </a:prstGeom>
          <a:noFill/>
        </p:spPr>
        <p:txBody>
          <a:bodyPr wrap="square">
            <a:spAutoFit/>
          </a:bodyPr>
          <a:lstStyle/>
          <a:p>
            <a:pPr>
              <a:spcBef>
                <a:spcPts val="1000"/>
              </a:spcBef>
              <a:defRPr sz="1800">
                <a:solidFill>
                  <a:srgbClr val="2C3E50"/>
                </a:solidFill>
              </a:defRPr>
            </a:pPr>
            <a:r>
              <a:t>1. Trigger: Run stress-ng on EC2 target instance (CPU &gt; 80%)</a:t>
            </a:r>
          </a:p>
          <a:p>
            <a:pPr>
              <a:spcBef>
                <a:spcPts val="1000"/>
              </a:spcBef>
              <a:defRPr sz="1800">
                <a:solidFill>
                  <a:srgbClr val="2C3E50"/>
                </a:solidFill>
              </a:defRPr>
            </a:pPr>
            <a:r>
              <a:t>2. Detection: CloudWatch Alarm triggers within 1 minute</a:t>
            </a:r>
          </a:p>
          <a:p>
            <a:pPr>
              <a:spcBef>
                <a:spcPts val="1000"/>
              </a:spcBef>
              <a:defRPr sz="1800">
                <a:solidFill>
                  <a:srgbClr val="2C3E50"/>
                </a:solidFill>
              </a:defRPr>
            </a:pPr>
            <a:r>
              <a:t>3. Webhook: SNS → Lambda → POST /webhook to ECS service</a:t>
            </a:r>
          </a:p>
          <a:p>
            <a:pPr>
              <a:spcBef>
                <a:spcPts val="1000"/>
              </a:spcBef>
              <a:defRPr sz="1800">
                <a:solidFill>
                  <a:srgbClr val="2C3E50"/>
                </a:solidFill>
              </a:defRPr>
            </a:pPr>
            <a:r>
              <a:t>4. Pipeline: Normalize → Enrich → Match 'fix_high_cpu.yml'</a:t>
            </a:r>
          </a:p>
          <a:p>
            <a:pPr>
              <a:spcBef>
                <a:spcPts val="1000"/>
              </a:spcBef>
              <a:defRPr sz="1800">
                <a:solidFill>
                  <a:srgbClr val="2C3E50"/>
                </a:solidFill>
              </a:defRPr>
            </a:pPr>
            <a:r>
              <a:t>5. Guardrails: All 7 checks pass (low risk, known playbook)</a:t>
            </a:r>
          </a:p>
          <a:p>
            <a:pPr>
              <a:spcBef>
                <a:spcPts val="1000"/>
              </a:spcBef>
              <a:defRPr sz="1800">
                <a:solidFill>
                  <a:srgbClr val="2C3E50"/>
                </a:solidFill>
              </a:defRPr>
            </a:pPr>
            <a:r>
              <a:t>6. Approval: Email sent with RCA + 'Approve' button</a:t>
            </a:r>
          </a:p>
          <a:p>
            <a:pPr>
              <a:spcBef>
                <a:spcPts val="1000"/>
              </a:spcBef>
              <a:defRPr sz="1800">
                <a:solidFill>
                  <a:srgbClr val="2C3E50"/>
                </a:solidFill>
              </a:defRPr>
            </a:pPr>
            <a:r>
              <a:t>7. Operator: Clicks approve link in email</a:t>
            </a:r>
          </a:p>
          <a:p>
            <a:pPr>
              <a:spcBef>
                <a:spcPts val="1000"/>
              </a:spcBef>
              <a:defRPr sz="1800">
                <a:solidFill>
                  <a:srgbClr val="2C3E50"/>
                </a:solidFill>
              </a:defRPr>
            </a:pPr>
            <a:r>
              <a:t>8. Execution: Ansible kills stress-ng process on EC2 via SSM</a:t>
            </a:r>
          </a:p>
          <a:p>
            <a:pPr>
              <a:spcBef>
                <a:spcPts val="1000"/>
              </a:spcBef>
              <a:defRPr sz="1800">
                <a:solidFill>
                  <a:srgbClr val="2C3E50"/>
                </a:solidFill>
              </a:defRPr>
            </a:pPr>
            <a:r>
              <a:t>9. Verification: CPU drops, CloudWatch alarm resolves</a:t>
            </a:r>
          </a:p>
          <a:p>
            <a:pPr>
              <a:spcBef>
                <a:spcPts val="1000"/>
              </a:spcBef>
              <a:defRPr sz="1800">
                <a:solidFill>
                  <a:srgbClr val="2C3E50"/>
                </a:solidFill>
              </a:defRPr>
            </a:pPr>
            <a:r>
              <a:t>10. Feedback: Success recorded in DynamoDB → future routing improved</a:t>
            </a:r>
          </a:p>
          <a:p>
            <a:pPr>
              <a:spcBef>
                <a:spcPts val="1000"/>
              </a:spcBef>
              <a:defRPr sz="1800">
                <a:solidFill>
                  <a:srgbClr val="2C3E50"/>
                </a:solidFill>
              </a:defRPr>
            </a:pPr>
          </a:p>
          <a:p>
            <a:pPr>
              <a:spcBef>
                <a:spcPts val="1000"/>
              </a:spcBef>
              <a:defRPr sz="1800">
                <a:solidFill>
                  <a:srgbClr val="2C3E50"/>
                </a:solidFill>
              </a:defRPr>
            </a:pPr>
            <a:r>
              <a:t>End-to-end time: ~2-3 minutes (mostly waiting for alarm threshold)</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0F0F5"/>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none">
            <a:spAutoFit/>
          </a:bodyPr>
          <a:lstStyle/>
          <a:p>
            <a:pPr>
              <a:defRPr sz="2600" b="1">
                <a:solidFill>
                  <a:srgbClr val="FFFFFF"/>
                </a:solidFill>
              </a:defRPr>
            </a:pPr>
            <a:r>
              <a:t>Key Differentiators</a:t>
            </a:r>
          </a:p>
        </p:txBody>
      </p:sp>
      <p:sp>
        <p:nvSpPr>
          <p:cNvPr id="4" name="TextBox 3"/>
          <p:cNvSpPr txBox="1"/>
          <p:nvPr/>
        </p:nvSpPr>
        <p:spPr>
          <a:xfrm>
            <a:off x="731520" y="1280160"/>
            <a:ext cx="10515600" cy="5303520"/>
          </a:xfrm>
          <a:prstGeom prst="rect">
            <a:avLst/>
          </a:prstGeom>
          <a:noFill/>
        </p:spPr>
        <p:txBody>
          <a:bodyPr wrap="square">
            <a:spAutoFit/>
          </a:bodyPr>
          <a:lstStyle/>
          <a:p>
            <a:pPr>
              <a:spcBef>
                <a:spcPts val="1000"/>
              </a:spcBef>
              <a:defRPr sz="1800">
                <a:solidFill>
                  <a:srgbClr val="2C3E50"/>
                </a:solidFill>
              </a:defRPr>
            </a:pPr>
            <a:r>
              <a:t>AI + Rules Hybrid: Not purely AI — known issues use fast, safe rules</a:t>
            </a:r>
          </a:p>
          <a:p>
            <a:pPr>
              <a:spcBef>
                <a:spcPts val="1000"/>
              </a:spcBef>
              <a:defRPr sz="1800">
                <a:solidFill>
                  <a:srgbClr val="2C3E50"/>
                </a:solidFill>
              </a:defRPr>
            </a:pPr>
            <a:r>
              <a:t>Human-in-the-Loop: Operators stay in control for high-risk actions</a:t>
            </a:r>
          </a:p>
          <a:p>
            <a:pPr>
              <a:spcBef>
                <a:spcPts val="1000"/>
              </a:spcBef>
              <a:defRPr sz="1800">
                <a:solidFill>
                  <a:srgbClr val="2C3E50"/>
                </a:solidFill>
              </a:defRPr>
            </a:pPr>
            <a:r>
              <a:t>Configuration-Driven: 12 YAML files = full control without code changes</a:t>
            </a:r>
          </a:p>
          <a:p>
            <a:pPr>
              <a:spcBef>
                <a:spcPts val="1000"/>
              </a:spcBef>
              <a:defRPr sz="1800">
                <a:solidFill>
                  <a:srgbClr val="2C3E50"/>
                </a:solidFill>
              </a:defRPr>
            </a:pPr>
            <a:r>
              <a:t>Cost-Optimized AI: Intelligent model routing saves 60-90% on LLM costs</a:t>
            </a:r>
          </a:p>
          <a:p>
            <a:pPr>
              <a:spcBef>
                <a:spcPts val="1000"/>
              </a:spcBef>
              <a:defRPr sz="1800">
                <a:solidFill>
                  <a:srgbClr val="2C3E50"/>
                </a:solidFill>
              </a:defRPr>
            </a:pPr>
            <a:r>
              <a:t>Defense-in-Depth: 7 guardrail layers + fleet breaker + stop conditions</a:t>
            </a:r>
          </a:p>
          <a:p>
            <a:pPr>
              <a:spcBef>
                <a:spcPts val="1000"/>
              </a:spcBef>
              <a:defRPr sz="1800">
                <a:solidFill>
                  <a:srgbClr val="2C3E50"/>
                </a:solidFill>
              </a:defRPr>
            </a:pPr>
            <a:r>
              <a:t>Production-Ready: VPC endpoints, Secrets Manager, WAF, IAM least privilege</a:t>
            </a:r>
          </a:p>
          <a:p>
            <a:pPr>
              <a:spcBef>
                <a:spcPts val="1000"/>
              </a:spcBef>
              <a:defRPr sz="1800">
                <a:solidFill>
                  <a:srgbClr val="2C3E50"/>
                </a:solidFill>
              </a:defRPr>
            </a:pPr>
            <a:r>
              <a:t>Observable: Structured logs, custom metrics, distributed tracing, dashboards</a:t>
            </a:r>
          </a:p>
          <a:p>
            <a:pPr>
              <a:spcBef>
                <a:spcPts val="1000"/>
              </a:spcBef>
              <a:defRPr sz="1800">
                <a:solidFill>
                  <a:srgbClr val="2C3E50"/>
                </a:solidFill>
              </a:defRPr>
            </a:pPr>
            <a:r>
              <a:t>Self-Improving: Effectiveness scorer + feedback loop improves over time</a:t>
            </a:r>
          </a:p>
          <a:p>
            <a:pPr>
              <a:spcBef>
                <a:spcPts val="1000"/>
              </a:spcBef>
              <a:defRPr sz="1800">
                <a:solidFill>
                  <a:srgbClr val="2C3E50"/>
                </a:solidFill>
              </a:defRPr>
            </a:pPr>
            <a:r>
              <a:t>AWS-Native: CDK IaC, ECS Fargate, Bedrock, DynamoDB, SQS, SES</a:t>
            </a:r>
          </a:p>
          <a:p>
            <a:pPr>
              <a:spcBef>
                <a:spcPts val="1000"/>
              </a:spcBef>
              <a:defRPr sz="1800">
                <a:solidFill>
                  <a:srgbClr val="2C3E50"/>
                </a:solidFill>
              </a:defRPr>
            </a:pPr>
            <a:r>
              <a:t>Fully Tested: Unit + Property-based + CDK assertion + Integration tests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0F0F5"/>
        </a:solidFill>
        <a:effectLst/>
      </p:bgPr>
    </p:bg>
    <p:spTree>
      <p:nvGrpSpPr>
        <p:cNvPr id="1" name=""/>
        <p:cNvGrpSpPr/>
        <p:nvPr/>
      </p:nvGrpSpPr>
      <p:grpSpPr/>
      <p:sp>
        <p:nvSpPr>
          <p:cNvPr id="2" name="Rectangle 1"/>
          <p:cNvSpPr/>
          <p:nvPr/>
        </p:nvSpPr>
        <p:spPr>
          <a:xfrm>
            <a:off x="0" y="0"/>
            <a:ext cx="12188952" cy="1005840"/>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0972800" cy="822960"/>
          </a:xfrm>
          <a:prstGeom prst="rect">
            <a:avLst/>
          </a:prstGeom>
          <a:noFill/>
        </p:spPr>
        <p:txBody>
          <a:bodyPr wrap="none">
            <a:spAutoFit/>
          </a:bodyPr>
          <a:lstStyle/>
          <a:p>
            <a:pPr>
              <a:defRPr sz="2600" b="1">
                <a:solidFill>
                  <a:srgbClr val="FFFFFF"/>
                </a:solidFill>
              </a:defRPr>
            </a:pPr>
            <a:r>
              <a:t>Technology Stack</a:t>
            </a:r>
          </a:p>
        </p:txBody>
      </p:sp>
      <p:sp>
        <p:nvSpPr>
          <p:cNvPr id="4" name="TextBox 3"/>
          <p:cNvSpPr txBox="1"/>
          <p:nvPr/>
        </p:nvSpPr>
        <p:spPr>
          <a:xfrm>
            <a:off x="457200" y="1188720"/>
            <a:ext cx="5303520" cy="457200"/>
          </a:xfrm>
          <a:prstGeom prst="rect">
            <a:avLst/>
          </a:prstGeom>
          <a:noFill/>
        </p:spPr>
        <p:txBody>
          <a:bodyPr wrap="none">
            <a:spAutoFit/>
          </a:bodyPr>
          <a:lstStyle/>
          <a:p>
            <a:pPr>
              <a:defRPr sz="2000" b="1">
                <a:solidFill>
                  <a:srgbClr val="0096D6"/>
                </a:solidFill>
              </a:defRPr>
            </a:pPr>
            <a:r>
              <a:t>Application Layer</a:t>
            </a:r>
          </a:p>
        </p:txBody>
      </p:sp>
      <p:sp>
        <p:nvSpPr>
          <p:cNvPr id="5" name="TextBox 4"/>
          <p:cNvSpPr txBox="1"/>
          <p:nvPr/>
        </p:nvSpPr>
        <p:spPr>
          <a:xfrm>
            <a:off x="640080" y="1737360"/>
            <a:ext cx="5120640" cy="4572000"/>
          </a:xfrm>
          <a:prstGeom prst="rect">
            <a:avLst/>
          </a:prstGeom>
          <a:noFill/>
        </p:spPr>
        <p:txBody>
          <a:bodyPr wrap="square">
            <a:spAutoFit/>
          </a:bodyPr>
          <a:lstStyle/>
          <a:p>
            <a:pPr>
              <a:spcBef>
                <a:spcPts val="800"/>
              </a:spcBef>
              <a:defRPr sz="1600">
                <a:solidFill>
                  <a:srgbClr val="2C3E50"/>
                </a:solidFill>
              </a:defRPr>
            </a:pPr>
            <a:r>
              <a:t>• Python 3.11+</a:t>
            </a:r>
          </a:p>
          <a:p>
            <a:pPr>
              <a:spcBef>
                <a:spcPts val="800"/>
              </a:spcBef>
              <a:defRPr sz="1600">
                <a:solidFill>
                  <a:srgbClr val="2C3E50"/>
                </a:solidFill>
              </a:defRPr>
            </a:pPr>
            <a:r>
              <a:t>• FastAPI (async web framework)</a:t>
            </a:r>
          </a:p>
          <a:p>
            <a:pPr>
              <a:spcBef>
                <a:spcPts val="800"/>
              </a:spcBef>
              <a:defRPr sz="1600">
                <a:solidFill>
                  <a:srgbClr val="2C3E50"/>
                </a:solidFill>
              </a:defRPr>
            </a:pPr>
            <a:r>
              <a:t>• Pydantic (payload validation)</a:t>
            </a:r>
          </a:p>
          <a:p>
            <a:pPr>
              <a:spcBef>
                <a:spcPts val="800"/>
              </a:spcBef>
              <a:defRPr sz="1600">
                <a:solidFill>
                  <a:srgbClr val="2C3E50"/>
                </a:solidFill>
              </a:defRPr>
            </a:pPr>
            <a:r>
              <a:t>• Ansible (playbook execution)</a:t>
            </a:r>
          </a:p>
          <a:p>
            <a:pPr>
              <a:spcBef>
                <a:spcPts val="800"/>
              </a:spcBef>
              <a:defRPr sz="1600">
                <a:solidFill>
                  <a:srgbClr val="2C3E50"/>
                </a:solidFill>
              </a:defRPr>
            </a:pPr>
            <a:r>
              <a:t>• asyncio (concurrency)</a:t>
            </a:r>
          </a:p>
          <a:p>
            <a:pPr>
              <a:spcBef>
                <a:spcPts val="800"/>
              </a:spcBef>
              <a:defRPr sz="1600">
                <a:solidFill>
                  <a:srgbClr val="2C3E50"/>
                </a:solidFill>
              </a:defRPr>
            </a:pPr>
            <a:r>
              <a:t>• Hypothesis (property-based testing)</a:t>
            </a:r>
          </a:p>
          <a:p>
            <a:pPr>
              <a:spcBef>
                <a:spcPts val="800"/>
              </a:spcBef>
              <a:defRPr sz="1600">
                <a:solidFill>
                  <a:srgbClr val="2C3E50"/>
                </a:solidFill>
              </a:defRPr>
            </a:pPr>
            <a:r>
              <a:t>• Ruff (linting + formatting)</a:t>
            </a:r>
          </a:p>
          <a:p>
            <a:pPr>
              <a:spcBef>
                <a:spcPts val="800"/>
              </a:spcBef>
              <a:defRPr sz="1600">
                <a:solidFill>
                  <a:srgbClr val="2C3E50"/>
                </a:solidFill>
              </a:defRPr>
            </a:pPr>
            <a:r>
              <a:t>• OpenTelemetry (tracing)</a:t>
            </a:r>
          </a:p>
        </p:txBody>
      </p:sp>
      <p:sp>
        <p:nvSpPr>
          <p:cNvPr id="6" name="TextBox 5"/>
          <p:cNvSpPr txBox="1"/>
          <p:nvPr/>
        </p:nvSpPr>
        <p:spPr>
          <a:xfrm>
            <a:off x="6217920" y="1188720"/>
            <a:ext cx="5303520" cy="457200"/>
          </a:xfrm>
          <a:prstGeom prst="rect">
            <a:avLst/>
          </a:prstGeom>
          <a:noFill/>
        </p:spPr>
        <p:txBody>
          <a:bodyPr wrap="none">
            <a:spAutoFit/>
          </a:bodyPr>
          <a:lstStyle/>
          <a:p>
            <a:pPr>
              <a:defRPr sz="2000" b="1">
                <a:solidFill>
                  <a:srgbClr val="FF9900"/>
                </a:solidFill>
              </a:defRPr>
            </a:pPr>
            <a:r>
              <a:t>AWS Services</a:t>
            </a:r>
          </a:p>
        </p:txBody>
      </p:sp>
      <p:sp>
        <p:nvSpPr>
          <p:cNvPr id="7" name="TextBox 6"/>
          <p:cNvSpPr txBox="1"/>
          <p:nvPr/>
        </p:nvSpPr>
        <p:spPr>
          <a:xfrm>
            <a:off x="6400800" y="1737360"/>
            <a:ext cx="5120640" cy="4572000"/>
          </a:xfrm>
          <a:prstGeom prst="rect">
            <a:avLst/>
          </a:prstGeom>
          <a:noFill/>
        </p:spPr>
        <p:txBody>
          <a:bodyPr wrap="square">
            <a:spAutoFit/>
          </a:bodyPr>
          <a:lstStyle/>
          <a:p>
            <a:pPr>
              <a:spcBef>
                <a:spcPts val="800"/>
              </a:spcBef>
              <a:defRPr sz="1600">
                <a:solidFill>
                  <a:srgbClr val="2C3E50"/>
                </a:solidFill>
              </a:defRPr>
            </a:pPr>
            <a:r>
              <a:t>• ECS Fargate (compute)</a:t>
            </a:r>
          </a:p>
          <a:p>
            <a:pPr>
              <a:spcBef>
                <a:spcPts val="800"/>
              </a:spcBef>
              <a:defRPr sz="1600">
                <a:solidFill>
                  <a:srgbClr val="2C3E50"/>
                </a:solidFill>
              </a:defRPr>
            </a:pPr>
            <a:r>
              <a:t>• Amazon Bedrock (AI - Nova/Claude)</a:t>
            </a:r>
          </a:p>
          <a:p>
            <a:pPr>
              <a:spcBef>
                <a:spcPts val="800"/>
              </a:spcBef>
              <a:defRPr sz="1600">
                <a:solidFill>
                  <a:srgbClr val="2C3E50"/>
                </a:solidFill>
              </a:defRPr>
            </a:pPr>
            <a:r>
              <a:t>• DynamoDB (state/memory)</a:t>
            </a:r>
          </a:p>
          <a:p>
            <a:pPr>
              <a:spcBef>
                <a:spcPts val="800"/>
              </a:spcBef>
              <a:defRPr sz="1600">
                <a:solidFill>
                  <a:srgbClr val="2C3E50"/>
                </a:solidFill>
              </a:defRPr>
            </a:pPr>
            <a:r>
              <a:t>• SQS + DLQ (message queue)</a:t>
            </a:r>
          </a:p>
          <a:p>
            <a:pPr>
              <a:spcBef>
                <a:spcPts val="800"/>
              </a:spcBef>
              <a:defRPr sz="1600">
                <a:solidFill>
                  <a:srgbClr val="2C3E50"/>
                </a:solidFill>
              </a:defRPr>
            </a:pPr>
            <a:r>
              <a:t>• API Gateway HTTP API (ingress)</a:t>
            </a:r>
          </a:p>
          <a:p>
            <a:pPr>
              <a:spcBef>
                <a:spcPts val="800"/>
              </a:spcBef>
              <a:defRPr sz="1600">
                <a:solidFill>
                  <a:srgbClr val="2C3E50"/>
                </a:solidFill>
              </a:defRPr>
            </a:pPr>
            <a:r>
              <a:t>• SES (approval emails)</a:t>
            </a:r>
          </a:p>
          <a:p>
            <a:pPr>
              <a:spcBef>
                <a:spcPts val="800"/>
              </a:spcBef>
              <a:defRPr sz="1600">
                <a:solidFill>
                  <a:srgbClr val="2C3E50"/>
                </a:solidFill>
              </a:defRPr>
            </a:pPr>
            <a:r>
              <a:t>• Secrets Manager (credentials)</a:t>
            </a:r>
          </a:p>
          <a:p>
            <a:pPr>
              <a:spcBef>
                <a:spcPts val="800"/>
              </a:spcBef>
              <a:defRPr sz="1600">
                <a:solidFill>
                  <a:srgbClr val="2C3E50"/>
                </a:solidFill>
              </a:defRPr>
            </a:pPr>
            <a:r>
              <a:t>• SSM (run commands + params)</a:t>
            </a:r>
          </a:p>
          <a:p>
            <a:pPr>
              <a:spcBef>
                <a:spcPts val="800"/>
              </a:spcBef>
              <a:defRPr sz="1600">
                <a:solidFill>
                  <a:srgbClr val="2C3E50"/>
                </a:solidFill>
              </a:defRPr>
            </a:pPr>
            <a:r>
              <a:t>• CloudWatch (logs/metrics/alarms)</a:t>
            </a:r>
          </a:p>
          <a:p>
            <a:pPr>
              <a:spcBef>
                <a:spcPts val="800"/>
              </a:spcBef>
              <a:defRPr sz="1600">
                <a:solidFill>
                  <a:srgbClr val="2C3E50"/>
                </a:solidFill>
              </a:defRPr>
            </a:pPr>
            <a:r>
              <a:t>• WAF (API protection)</a:t>
            </a:r>
          </a:p>
          <a:p>
            <a:pPr>
              <a:spcBef>
                <a:spcPts val="800"/>
              </a:spcBef>
              <a:defRPr sz="1600">
                <a:solidFill>
                  <a:srgbClr val="2C3E50"/>
                </a:solidFill>
              </a:defRPr>
            </a:pPr>
            <a:r>
              <a:t>• CDK v2 (IaC)</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A1A2E"/>
        </a:solidFill>
        <a:effectLst/>
      </p:bgPr>
    </p:bg>
    <p:spTree>
      <p:nvGrpSpPr>
        <p:cNvPr id="1" name=""/>
        <p:cNvGrpSpPr/>
        <p:nvPr/>
      </p:nvGrpSpPr>
      <p:grpSpPr/>
      <p:sp>
        <p:nvSpPr>
          <p:cNvPr id="2" name="TextBox 1"/>
          <p:cNvSpPr txBox="1"/>
          <p:nvPr/>
        </p:nvSpPr>
        <p:spPr>
          <a:xfrm>
            <a:off x="914400" y="2011680"/>
            <a:ext cx="10058400" cy="1371600"/>
          </a:xfrm>
          <a:prstGeom prst="rect">
            <a:avLst/>
          </a:prstGeom>
          <a:noFill/>
        </p:spPr>
        <p:txBody>
          <a:bodyPr wrap="square">
            <a:spAutoFit/>
          </a:bodyPr>
          <a:lstStyle/>
          <a:p>
            <a:pPr algn="ctr">
              <a:defRPr sz="4000" b="1">
                <a:solidFill>
                  <a:srgbClr val="FFFFFF"/>
                </a:solidFill>
              </a:defRPr>
            </a:pPr>
            <a:r>
              <a:t>Thank You</a:t>
            </a:r>
          </a:p>
        </p:txBody>
      </p:sp>
      <p:sp>
        <p:nvSpPr>
          <p:cNvPr id="3" name="TextBox 2"/>
          <p:cNvSpPr txBox="1"/>
          <p:nvPr/>
        </p:nvSpPr>
        <p:spPr>
          <a:xfrm>
            <a:off x="1828800" y="3657600"/>
            <a:ext cx="8229600" cy="1097280"/>
          </a:xfrm>
          <a:prstGeom prst="rect">
            <a:avLst/>
          </a:prstGeom>
          <a:noFill/>
        </p:spPr>
        <p:txBody>
          <a:bodyPr wrap="square">
            <a:spAutoFit/>
          </a:bodyPr>
          <a:lstStyle/>
          <a:p>
            <a:pPr algn="ctr">
              <a:defRPr sz="2000">
                <a:solidFill>
                  <a:srgbClr val="0096D6"/>
                </a:solidFill>
              </a:defRPr>
            </a:pPr>
            <a:r>
              <a:t>Questions &amp; Discussion</a:t>
            </a:r>
            <a:br/>
            <a:br/>
            <a:r>
              <a:t>github.com/your-org/aiops-production-automation-ansible-agentic</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