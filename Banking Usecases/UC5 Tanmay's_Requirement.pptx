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411200" cy="73152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06" d="100"/>
          <a:sy n="106" d="100"/>
        </p:scale>
        <p:origin x="4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55da5298-dfd2-46e9-b8f3-9240a589a9ba"/>
          <p:cNvPicPr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PicPr>
        <p:blipFill>
          <a:blip r:embed="rId2"/>
          <a:stretch/>
        </p:blipFill>
        <p:spPr>
          <a:xfrm>
            <a:off x="0" y="0"/>
            <a:ext cx="13411200" cy="7315200"/>
          </a:xfrm>
          <a:prstGeom prst="rect">
            <a:avLst/>
          </a:prstGeom>
        </p:spPr>
      </p:pic>
      <p:sp>
        <p:nvSpPr>
          <p:cNvPr id="2" name="TextBox2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43717" y="319902"/>
            <a:ext cx="11895188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2574" b="1" i="0" u="none" strike="noStrike" spc="0" dirty="0">
                <a:solidFill>
                  <a:srgbClr val="111316"/>
                </a:solidFill>
                <a:latin typeface="Arial Black"/>
                <a:cs typeface="Arial Black"/>
              </a:rPr>
              <a:t>AGENTIC AI &amp; MCP CHATBOT FOR BANKING/INSURANCE PORTAL</a:t>
            </a:r>
          </a:p>
        </p:txBody>
      </p:sp>
      <p:sp>
        <p:nvSpPr>
          <p:cNvPr id="3" name="TextBox3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81125" y="1080030"/>
            <a:ext cx="15781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522" b="1" i="0" u="none" strike="noStrike" spc="0">
                <a:solidFill>
                  <a:srgbClr val="1E2020"/>
                </a:solidFill>
                <a:latin typeface="Arial Black"/>
                <a:cs typeface="Arial Black"/>
              </a:rPr>
              <a:t>1. OBJECTIVE</a:t>
            </a:r>
          </a:p>
        </p:txBody>
      </p:sp>
      <p:sp>
        <p:nvSpPr>
          <p:cNvPr id="41" name="TextBox4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400175" y="1396997"/>
            <a:ext cx="5100523" cy="6282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Empower users with a clear understanding of bank and insurance</a:t>
            </a:r>
          </a:p>
          <a:p>
            <a:pPr algn="l" rtl="0">
              <a:lnSpc>
                <a:spcPct val="100000"/>
              </a:lnSpc>
            </a:pPr>
            <a:r>
              <a:rPr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products and policies</a:t>
            </a:r>
            <a:r>
              <a:rPr lang="en-US"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 available in their public site</a:t>
            </a:r>
            <a:r>
              <a:rPr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. Guide factual information retrieval for</a:t>
            </a:r>
            <a:r>
              <a:rPr lang="en-US"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 </a:t>
            </a:r>
            <a:r>
              <a:rPr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self-service</a:t>
            </a:r>
            <a:r>
              <a:rPr lang="en-US" sz="1361" b="0" i="0" u="none" strike="noStrike" spc="0" dirty="0">
                <a:solidFill>
                  <a:srgbClr val="505353"/>
                </a:solidFill>
                <a:latin typeface="Arial"/>
                <a:cs typeface="Arial"/>
              </a:rPr>
              <a:t>.</a:t>
            </a:r>
            <a:endParaRPr sz="1361" b="0" i="0" u="none" strike="noStrike" spc="0" dirty="0">
              <a:solidFill>
                <a:srgbClr val="505353"/>
              </a:solidFill>
              <a:latin typeface="Arial"/>
              <a:cs typeface="Arial"/>
            </a:endParaRPr>
          </a:p>
        </p:txBody>
      </p:sp>
      <p:sp>
        <p:nvSpPr>
          <p:cNvPr id="5" name="TextBox5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90650" y="2166420"/>
            <a:ext cx="443210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89" b="1" i="0" u="none" strike="noStrike" spc="0">
                <a:solidFill>
                  <a:srgbClr val="202120"/>
                </a:solidFill>
                <a:latin typeface="Arial Black"/>
                <a:cs typeface="Arial Black"/>
              </a:rPr>
              <a:t>2. STRONG POLICY-BASED CONSTRAINTS</a:t>
            </a:r>
          </a:p>
        </p:txBody>
      </p:sp>
      <p:sp>
        <p:nvSpPr>
          <p:cNvPr id="6" name="TextBox6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71600" y="2524448"/>
            <a:ext cx="4525689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02" b="0" i="0" u="none" strike="noStrike" spc="0">
                <a:solidFill>
                  <a:srgbClr val="454747"/>
                </a:solidFill>
                <a:latin typeface="IBM Plex Sans"/>
                <a:cs typeface="IBM Plex Sans"/>
              </a:rPr>
              <a:t>. Strict Non-Advisory Role Enforcement (MCP enforced).</a:t>
            </a:r>
          </a:p>
        </p:txBody>
      </p:sp>
      <p:sp>
        <p:nvSpPr>
          <p:cNvPr id="7" name="TextBox7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6702">
            <a:off x="1370121" y="2755943"/>
            <a:ext cx="4599865" cy="1543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. Detect and BLOCK all recommendation intents and product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purchase requests.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·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Focus only on neutral, factual comparison of products and options.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.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Prevent biased language like "You should buy ... " or "This is best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for you".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· ACTION: Intent Blocked. Immediate predefined non-advisory response</a:t>
            </a:r>
          </a:p>
          <a:p>
            <a:pPr algn="l" rtl="0">
              <a:lnSpc>
                <a:spcPct val="100000"/>
              </a:lnSpc>
            </a:pPr>
            <a:r>
              <a:rPr sz="1116" b="0" i="0" u="none" strike="noStrike" spc="0" dirty="0">
                <a:solidFill>
                  <a:srgbClr val="535556"/>
                </a:solidFill>
                <a:latin typeface="Arial"/>
                <a:cs typeface="Arial"/>
              </a:rPr>
              <a:t>"I cannot recommend products. Here is comparing data ... "</a:t>
            </a:r>
          </a:p>
        </p:txBody>
      </p:sp>
      <p:sp>
        <p:nvSpPr>
          <p:cNvPr id="8" name="TextBox8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57300" y="4320367"/>
            <a:ext cx="4988009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615" b="1" i="0" u="none" strike="noStrike" spc="0" dirty="0">
                <a:solidFill>
                  <a:srgbClr val="212222"/>
                </a:solidFill>
                <a:latin typeface="IBM Plex Sans"/>
                <a:cs typeface="IBM Plex Sans"/>
              </a:rPr>
              <a:t>3. KNOWLEDGE-BASED INFORMATION RETRIEVAL</a:t>
            </a:r>
          </a:p>
          <a:p>
            <a:pPr algn="l" rtl="0">
              <a:lnSpc>
                <a:spcPct val="100000"/>
              </a:lnSpc>
            </a:pPr>
            <a:r>
              <a:rPr sz="1615" b="1" i="0" u="none" strike="noStrike" spc="0" dirty="0">
                <a:solidFill>
                  <a:srgbClr val="212222"/>
                </a:solidFill>
                <a:latin typeface="IBM Plex Sans"/>
                <a:cs typeface="IBM Plex Sans"/>
              </a:rPr>
              <a:t>(SECURELY WITHIN BANK ENVIRONMENT).</a:t>
            </a:r>
          </a:p>
        </p:txBody>
      </p:sp>
      <p:sp>
        <p:nvSpPr>
          <p:cNvPr id="9" name="TextBox9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1566944">
            <a:off x="2892211" y="5581618"/>
            <a:ext cx="125372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075" b="1" i="0" u="none" strike="noStrike" spc="0">
                <a:solidFill>
                  <a:srgbClr val="41474D"/>
                </a:solidFill>
                <a:latin typeface="IBM Plex Sans"/>
                <a:cs typeface="IBM Plex Sans"/>
              </a:rPr>
              <a:t>AGENTIC AI</a:t>
            </a:r>
          </a:p>
          <a:p>
            <a:pPr algn="ctr" rtl="0">
              <a:lnSpc>
                <a:spcPct val="100000"/>
              </a:lnSpc>
            </a:pPr>
            <a:r>
              <a:rPr sz="1075" b="1" i="0" u="none" strike="noStrike" spc="0">
                <a:solidFill>
                  <a:srgbClr val="41474D"/>
                </a:solidFill>
                <a:latin typeface="IBM Plex Sans"/>
                <a:cs typeface="IBM Plex Sans"/>
              </a:rPr>
              <a:t>ORCHESTRATOR</a:t>
            </a:r>
          </a:p>
          <a:p>
            <a:pPr algn="ctr" rtl="0">
              <a:lnSpc>
                <a:spcPct val="100000"/>
              </a:lnSpc>
            </a:pPr>
            <a:r>
              <a:rPr sz="1075" b="1" i="0" u="none" strike="noStrike" spc="0">
                <a:solidFill>
                  <a:srgbClr val="41474D"/>
                </a:solidFill>
                <a:latin typeface="IBM Plex Sans"/>
                <a:cs typeface="IBM Plex Sans"/>
              </a:rPr>
              <a:t>(Powered by MCP)</a:t>
            </a:r>
          </a:p>
        </p:txBody>
      </p:sp>
      <p:sp>
        <p:nvSpPr>
          <p:cNvPr id="10" name="TextBox10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1577678">
            <a:off x="4532688" y="5159219"/>
            <a:ext cx="1582104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98" b="0" i="0" u="none" strike="noStrike" spc="0">
                <a:solidFill>
                  <a:srgbClr val="515253"/>
                </a:solidFill>
                <a:latin typeface="Arial"/>
                <a:cs typeface="Arial"/>
              </a:rPr>
              <a:t>RAG System</a:t>
            </a:r>
          </a:p>
          <a:p>
            <a:pPr algn="l" rtl="0">
              <a:lnSpc>
                <a:spcPct val="100000"/>
              </a:lnSpc>
            </a:pPr>
            <a:r>
              <a:rPr sz="1198" b="0" i="0" u="none" strike="noStrike" spc="0">
                <a:solidFill>
                  <a:srgbClr val="515253"/>
                </a:solidFill>
                <a:latin typeface="Arial"/>
                <a:cs typeface="Arial"/>
              </a:rPr>
              <a:t>(Knowledge Retrieval)</a:t>
            </a:r>
          </a:p>
        </p:txBody>
      </p:sp>
      <p:sp>
        <p:nvSpPr>
          <p:cNvPr id="11" name="TextBox11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33054">
            <a:off x="5656141" y="6013278"/>
            <a:ext cx="1105734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79" b="0" i="0" u="none" strike="noStrike" spc="0">
                <a:solidFill>
                  <a:srgbClr val="484A4A"/>
                </a:solidFill>
                <a:latin typeface="Arial"/>
                <a:cs typeface="Arial"/>
              </a:rPr>
              <a:t>Secure Vector</a:t>
            </a:r>
          </a:p>
          <a:p>
            <a:pPr algn="l" rtl="0">
              <a:lnSpc>
                <a:spcPct val="100000"/>
              </a:lnSpc>
            </a:pPr>
            <a:r>
              <a:rPr sz="1279" b="0" i="0" u="none" strike="noStrike" spc="0">
                <a:solidFill>
                  <a:srgbClr val="484A4A"/>
                </a:solidFill>
                <a:latin typeface="Arial"/>
                <a:cs typeface="Arial"/>
              </a:rPr>
              <a:t>Database</a:t>
            </a:r>
          </a:p>
        </p:txBody>
      </p:sp>
      <p:sp>
        <p:nvSpPr>
          <p:cNvPr id="12" name="TextBox12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67625" y="1063121"/>
            <a:ext cx="560677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91" b="1" i="0" u="none" strike="noStrike" spc="0">
                <a:solidFill>
                  <a:srgbClr val="202121"/>
                </a:solidFill>
                <a:latin typeface="Arial Black"/>
                <a:cs typeface="Arial Black"/>
              </a:rPr>
              <a:t>4. AGENTIC CAPABILITIES &amp; KEY PRACTICAL FEATURES</a:t>
            </a:r>
          </a:p>
        </p:txBody>
      </p:sp>
      <p:sp>
        <p:nvSpPr>
          <p:cNvPr id="13" name="TextBox13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58100" y="1466018"/>
            <a:ext cx="456462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17" b="1" i="0" u="none" strike="noStrike" spc="0">
                <a:solidFill>
                  <a:srgbClr val="232424"/>
                </a:solidFill>
                <a:latin typeface="Arial Black"/>
                <a:cs typeface="Arial Black"/>
              </a:rPr>
              <a:t>ADVANCED SECURE KNOWLEDGE RETRIEVAL (RAG).</a:t>
            </a:r>
          </a:p>
        </p:txBody>
      </p:sp>
      <p:sp>
        <p:nvSpPr>
          <p:cNvPr id="14" name="TextBox14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13641">
            <a:off x="7666907" y="1712590"/>
            <a:ext cx="481132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61" b="1" i="0" u="none" strike="noStrike" spc="0">
                <a:solidFill>
                  <a:srgbClr val="464849"/>
                </a:solidFill>
                <a:latin typeface="Arial"/>
                <a:cs typeface="Arial"/>
              </a:rPr>
              <a:t>. Explain specific product and policy details securely.</a:t>
            </a:r>
          </a:p>
          <a:p>
            <a:pPr algn="l" rtl="0">
              <a:lnSpc>
                <a:spcPct val="100000"/>
              </a:lnSpc>
            </a:pPr>
            <a:r>
              <a:rPr sz="1361" b="1" i="0" u="none" strike="noStrike" spc="0">
                <a:solidFill>
                  <a:srgbClr val="464849"/>
                </a:solidFill>
                <a:latin typeface="Arial"/>
                <a:cs typeface="Arial"/>
              </a:rPr>
              <a:t>. Answer complex customer policy queries with accuracy.</a:t>
            </a:r>
          </a:p>
        </p:txBody>
      </p:sp>
      <p:sp>
        <p:nvSpPr>
          <p:cNvPr id="15" name="TextBox15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86675" y="2217745"/>
            <a:ext cx="313789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63" b="1" i="0" u="none" strike="noStrike" spc="0">
                <a:solidFill>
                  <a:srgbClr val="212323"/>
                </a:solidFill>
                <a:latin typeface="Arial Black"/>
                <a:cs typeface="Arial Black"/>
              </a:rPr>
              <a:t>FACTUAL PRODUCT COMPARISON.</a:t>
            </a:r>
          </a:p>
        </p:txBody>
      </p:sp>
      <p:sp>
        <p:nvSpPr>
          <p:cNvPr id="16" name="TextBox16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96200" y="2513019"/>
            <a:ext cx="359533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63" b="1" i="0" u="none" strike="noStrike" spc="0" dirty="0">
                <a:solidFill>
                  <a:srgbClr val="222423"/>
                </a:solidFill>
                <a:latin typeface="Arial Black"/>
                <a:cs typeface="Arial Black"/>
              </a:rPr>
              <a:t>NEW PRACTICAL USAGE CAPABILITIES:</a:t>
            </a:r>
          </a:p>
        </p:txBody>
      </p:sp>
      <p:sp>
        <p:nvSpPr>
          <p:cNvPr id="17" name="TextBox17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86675" y="2747544"/>
            <a:ext cx="44394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83A3B"/>
                </a:solidFill>
                <a:latin typeface="Arial"/>
                <a:cs typeface="Arial"/>
              </a:rPr>
              <a:t>1. Human-in-the-Loop (HITL) Workflow:</a:t>
            </a:r>
          </a:p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83A3B"/>
                </a:solidFill>
                <a:latin typeface="Arial"/>
                <a:cs typeface="Arial"/>
              </a:rPr>
              <a:t>Agent can escalate complex or high-risk interactions</a:t>
            </a:r>
          </a:p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83A3B"/>
                </a:solidFill>
                <a:latin typeface="Arial"/>
                <a:cs typeface="Arial"/>
              </a:rPr>
              <a:t>for review or intervention.</a:t>
            </a:r>
          </a:p>
        </p:txBody>
      </p:sp>
      <p:sp>
        <p:nvSpPr>
          <p:cNvPr id="18" name="TextBox18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677150" y="3414294"/>
            <a:ext cx="452390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B3D3E"/>
                </a:solidFill>
                <a:latin typeface="Arial"/>
                <a:cs typeface="Arial"/>
              </a:rPr>
              <a:t>2. Automated Ticket Logging and Case Management:</a:t>
            </a:r>
          </a:p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B3D3E"/>
                </a:solidFill>
                <a:latin typeface="Arial"/>
                <a:cs typeface="Arial"/>
              </a:rPr>
              <a:t>Automated creation of tracking tickets for follow-up</a:t>
            </a:r>
          </a:p>
          <a:p>
            <a:pPr algn="l" rtl="0">
              <a:lnSpc>
                <a:spcPct val="100000"/>
              </a:lnSpc>
            </a:pPr>
            <a:r>
              <a:rPr sz="1483" b="0" i="0" u="none" strike="noStrike" spc="0" dirty="0">
                <a:solidFill>
                  <a:srgbClr val="3B3D3E"/>
                </a:solidFill>
                <a:latin typeface="Arial"/>
                <a:cs typeface="Arial"/>
              </a:rPr>
              <a:t>actions and customer requests.</a:t>
            </a:r>
          </a:p>
        </p:txBody>
      </p:sp>
      <p:sp>
        <p:nvSpPr>
          <p:cNvPr id="19" name="TextBox19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11272">
            <a:off x="7467322" y="4189706"/>
            <a:ext cx="568773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23" b="1" i="0" u="none" strike="noStrike" spc="0">
                <a:solidFill>
                  <a:srgbClr val="232424"/>
                </a:solidFill>
                <a:latin typeface="Arial Black"/>
                <a:cs typeface="Arial Black"/>
              </a:rPr>
              <a:t>5. FINANCIAL SIMULATION TOOLS (INFORMATIONAL ESTIMATES)</a:t>
            </a:r>
          </a:p>
        </p:txBody>
      </p:sp>
      <p:sp>
        <p:nvSpPr>
          <p:cNvPr id="20" name="TextBox20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30156">
            <a:off x="7438156" y="4561537"/>
            <a:ext cx="12149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524" b="1" i="0" u="none" strike="noStrike" spc="0">
                <a:solidFill>
                  <a:srgbClr val="383939"/>
                </a:solidFill>
                <a:latin typeface="Arial"/>
                <a:cs typeface="Arial"/>
              </a:rPr>
              <a:t>User Inputs:</a:t>
            </a:r>
          </a:p>
        </p:txBody>
      </p:sp>
      <p:sp>
        <p:nvSpPr>
          <p:cNvPr id="21" name="TextBox21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04775" y="7055631"/>
            <a:ext cx="1448159" cy="2020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13" b="0" i="0" u="none" strike="noStrike" spc="0" dirty="0">
                <a:solidFill>
                  <a:srgbClr val="96A9B5"/>
                </a:solidFill>
                <a:latin typeface="Arial"/>
                <a:cs typeface="Arial"/>
              </a:rPr>
              <a:t>Date: May 5, 202</a:t>
            </a:r>
            <a:r>
              <a:rPr lang="en-IN" sz="1313" b="0" i="0" u="none" strike="noStrike" spc="0">
                <a:solidFill>
                  <a:srgbClr val="96A9B5"/>
                </a:solidFill>
                <a:latin typeface="Arial"/>
                <a:cs typeface="Arial"/>
              </a:rPr>
              <a:t>6</a:t>
            </a:r>
            <a:endParaRPr sz="1313" b="0" i="0" u="none" strike="noStrike" spc="0" dirty="0">
              <a:solidFill>
                <a:srgbClr val="96A9B5"/>
              </a:solidFill>
              <a:latin typeface="Arial"/>
              <a:cs typeface="Arial"/>
            </a:endParaRPr>
          </a:p>
        </p:txBody>
      </p:sp>
      <p:sp>
        <p:nvSpPr>
          <p:cNvPr id="22" name="TextBox22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5624393" y="7057161"/>
            <a:ext cx="216241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>
              <a:lnSpc>
                <a:spcPct val="100000"/>
              </a:lnSpc>
            </a:pPr>
            <a:r>
              <a:rPr sz="1157" b="1" i="0" u="none" strike="noStrike" spc="0">
                <a:solidFill>
                  <a:srgbClr val="BDCDD5"/>
                </a:solidFill>
                <a:latin typeface="Arial Black"/>
                <a:cs typeface="Arial Black"/>
              </a:rPr>
              <a:t>IBM INTERNAL USE ONLY</a:t>
            </a:r>
          </a:p>
        </p:txBody>
      </p:sp>
      <p:sp>
        <p:nvSpPr>
          <p:cNvPr id="23" name="TextBox23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5847">
            <a:off x="1199496" y="4898205"/>
            <a:ext cx="139053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Knowledge Base:</a:t>
            </a:r>
          </a:p>
        </p:txBody>
      </p:sp>
      <p:sp>
        <p:nvSpPr>
          <p:cNvPr id="24" name="TextBox24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45231">
            <a:off x="1189447" y="5083990"/>
            <a:ext cx="15673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 dirty="0">
                <a:solidFill>
                  <a:srgbClr val="616363"/>
                </a:solidFill>
                <a:latin typeface="Arial"/>
                <a:cs typeface="Arial"/>
              </a:rPr>
              <a:t>Confidential Policy -</a:t>
            </a:r>
          </a:p>
        </p:txBody>
      </p:sp>
      <p:sp>
        <p:nvSpPr>
          <p:cNvPr id="25" name="TextBox25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39972">
            <a:off x="1208611" y="5259643"/>
            <a:ext cx="959883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61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Documents</a:t>
            </a:r>
          </a:p>
        </p:txBody>
      </p:sp>
      <p:sp>
        <p:nvSpPr>
          <p:cNvPr id="26" name="TextBox26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09675" y="5436262"/>
            <a:ext cx="101750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(Pre-loaded)</a:t>
            </a:r>
          </a:p>
        </p:txBody>
      </p:sp>
      <p:sp>
        <p:nvSpPr>
          <p:cNvPr id="27" name="TextBox27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4042">
            <a:off x="1142423" y="5689435"/>
            <a:ext cx="1484711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79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Policy Enforcement</a:t>
            </a:r>
          </a:p>
        </p:txBody>
      </p:sp>
      <p:sp>
        <p:nvSpPr>
          <p:cNvPr id="28" name="TextBox28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333499" y="5855362"/>
            <a:ext cx="129706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(Intent Blocking)</a:t>
            </a:r>
          </a:p>
        </p:txBody>
      </p:sp>
      <p:sp>
        <p:nvSpPr>
          <p:cNvPr id="29" name="TextBox29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429500" y="4931437"/>
            <a:ext cx="108608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66768"/>
                </a:solidFill>
                <a:latin typeface="Arial"/>
                <a:cs typeface="Arial"/>
              </a:rPr>
              <a:t>Annual Wage</a:t>
            </a:r>
          </a:p>
        </p:txBody>
      </p:sp>
      <p:sp>
        <p:nvSpPr>
          <p:cNvPr id="30" name="TextBox30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429500" y="5303577"/>
            <a:ext cx="138577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79" b="0" i="0" u="none" strike="noStrike" spc="0">
                <a:solidFill>
                  <a:srgbClr val="666768"/>
                </a:solidFill>
                <a:latin typeface="Arial"/>
                <a:cs typeface="Arial"/>
              </a:rPr>
              <a:t>Monthly Spending</a:t>
            </a:r>
          </a:p>
        </p:txBody>
      </p:sp>
      <p:sp>
        <p:nvSpPr>
          <p:cNvPr id="31" name="TextBox31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439025" y="5693437"/>
            <a:ext cx="98036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66768"/>
                </a:solidFill>
                <a:latin typeface="Arial"/>
                <a:cs typeface="Arial"/>
              </a:rPr>
              <a:t>Current Age</a:t>
            </a:r>
          </a:p>
        </p:txBody>
      </p:sp>
      <p:sp>
        <p:nvSpPr>
          <p:cNvPr id="32" name="TextBox32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4171950" y="6196932"/>
            <a:ext cx="798196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02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Financial</a:t>
            </a:r>
          </a:p>
        </p:txBody>
      </p:sp>
      <p:sp>
        <p:nvSpPr>
          <p:cNvPr id="33" name="TextBox33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40443">
            <a:off x="4085058" y="6352391"/>
            <a:ext cx="9571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524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Calculator</a:t>
            </a:r>
          </a:p>
        </p:txBody>
      </p:sp>
      <p:sp>
        <p:nvSpPr>
          <p:cNvPr id="34" name="TextBox34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4171950" y="6520109"/>
            <a:ext cx="4217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42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Tool</a:t>
            </a:r>
          </a:p>
        </p:txBody>
      </p:sp>
      <p:sp>
        <p:nvSpPr>
          <p:cNvPr id="35" name="TextBox35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1567570">
            <a:off x="4151877" y="6698047"/>
            <a:ext cx="114788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(Computation)</a:t>
            </a:r>
          </a:p>
        </p:txBody>
      </p:sp>
      <p:sp>
        <p:nvSpPr>
          <p:cNvPr id="36" name="TextBox36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 rot="29132">
            <a:off x="7428762" y="6060240"/>
            <a:ext cx="124122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320" b="0" i="0" u="none" strike="noStrike" spc="0">
                <a:solidFill>
                  <a:srgbClr val="666768"/>
                </a:solidFill>
                <a:latin typeface="Arial"/>
                <a:cs typeface="Arial"/>
              </a:rPr>
              <a:t>Retirement Age</a:t>
            </a:r>
          </a:p>
        </p:txBody>
      </p:sp>
      <p:sp>
        <p:nvSpPr>
          <p:cNvPr id="37" name="TextBox37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419225" y="6253409"/>
            <a:ext cx="1683783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42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Backend Document</a:t>
            </a:r>
          </a:p>
        </p:txBody>
      </p:sp>
      <p:sp>
        <p:nvSpPr>
          <p:cNvPr id="38" name="TextBox38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771650" y="6435057"/>
            <a:ext cx="118098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402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Ingestion Tool</a:t>
            </a:r>
          </a:p>
        </p:txBody>
      </p:sp>
      <p:sp>
        <p:nvSpPr>
          <p:cNvPr id="39" name="TextBox39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1209675" y="6609793"/>
            <a:ext cx="166675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198" b="0" i="0" u="none" strike="noStrike" spc="0">
                <a:solidFill>
                  <a:srgbClr val="616363"/>
                </a:solidFill>
                <a:latin typeface="Arial"/>
                <a:cs typeface="Arial"/>
              </a:rPr>
              <a:t>(Updates Maintenance)</a:t>
            </a:r>
          </a:p>
        </p:txBody>
      </p:sp>
      <p:sp>
        <p:nvSpPr>
          <p:cNvPr id="40" name="TextBox40"/>
          <p:cNvSpPr txBox="1"/>
          <p:nvPr>
            <p:extLst>
              <p:ext uri="{E7BDC344-281C-4309-B0C6-D0EE65EED2A8}">
                <p202:designPr xmlns:p202="http://schemas.microsoft.com/office/powerpoint/2020/02/main">
                  <p202:designTagLst/>
                </p202:designPr>
              </p:ext>
            </p:extLst>
          </p:nvPr>
        </p:nvSpPr>
        <p:spPr>
          <a:xfrm>
            <a:off x="7439025" y="6447241"/>
            <a:ext cx="211288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0">
              <a:lnSpc>
                <a:spcPct val="100000"/>
              </a:lnSpc>
            </a:pPr>
            <a:r>
              <a:rPr sz="1238" b="0" i="0" u="none" strike="noStrike" spc="0">
                <a:solidFill>
                  <a:srgbClr val="666768"/>
                </a:solidFill>
                <a:latin typeface="Arial"/>
                <a:cs typeface="Arial"/>
              </a:rPr>
              <a:t>Expected Retirement Income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294</Words>
  <Application>Microsoft Macintosh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IBM Plex Sans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MADHUSMITA PATIL</cp:lastModifiedBy>
  <cp:revision>2</cp:revision>
  <dcterms:modified xsi:type="dcterms:W3CDTF">2026-05-20T12:00:56Z</dcterms:modified>
</cp:coreProperties>
</file>