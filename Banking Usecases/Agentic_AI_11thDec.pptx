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29" r:id="rId2"/>
    <p:sldId id="2142534259" r:id="rId3"/>
    <p:sldId id="335" r:id="rId4"/>
    <p:sldId id="257" r:id="rId5"/>
    <p:sldId id="336" r:id="rId6"/>
    <p:sldId id="328" r:id="rId7"/>
    <p:sldId id="278" r:id="rId8"/>
    <p:sldId id="309" r:id="rId9"/>
    <p:sldId id="275" r:id="rId10"/>
    <p:sldId id="344" r:id="rId11"/>
    <p:sldId id="345" r:id="rId12"/>
    <p:sldId id="347" r:id="rId13"/>
    <p:sldId id="315" r:id="rId14"/>
    <p:sldId id="366" r:id="rId15"/>
    <p:sldId id="363" r:id="rId16"/>
    <p:sldId id="2142534248" r:id="rId17"/>
    <p:sldId id="2142534258" r:id="rId18"/>
    <p:sldId id="2142534253" r:id="rId19"/>
    <p:sldId id="31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F2F2F2"/>
    <a:srgbClr val="C9A4E4"/>
    <a:srgbClr val="C1EFFF"/>
    <a:srgbClr val="DEC8EE"/>
    <a:srgbClr val="E2D0F0"/>
    <a:srgbClr val="93E3FF"/>
    <a:srgbClr val="0530AD"/>
    <a:srgbClr val="00AEEF"/>
    <a:srgbClr val="5BD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8E5F81-A3B9-170B-C8DB-E8A29B617123}" v="125" dt="2025-12-10T08:57:10.2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6"/>
  </p:normalViewPr>
  <p:slideViewPr>
    <p:cSldViewPr snapToGrid="0">
      <p:cViewPr varScale="1">
        <p:scale>
          <a:sx n="106" d="100"/>
          <a:sy n="106" d="100"/>
        </p:scale>
        <p:origin x="6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FA10FA-439C-7E49-93CC-4BDE355F9D5C}" type="doc">
      <dgm:prSet loTypeId="urn:microsoft.com/office/officeart/2005/8/layout/hProcess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B86F705-9E60-9D43-BD42-B3E8097EB421}">
      <dgm:prSet phldrT="[Text]" custT="1"/>
      <dgm:spPr/>
      <dgm:t>
        <a:bodyPr/>
        <a:lstStyle/>
        <a:p>
          <a:r>
            <a:rPr lang="en-US" sz="1000" b="1" i="0">
              <a:latin typeface="Aptos" panose="020B0004020202020204" pitchFamily="34" charset="0"/>
            </a:rPr>
            <a:t>Enable</a:t>
          </a:r>
        </a:p>
      </dgm:t>
    </dgm:pt>
    <dgm:pt modelId="{3C21E207-42D1-144A-920E-01AD8C9E80E9}" type="parTrans" cxnId="{6641A24D-B646-3A41-A01E-4316431925C4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8DC5969F-6440-494B-833C-30F8C63C6C69}" type="sibTrans" cxnId="{6641A24D-B646-3A41-A01E-4316431925C4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B00A1284-5955-254D-A89D-F19A10EEAD1B}">
      <dgm:prSet phldrT="[Text]" custT="1"/>
      <dgm:spPr/>
      <dgm:t>
        <a:bodyPr/>
        <a:lstStyle/>
        <a:p>
          <a:r>
            <a:rPr lang="en-US" sz="1000" b="1" i="0">
              <a:latin typeface="Aptos" panose="020B0004020202020204" pitchFamily="34" charset="0"/>
            </a:rPr>
            <a:t>Gen AI</a:t>
          </a:r>
        </a:p>
      </dgm:t>
    </dgm:pt>
    <dgm:pt modelId="{7CD412C8-8300-6446-A6B4-79B56EE452E8}" type="parTrans" cxnId="{F7DABB2E-70D6-FE46-83B0-28C08BBFB347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01B4F9C8-9298-1649-8A45-93A8D3FE2C92}" type="sibTrans" cxnId="{F7DABB2E-70D6-FE46-83B0-28C08BBFB347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BCC73F3F-F2BC-5C4E-9733-68D9604F82FD}">
      <dgm:prSet phldrT="[Text]" custT="1"/>
      <dgm:spPr/>
      <dgm:t>
        <a:bodyPr/>
        <a:lstStyle/>
        <a:p>
          <a:r>
            <a:rPr lang="en-US" sz="1000" b="1" i="0">
              <a:latin typeface="Aptos" panose="020B0004020202020204" pitchFamily="34" charset="0"/>
            </a:rPr>
            <a:t>Agentic AI</a:t>
          </a:r>
        </a:p>
      </dgm:t>
    </dgm:pt>
    <dgm:pt modelId="{08D2D0D1-D091-844E-8075-FDB8D5D2EC9B}" type="parTrans" cxnId="{FBAEDFE4-1B2B-3748-B846-9F794F2B31A2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EEBAD99D-E2BD-EA49-B61A-C9BE96733ADB}" type="sibTrans" cxnId="{FBAEDFE4-1B2B-3748-B846-9F794F2B31A2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12BFD22C-728A-DE40-A2F3-C5BCEC3EBA6F}">
      <dgm:prSet phldrT="[Text]" custT="1"/>
      <dgm:spPr/>
      <dgm:t>
        <a:bodyPr/>
        <a:lstStyle/>
        <a:p>
          <a:r>
            <a:rPr lang="en-US" sz="1000" b="1" i="0">
              <a:latin typeface="Aptos" panose="020B0004020202020204" pitchFamily="34" charset="0"/>
            </a:rPr>
            <a:t>Activate</a:t>
          </a:r>
        </a:p>
      </dgm:t>
    </dgm:pt>
    <dgm:pt modelId="{AC0BD106-E3F7-0C4C-B9AC-C8246FCBEAB3}" type="parTrans" cxnId="{AD467B4B-33E5-8F47-AA9B-9D6AFF3B8576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AB505D8C-237E-5040-9737-214E975AFDD2}" type="sibTrans" cxnId="{AD467B4B-33E5-8F47-AA9B-9D6AFF3B8576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24FE9F71-4194-8744-B5DA-200FEA0D078C}">
      <dgm:prSet phldrT="[Text]" custT="1"/>
      <dgm:spPr/>
      <dgm:t>
        <a:bodyPr/>
        <a:lstStyle/>
        <a:p>
          <a:r>
            <a:rPr lang="en-US" sz="1000" b="1" i="0">
              <a:latin typeface="Aptos" panose="020B0004020202020204" pitchFamily="34" charset="0"/>
            </a:rPr>
            <a:t>Code Assistants</a:t>
          </a:r>
        </a:p>
      </dgm:t>
    </dgm:pt>
    <dgm:pt modelId="{0B37CB6E-E10A-9C43-92B5-BDF285135AFF}" type="parTrans" cxnId="{5FBAD93A-514C-5D4D-A8B7-7BBB4CCCD2E6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60AABAEC-F19F-9940-8551-AC7D61E7BD49}" type="sibTrans" cxnId="{5FBAD93A-514C-5D4D-A8B7-7BBB4CCCD2E6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DE3E77E6-30A9-BD4A-ABFE-ECA8A98DC428}">
      <dgm:prSet phldrT="[Text]" custT="1"/>
      <dgm:spPr/>
      <dgm:t>
        <a:bodyPr/>
        <a:lstStyle/>
        <a:p>
          <a:r>
            <a:rPr lang="en-US" sz="1000" b="1" i="0">
              <a:latin typeface="Aptos" panose="020B0004020202020204" pitchFamily="34" charset="0"/>
            </a:rPr>
            <a:t>Design &amp; Develop </a:t>
          </a:r>
        </a:p>
      </dgm:t>
    </dgm:pt>
    <dgm:pt modelId="{814496F0-D0B7-584D-BC88-E08F3EFE2B4F}" type="parTrans" cxnId="{4A75C934-EC59-C441-9A84-2429A823BB8C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11402BC9-9354-E14A-8F04-D2A314AC0A62}" type="sibTrans" cxnId="{4A75C934-EC59-C441-9A84-2429A823BB8C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B21EE1A0-F457-CC45-B27D-235F1825F097}">
      <dgm:prSet phldrT="[Text]" custT="1"/>
      <dgm:spPr/>
      <dgm:t>
        <a:bodyPr/>
        <a:lstStyle/>
        <a:p>
          <a:r>
            <a:rPr lang="en-US" sz="1000" b="1" i="0">
              <a:latin typeface="Aptos" panose="020B0004020202020204" pitchFamily="34" charset="0"/>
            </a:rPr>
            <a:t>Demonstrate</a:t>
          </a:r>
        </a:p>
      </dgm:t>
    </dgm:pt>
    <dgm:pt modelId="{31D8F291-19FF-8A4B-A0DC-17A4EBCE3967}" type="parTrans" cxnId="{7AE37BA5-E053-6D42-8680-93080451DAAF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EE390673-D80B-9444-A59F-F05E71956A51}" type="sibTrans" cxnId="{7AE37BA5-E053-6D42-8680-93080451DAAF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EC712EFE-FAA0-D842-9962-D7600A6CDDC4}">
      <dgm:prSet phldrT="[Text]" custT="1"/>
      <dgm:spPr/>
      <dgm:t>
        <a:bodyPr/>
        <a:lstStyle/>
        <a:p>
          <a:r>
            <a:rPr lang="en-US" sz="1000" b="1" i="0">
              <a:latin typeface="Aptos" panose="020B0004020202020204" pitchFamily="34" charset="0"/>
            </a:rPr>
            <a:t>Showcase developed apps</a:t>
          </a:r>
        </a:p>
      </dgm:t>
    </dgm:pt>
    <dgm:pt modelId="{3145B93C-D006-564B-803B-DF13AFCE0BEB}" type="parTrans" cxnId="{8612CE7C-0EBB-2C49-908D-5BBB5898612A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71951347-0655-F745-9A42-06B067D0F731}" type="sibTrans" cxnId="{8612CE7C-0EBB-2C49-908D-5BBB5898612A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F40C92BE-09D8-AC42-9593-E973BA39D51C}">
      <dgm:prSet phldrT="[Text]" custT="1"/>
      <dgm:spPr/>
      <dgm:t>
        <a:bodyPr/>
        <a:lstStyle/>
        <a:p>
          <a:r>
            <a:rPr lang="en-US" sz="1000" b="1" i="0">
              <a:latin typeface="Aptos" panose="020B0004020202020204" pitchFamily="34" charset="0"/>
            </a:rPr>
            <a:t>Ideate</a:t>
          </a:r>
        </a:p>
      </dgm:t>
    </dgm:pt>
    <dgm:pt modelId="{F5914CCF-3A46-9F4D-A499-9D26FAB13E56}" type="parTrans" cxnId="{2666A631-DACA-E74B-A979-162563C39DA1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85074F12-C842-6E4A-A72E-9493D0BE3684}" type="sibTrans" cxnId="{2666A631-DACA-E74B-A979-162563C39DA1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847CE2EF-7B6E-8F49-90CA-ECE0D023AE84}">
      <dgm:prSet phldrT="[Text]" custT="1"/>
      <dgm:spPr/>
      <dgm:t>
        <a:bodyPr/>
        <a:lstStyle/>
        <a:p>
          <a:r>
            <a:rPr lang="en-US" sz="1000" b="1" i="0">
              <a:latin typeface="Aptos" panose="020B0004020202020204" pitchFamily="34" charset="0"/>
            </a:rPr>
            <a:t>Engineering AI Apps</a:t>
          </a:r>
        </a:p>
      </dgm:t>
    </dgm:pt>
    <dgm:pt modelId="{753ADE14-AE11-DF42-91C5-E5EF35A52ACB}" type="parTrans" cxnId="{24651C09-7966-5C4A-9E92-561A176E4900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7579F1FC-D97A-C645-8EAC-4CEDB4F489BE}" type="sibTrans" cxnId="{24651C09-7966-5C4A-9E92-561A176E4900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33EAB917-175C-994A-8810-E1714788502A}">
      <dgm:prSet phldrT="[Text]" custT="1"/>
      <dgm:spPr/>
      <dgm:t>
        <a:bodyPr/>
        <a:lstStyle/>
        <a:p>
          <a:r>
            <a:rPr lang="en-US" sz="1000" b="1" i="0">
              <a:latin typeface="Aptos" panose="020B0004020202020204" pitchFamily="34" charset="0"/>
            </a:rPr>
            <a:t>Agentic IDEs</a:t>
          </a:r>
        </a:p>
      </dgm:t>
    </dgm:pt>
    <dgm:pt modelId="{0CB7B106-72CA-554E-8FA9-3929EACD113C}" type="parTrans" cxnId="{8E244F25-C389-AC43-B480-D2B63225911A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0175986F-9223-F740-B062-1B84854FDE61}" type="sibTrans" cxnId="{8E244F25-C389-AC43-B480-D2B63225911A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AD9FD22A-78C9-7141-8EA3-8340FBE6FBBA}">
      <dgm:prSet phldrT="[Text]" custT="1"/>
      <dgm:spPr/>
      <dgm:t>
        <a:bodyPr/>
        <a:lstStyle/>
        <a:p>
          <a:r>
            <a:rPr lang="en-US" sz="1000" b="1" i="0">
              <a:latin typeface="Aptos" panose="020B0004020202020204" pitchFamily="34" charset="0"/>
            </a:rPr>
            <a:t>Incorporate feedback</a:t>
          </a:r>
        </a:p>
      </dgm:t>
    </dgm:pt>
    <dgm:pt modelId="{AFD4ACA6-269A-4B46-A9E1-401835FEB211}" type="parTrans" cxnId="{D1BF6DC1-3366-D046-9251-A18BB3F72B58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22AD5F28-D390-194C-A6B1-C1ECD545A1FF}" type="sibTrans" cxnId="{D1BF6DC1-3366-D046-9251-A18BB3F72B58}">
      <dgm:prSet/>
      <dgm:spPr/>
      <dgm:t>
        <a:bodyPr/>
        <a:lstStyle/>
        <a:p>
          <a:endParaRPr lang="en-US" sz="1000" b="1" i="0">
            <a:latin typeface="Aptos" panose="020B0004020202020204" pitchFamily="34" charset="0"/>
          </a:endParaRPr>
        </a:p>
      </dgm:t>
    </dgm:pt>
    <dgm:pt modelId="{3CD28B77-3407-AD4D-BFC1-12128DE13F3A}" type="pres">
      <dgm:prSet presAssocID="{35FA10FA-439C-7E49-93CC-4BDE355F9D5C}" presName="theList" presStyleCnt="0">
        <dgm:presLayoutVars>
          <dgm:dir/>
          <dgm:animLvl val="lvl"/>
          <dgm:resizeHandles val="exact"/>
        </dgm:presLayoutVars>
      </dgm:prSet>
      <dgm:spPr/>
    </dgm:pt>
    <dgm:pt modelId="{89A8F0C3-027E-6B4A-98F9-90485EC29806}" type="pres">
      <dgm:prSet presAssocID="{8B86F705-9E60-9D43-BD42-B3E8097EB421}" presName="compNode" presStyleCnt="0"/>
      <dgm:spPr/>
    </dgm:pt>
    <dgm:pt modelId="{9B312690-029B-9E49-A492-B55BBC76ADDC}" type="pres">
      <dgm:prSet presAssocID="{8B86F705-9E60-9D43-BD42-B3E8097EB421}" presName="noGeometry" presStyleCnt="0"/>
      <dgm:spPr/>
    </dgm:pt>
    <dgm:pt modelId="{51850354-044D-BB4F-98A2-6152DCC5D18D}" type="pres">
      <dgm:prSet presAssocID="{8B86F705-9E60-9D43-BD42-B3E8097EB421}" presName="childTextVisible" presStyleLbl="bgAccFollowNode1" presStyleIdx="0" presStyleCnt="3">
        <dgm:presLayoutVars>
          <dgm:bulletEnabled val="1"/>
        </dgm:presLayoutVars>
      </dgm:prSet>
      <dgm:spPr/>
    </dgm:pt>
    <dgm:pt modelId="{ECE8CABE-D6AD-3444-8408-03C98F84C3BB}" type="pres">
      <dgm:prSet presAssocID="{8B86F705-9E60-9D43-BD42-B3E8097EB421}" presName="childTextHidden" presStyleLbl="bgAccFollowNode1" presStyleIdx="0" presStyleCnt="3"/>
      <dgm:spPr/>
    </dgm:pt>
    <dgm:pt modelId="{D5F4D6A5-82E6-5248-919A-7A6FA18923C8}" type="pres">
      <dgm:prSet presAssocID="{8B86F705-9E60-9D43-BD42-B3E8097EB421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22867DC8-1691-2546-980C-3B0717A48B62}" type="pres">
      <dgm:prSet presAssocID="{8B86F705-9E60-9D43-BD42-B3E8097EB421}" presName="aSpace" presStyleCnt="0"/>
      <dgm:spPr/>
    </dgm:pt>
    <dgm:pt modelId="{BDCB7395-B992-284E-8DBB-962291324627}" type="pres">
      <dgm:prSet presAssocID="{12BFD22C-728A-DE40-A2F3-C5BCEC3EBA6F}" presName="compNode" presStyleCnt="0"/>
      <dgm:spPr/>
    </dgm:pt>
    <dgm:pt modelId="{C6B429FB-4E3D-654B-87B3-9B8B7DE478B2}" type="pres">
      <dgm:prSet presAssocID="{12BFD22C-728A-DE40-A2F3-C5BCEC3EBA6F}" presName="noGeometry" presStyleCnt="0"/>
      <dgm:spPr/>
    </dgm:pt>
    <dgm:pt modelId="{3848D0CB-C932-E649-958C-103C9A77BD2B}" type="pres">
      <dgm:prSet presAssocID="{12BFD22C-728A-DE40-A2F3-C5BCEC3EBA6F}" presName="childTextVisible" presStyleLbl="bgAccFollowNode1" presStyleIdx="1" presStyleCnt="3">
        <dgm:presLayoutVars>
          <dgm:bulletEnabled val="1"/>
        </dgm:presLayoutVars>
      </dgm:prSet>
      <dgm:spPr/>
    </dgm:pt>
    <dgm:pt modelId="{422AE2F2-1112-4E4B-A846-F6B9A720B64F}" type="pres">
      <dgm:prSet presAssocID="{12BFD22C-728A-DE40-A2F3-C5BCEC3EBA6F}" presName="childTextHidden" presStyleLbl="bgAccFollowNode1" presStyleIdx="1" presStyleCnt="3"/>
      <dgm:spPr/>
    </dgm:pt>
    <dgm:pt modelId="{9DAEB254-6C83-8B4E-9D96-F11014627BC0}" type="pres">
      <dgm:prSet presAssocID="{12BFD22C-728A-DE40-A2F3-C5BCEC3EBA6F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9952B61B-95F7-FF44-801B-4F5473DD2070}" type="pres">
      <dgm:prSet presAssocID="{12BFD22C-728A-DE40-A2F3-C5BCEC3EBA6F}" presName="aSpace" presStyleCnt="0"/>
      <dgm:spPr/>
    </dgm:pt>
    <dgm:pt modelId="{2C100798-5551-F740-9085-70B3131D5DE8}" type="pres">
      <dgm:prSet presAssocID="{B21EE1A0-F457-CC45-B27D-235F1825F097}" presName="compNode" presStyleCnt="0"/>
      <dgm:spPr/>
    </dgm:pt>
    <dgm:pt modelId="{3A5F634E-FA53-A047-BEED-BC47CFB7D422}" type="pres">
      <dgm:prSet presAssocID="{B21EE1A0-F457-CC45-B27D-235F1825F097}" presName="noGeometry" presStyleCnt="0"/>
      <dgm:spPr/>
    </dgm:pt>
    <dgm:pt modelId="{F12994B7-E1AC-3F46-9325-0ACCF1336C01}" type="pres">
      <dgm:prSet presAssocID="{B21EE1A0-F457-CC45-B27D-235F1825F097}" presName="childTextVisible" presStyleLbl="bgAccFollowNode1" presStyleIdx="2" presStyleCnt="3">
        <dgm:presLayoutVars>
          <dgm:bulletEnabled val="1"/>
        </dgm:presLayoutVars>
      </dgm:prSet>
      <dgm:spPr/>
    </dgm:pt>
    <dgm:pt modelId="{C87810D3-7D38-7B46-98A1-08F455AF1E2F}" type="pres">
      <dgm:prSet presAssocID="{B21EE1A0-F457-CC45-B27D-235F1825F097}" presName="childTextHidden" presStyleLbl="bgAccFollowNode1" presStyleIdx="2" presStyleCnt="3"/>
      <dgm:spPr/>
    </dgm:pt>
    <dgm:pt modelId="{F6D9DBF5-F7BE-3D4D-9934-458E47620D87}" type="pres">
      <dgm:prSet presAssocID="{B21EE1A0-F457-CC45-B27D-235F1825F097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24651C09-7966-5C4A-9E92-561A176E4900}" srcId="{8B86F705-9E60-9D43-BD42-B3E8097EB421}" destId="{847CE2EF-7B6E-8F49-90CA-ECE0D023AE84}" srcOrd="2" destOrd="0" parTransId="{753ADE14-AE11-DF42-91C5-E5EF35A52ACB}" sibTransId="{7579F1FC-D97A-C645-8EAC-4CEDB4F489BE}"/>
    <dgm:cxn modelId="{31EEBE0D-5652-ED48-B6B5-1E3E9B4E8554}" type="presOf" srcId="{AD9FD22A-78C9-7141-8EA3-8340FBE6FBBA}" destId="{C87810D3-7D38-7B46-98A1-08F455AF1E2F}" srcOrd="1" destOrd="1" presId="urn:microsoft.com/office/officeart/2005/8/layout/hProcess6"/>
    <dgm:cxn modelId="{F6CE6E1C-7378-AC4B-91E6-8EC0579212CA}" type="presOf" srcId="{24FE9F71-4194-8744-B5DA-200FEA0D078C}" destId="{422AE2F2-1112-4E4B-A846-F6B9A720B64F}" srcOrd="1" destOrd="0" presId="urn:microsoft.com/office/officeart/2005/8/layout/hProcess6"/>
    <dgm:cxn modelId="{9729BA24-1704-2641-BEAF-244BFC4DFA51}" type="presOf" srcId="{847CE2EF-7B6E-8F49-90CA-ECE0D023AE84}" destId="{ECE8CABE-D6AD-3444-8408-03C98F84C3BB}" srcOrd="1" destOrd="2" presId="urn:microsoft.com/office/officeart/2005/8/layout/hProcess6"/>
    <dgm:cxn modelId="{8E244F25-C389-AC43-B480-D2B63225911A}" srcId="{12BFD22C-728A-DE40-A2F3-C5BCEC3EBA6F}" destId="{33EAB917-175C-994A-8810-E1714788502A}" srcOrd="1" destOrd="0" parTransId="{0CB7B106-72CA-554E-8FA9-3929EACD113C}" sibTransId="{0175986F-9223-F740-B062-1B84854FDE61}"/>
    <dgm:cxn modelId="{F7DABB2E-70D6-FE46-83B0-28C08BBFB347}" srcId="{8B86F705-9E60-9D43-BD42-B3E8097EB421}" destId="{B00A1284-5955-254D-A89D-F19A10EEAD1B}" srcOrd="0" destOrd="0" parTransId="{7CD412C8-8300-6446-A6B4-79B56EE452E8}" sibTransId="{01B4F9C8-9298-1649-8A45-93A8D3FE2C92}"/>
    <dgm:cxn modelId="{2666A631-DACA-E74B-A979-162563C39DA1}" srcId="{B21EE1A0-F457-CC45-B27D-235F1825F097}" destId="{F40C92BE-09D8-AC42-9593-E973BA39D51C}" srcOrd="2" destOrd="0" parTransId="{F5914CCF-3A46-9F4D-A499-9D26FAB13E56}" sibTransId="{85074F12-C842-6E4A-A72E-9493D0BE3684}"/>
    <dgm:cxn modelId="{4A75C934-EC59-C441-9A84-2429A823BB8C}" srcId="{12BFD22C-728A-DE40-A2F3-C5BCEC3EBA6F}" destId="{DE3E77E6-30A9-BD4A-ABFE-ECA8A98DC428}" srcOrd="2" destOrd="0" parTransId="{814496F0-D0B7-584D-BC88-E08F3EFE2B4F}" sibTransId="{11402BC9-9354-E14A-8F04-D2A314AC0A62}"/>
    <dgm:cxn modelId="{5FBAD93A-514C-5D4D-A8B7-7BBB4CCCD2E6}" srcId="{12BFD22C-728A-DE40-A2F3-C5BCEC3EBA6F}" destId="{24FE9F71-4194-8744-B5DA-200FEA0D078C}" srcOrd="0" destOrd="0" parTransId="{0B37CB6E-E10A-9C43-92B5-BDF285135AFF}" sibTransId="{60AABAEC-F19F-9940-8551-AC7D61E7BD49}"/>
    <dgm:cxn modelId="{0D155C3F-CA7F-8446-8228-096D63E495CB}" type="presOf" srcId="{847CE2EF-7B6E-8F49-90CA-ECE0D023AE84}" destId="{51850354-044D-BB4F-98A2-6152DCC5D18D}" srcOrd="0" destOrd="2" presId="urn:microsoft.com/office/officeart/2005/8/layout/hProcess6"/>
    <dgm:cxn modelId="{44958746-C4BD-484B-98D6-D46F70061121}" type="presOf" srcId="{AD9FD22A-78C9-7141-8EA3-8340FBE6FBBA}" destId="{F12994B7-E1AC-3F46-9325-0ACCF1336C01}" srcOrd="0" destOrd="1" presId="urn:microsoft.com/office/officeart/2005/8/layout/hProcess6"/>
    <dgm:cxn modelId="{AD467B4B-33E5-8F47-AA9B-9D6AFF3B8576}" srcId="{35FA10FA-439C-7E49-93CC-4BDE355F9D5C}" destId="{12BFD22C-728A-DE40-A2F3-C5BCEC3EBA6F}" srcOrd="1" destOrd="0" parTransId="{AC0BD106-E3F7-0C4C-B9AC-C8246FCBEAB3}" sibTransId="{AB505D8C-237E-5040-9737-214E975AFDD2}"/>
    <dgm:cxn modelId="{6641A24D-B646-3A41-A01E-4316431925C4}" srcId="{35FA10FA-439C-7E49-93CC-4BDE355F9D5C}" destId="{8B86F705-9E60-9D43-BD42-B3E8097EB421}" srcOrd="0" destOrd="0" parTransId="{3C21E207-42D1-144A-920E-01AD8C9E80E9}" sibTransId="{8DC5969F-6440-494B-833C-30F8C63C6C69}"/>
    <dgm:cxn modelId="{8DC66A50-42CD-814E-8FA7-44FAE645F859}" type="presOf" srcId="{12BFD22C-728A-DE40-A2F3-C5BCEC3EBA6F}" destId="{9DAEB254-6C83-8B4E-9D96-F11014627BC0}" srcOrd="0" destOrd="0" presId="urn:microsoft.com/office/officeart/2005/8/layout/hProcess6"/>
    <dgm:cxn modelId="{D99A5A59-B82B-9340-B85A-37F68918F988}" type="presOf" srcId="{F40C92BE-09D8-AC42-9593-E973BA39D51C}" destId="{F12994B7-E1AC-3F46-9325-0ACCF1336C01}" srcOrd="0" destOrd="2" presId="urn:microsoft.com/office/officeart/2005/8/layout/hProcess6"/>
    <dgm:cxn modelId="{5A607059-88AD-B947-8285-21A1B91DD793}" type="presOf" srcId="{DE3E77E6-30A9-BD4A-ABFE-ECA8A98DC428}" destId="{422AE2F2-1112-4E4B-A846-F6B9A720B64F}" srcOrd="1" destOrd="2" presId="urn:microsoft.com/office/officeart/2005/8/layout/hProcess6"/>
    <dgm:cxn modelId="{24BA6A64-FC38-2242-9B6F-123E6B55641A}" type="presOf" srcId="{EC712EFE-FAA0-D842-9962-D7600A6CDDC4}" destId="{F12994B7-E1AC-3F46-9325-0ACCF1336C01}" srcOrd="0" destOrd="0" presId="urn:microsoft.com/office/officeart/2005/8/layout/hProcess6"/>
    <dgm:cxn modelId="{B504FC66-AAB3-CA4D-8F6B-C5E6B4B9AACA}" type="presOf" srcId="{BCC73F3F-F2BC-5C4E-9733-68D9604F82FD}" destId="{51850354-044D-BB4F-98A2-6152DCC5D18D}" srcOrd="0" destOrd="1" presId="urn:microsoft.com/office/officeart/2005/8/layout/hProcess6"/>
    <dgm:cxn modelId="{ADCE6B6D-4C40-3B41-B7DA-336BBB4EDB0A}" type="presOf" srcId="{35FA10FA-439C-7E49-93CC-4BDE355F9D5C}" destId="{3CD28B77-3407-AD4D-BFC1-12128DE13F3A}" srcOrd="0" destOrd="0" presId="urn:microsoft.com/office/officeart/2005/8/layout/hProcess6"/>
    <dgm:cxn modelId="{8612CE7C-0EBB-2C49-908D-5BBB5898612A}" srcId="{B21EE1A0-F457-CC45-B27D-235F1825F097}" destId="{EC712EFE-FAA0-D842-9962-D7600A6CDDC4}" srcOrd="0" destOrd="0" parTransId="{3145B93C-D006-564B-803B-DF13AFCE0BEB}" sibTransId="{71951347-0655-F745-9A42-06B067D0F731}"/>
    <dgm:cxn modelId="{73ED5183-642F-EE43-9A7F-1054966C2C72}" type="presOf" srcId="{B00A1284-5955-254D-A89D-F19A10EEAD1B}" destId="{ECE8CABE-D6AD-3444-8408-03C98F84C3BB}" srcOrd="1" destOrd="0" presId="urn:microsoft.com/office/officeart/2005/8/layout/hProcess6"/>
    <dgm:cxn modelId="{0568449A-A73E-3644-97C7-B44448EA8DFA}" type="presOf" srcId="{24FE9F71-4194-8744-B5DA-200FEA0D078C}" destId="{3848D0CB-C932-E649-958C-103C9A77BD2B}" srcOrd="0" destOrd="0" presId="urn:microsoft.com/office/officeart/2005/8/layout/hProcess6"/>
    <dgm:cxn modelId="{0EC0FA9C-A2FB-E146-9081-B1315F740F17}" type="presOf" srcId="{BCC73F3F-F2BC-5C4E-9733-68D9604F82FD}" destId="{ECE8CABE-D6AD-3444-8408-03C98F84C3BB}" srcOrd="1" destOrd="1" presId="urn:microsoft.com/office/officeart/2005/8/layout/hProcess6"/>
    <dgm:cxn modelId="{7AE37BA5-E053-6D42-8680-93080451DAAF}" srcId="{35FA10FA-439C-7E49-93CC-4BDE355F9D5C}" destId="{B21EE1A0-F457-CC45-B27D-235F1825F097}" srcOrd="2" destOrd="0" parTransId="{31D8F291-19FF-8A4B-A0DC-17A4EBCE3967}" sibTransId="{EE390673-D80B-9444-A59F-F05E71956A51}"/>
    <dgm:cxn modelId="{D7C02CAF-3BED-AC46-8F5E-851F0922C047}" type="presOf" srcId="{B00A1284-5955-254D-A89D-F19A10EEAD1B}" destId="{51850354-044D-BB4F-98A2-6152DCC5D18D}" srcOrd="0" destOrd="0" presId="urn:microsoft.com/office/officeart/2005/8/layout/hProcess6"/>
    <dgm:cxn modelId="{F0AACFB1-A46B-5B44-A4D6-01E41B653A1B}" type="presOf" srcId="{8B86F705-9E60-9D43-BD42-B3E8097EB421}" destId="{D5F4D6A5-82E6-5248-919A-7A6FA18923C8}" srcOrd="0" destOrd="0" presId="urn:microsoft.com/office/officeart/2005/8/layout/hProcess6"/>
    <dgm:cxn modelId="{B8D11CB6-4A4C-3A46-8851-37CFE88529D9}" type="presOf" srcId="{EC712EFE-FAA0-D842-9962-D7600A6CDDC4}" destId="{C87810D3-7D38-7B46-98A1-08F455AF1E2F}" srcOrd="1" destOrd="0" presId="urn:microsoft.com/office/officeart/2005/8/layout/hProcess6"/>
    <dgm:cxn modelId="{AC7028BE-C382-2343-B2CE-34318CF7E49C}" type="presOf" srcId="{33EAB917-175C-994A-8810-E1714788502A}" destId="{3848D0CB-C932-E649-958C-103C9A77BD2B}" srcOrd="0" destOrd="1" presId="urn:microsoft.com/office/officeart/2005/8/layout/hProcess6"/>
    <dgm:cxn modelId="{D1BF6DC1-3366-D046-9251-A18BB3F72B58}" srcId="{B21EE1A0-F457-CC45-B27D-235F1825F097}" destId="{AD9FD22A-78C9-7141-8EA3-8340FBE6FBBA}" srcOrd="1" destOrd="0" parTransId="{AFD4ACA6-269A-4B46-A9E1-401835FEB211}" sibTransId="{22AD5F28-D390-194C-A6B1-C1ECD545A1FF}"/>
    <dgm:cxn modelId="{E4F196C3-0384-A840-AA56-7A5E7F4EB3EF}" type="presOf" srcId="{DE3E77E6-30A9-BD4A-ABFE-ECA8A98DC428}" destId="{3848D0CB-C932-E649-958C-103C9A77BD2B}" srcOrd="0" destOrd="2" presId="urn:microsoft.com/office/officeart/2005/8/layout/hProcess6"/>
    <dgm:cxn modelId="{CE2B31C7-4F77-3C43-929D-5328BF838FD6}" type="presOf" srcId="{F40C92BE-09D8-AC42-9593-E973BA39D51C}" destId="{C87810D3-7D38-7B46-98A1-08F455AF1E2F}" srcOrd="1" destOrd="2" presId="urn:microsoft.com/office/officeart/2005/8/layout/hProcess6"/>
    <dgm:cxn modelId="{43954FCB-3BA7-2548-8D65-3C8535C59ACC}" type="presOf" srcId="{B21EE1A0-F457-CC45-B27D-235F1825F097}" destId="{F6D9DBF5-F7BE-3D4D-9934-458E47620D87}" srcOrd="0" destOrd="0" presId="urn:microsoft.com/office/officeart/2005/8/layout/hProcess6"/>
    <dgm:cxn modelId="{66776AD9-2379-2441-B68D-C7C1FCC254AA}" type="presOf" srcId="{33EAB917-175C-994A-8810-E1714788502A}" destId="{422AE2F2-1112-4E4B-A846-F6B9A720B64F}" srcOrd="1" destOrd="1" presId="urn:microsoft.com/office/officeart/2005/8/layout/hProcess6"/>
    <dgm:cxn modelId="{FBAEDFE4-1B2B-3748-B846-9F794F2B31A2}" srcId="{8B86F705-9E60-9D43-BD42-B3E8097EB421}" destId="{BCC73F3F-F2BC-5C4E-9733-68D9604F82FD}" srcOrd="1" destOrd="0" parTransId="{08D2D0D1-D091-844E-8075-FDB8D5D2EC9B}" sibTransId="{EEBAD99D-E2BD-EA49-B61A-C9BE96733ADB}"/>
    <dgm:cxn modelId="{14D44A55-D47E-964D-9391-BEC7523880BC}" type="presParOf" srcId="{3CD28B77-3407-AD4D-BFC1-12128DE13F3A}" destId="{89A8F0C3-027E-6B4A-98F9-90485EC29806}" srcOrd="0" destOrd="0" presId="urn:microsoft.com/office/officeart/2005/8/layout/hProcess6"/>
    <dgm:cxn modelId="{24041549-DD5B-3448-A2F2-DAFBC6ACBAF5}" type="presParOf" srcId="{89A8F0C3-027E-6B4A-98F9-90485EC29806}" destId="{9B312690-029B-9E49-A492-B55BBC76ADDC}" srcOrd="0" destOrd="0" presId="urn:microsoft.com/office/officeart/2005/8/layout/hProcess6"/>
    <dgm:cxn modelId="{8E668CAE-413B-1E41-987D-35276A4AB18F}" type="presParOf" srcId="{89A8F0C3-027E-6B4A-98F9-90485EC29806}" destId="{51850354-044D-BB4F-98A2-6152DCC5D18D}" srcOrd="1" destOrd="0" presId="urn:microsoft.com/office/officeart/2005/8/layout/hProcess6"/>
    <dgm:cxn modelId="{E2441F17-CE17-FA4D-BC56-0047C7D896D1}" type="presParOf" srcId="{89A8F0C3-027E-6B4A-98F9-90485EC29806}" destId="{ECE8CABE-D6AD-3444-8408-03C98F84C3BB}" srcOrd="2" destOrd="0" presId="urn:microsoft.com/office/officeart/2005/8/layout/hProcess6"/>
    <dgm:cxn modelId="{B4420FF4-BEA6-9244-AA58-89BCC9B88946}" type="presParOf" srcId="{89A8F0C3-027E-6B4A-98F9-90485EC29806}" destId="{D5F4D6A5-82E6-5248-919A-7A6FA18923C8}" srcOrd="3" destOrd="0" presId="urn:microsoft.com/office/officeart/2005/8/layout/hProcess6"/>
    <dgm:cxn modelId="{031C28FA-F1D9-0646-A6E8-0CC2CC360950}" type="presParOf" srcId="{3CD28B77-3407-AD4D-BFC1-12128DE13F3A}" destId="{22867DC8-1691-2546-980C-3B0717A48B62}" srcOrd="1" destOrd="0" presId="urn:microsoft.com/office/officeart/2005/8/layout/hProcess6"/>
    <dgm:cxn modelId="{6B33E414-570A-6A46-B6EB-AB1D31DD8EE4}" type="presParOf" srcId="{3CD28B77-3407-AD4D-BFC1-12128DE13F3A}" destId="{BDCB7395-B992-284E-8DBB-962291324627}" srcOrd="2" destOrd="0" presId="urn:microsoft.com/office/officeart/2005/8/layout/hProcess6"/>
    <dgm:cxn modelId="{2E849BAB-0AE5-9447-BFAC-FCFA5742F475}" type="presParOf" srcId="{BDCB7395-B992-284E-8DBB-962291324627}" destId="{C6B429FB-4E3D-654B-87B3-9B8B7DE478B2}" srcOrd="0" destOrd="0" presId="urn:microsoft.com/office/officeart/2005/8/layout/hProcess6"/>
    <dgm:cxn modelId="{24D993E9-098A-8840-B560-EBEB30C0A81E}" type="presParOf" srcId="{BDCB7395-B992-284E-8DBB-962291324627}" destId="{3848D0CB-C932-E649-958C-103C9A77BD2B}" srcOrd="1" destOrd="0" presId="urn:microsoft.com/office/officeart/2005/8/layout/hProcess6"/>
    <dgm:cxn modelId="{72C36923-B041-5A49-9346-11729F726167}" type="presParOf" srcId="{BDCB7395-B992-284E-8DBB-962291324627}" destId="{422AE2F2-1112-4E4B-A846-F6B9A720B64F}" srcOrd="2" destOrd="0" presId="urn:microsoft.com/office/officeart/2005/8/layout/hProcess6"/>
    <dgm:cxn modelId="{F1CEF547-485D-2443-B386-8467F26F491D}" type="presParOf" srcId="{BDCB7395-B992-284E-8DBB-962291324627}" destId="{9DAEB254-6C83-8B4E-9D96-F11014627BC0}" srcOrd="3" destOrd="0" presId="urn:microsoft.com/office/officeart/2005/8/layout/hProcess6"/>
    <dgm:cxn modelId="{E8656E31-6E2D-8240-8E60-4DFCAA8704B0}" type="presParOf" srcId="{3CD28B77-3407-AD4D-BFC1-12128DE13F3A}" destId="{9952B61B-95F7-FF44-801B-4F5473DD2070}" srcOrd="3" destOrd="0" presId="urn:microsoft.com/office/officeart/2005/8/layout/hProcess6"/>
    <dgm:cxn modelId="{93718800-7C6E-1E4A-90FD-9E1FDF176AA8}" type="presParOf" srcId="{3CD28B77-3407-AD4D-BFC1-12128DE13F3A}" destId="{2C100798-5551-F740-9085-70B3131D5DE8}" srcOrd="4" destOrd="0" presId="urn:microsoft.com/office/officeart/2005/8/layout/hProcess6"/>
    <dgm:cxn modelId="{A2272323-92AC-0A48-9E92-EB4247379205}" type="presParOf" srcId="{2C100798-5551-F740-9085-70B3131D5DE8}" destId="{3A5F634E-FA53-A047-BEED-BC47CFB7D422}" srcOrd="0" destOrd="0" presId="urn:microsoft.com/office/officeart/2005/8/layout/hProcess6"/>
    <dgm:cxn modelId="{E0ED2570-C7AC-B545-AE50-4A3DE71E60C2}" type="presParOf" srcId="{2C100798-5551-F740-9085-70B3131D5DE8}" destId="{F12994B7-E1AC-3F46-9325-0ACCF1336C01}" srcOrd="1" destOrd="0" presId="urn:microsoft.com/office/officeart/2005/8/layout/hProcess6"/>
    <dgm:cxn modelId="{7034DB86-088F-3C41-BBFF-3A067E7CC212}" type="presParOf" srcId="{2C100798-5551-F740-9085-70B3131D5DE8}" destId="{C87810D3-7D38-7B46-98A1-08F455AF1E2F}" srcOrd="2" destOrd="0" presId="urn:microsoft.com/office/officeart/2005/8/layout/hProcess6"/>
    <dgm:cxn modelId="{DD63DB15-487A-FA4E-ACA7-F6D21F938833}" type="presParOf" srcId="{2C100798-5551-F740-9085-70B3131D5DE8}" destId="{F6D9DBF5-F7BE-3D4D-9934-458E47620D87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2ECEB57-3D4A-4888-9C63-E98093B0A71D}" type="doc">
      <dgm:prSet loTypeId="urn:microsoft.com/office/officeart/2005/8/layout/pList1" loCatId="list" qsTypeId="urn:microsoft.com/office/officeart/2005/8/quickstyle/simple4" qsCatId="simple" csTypeId="urn:microsoft.com/office/officeart/2005/8/colors/accent2_3" csCatId="accent2" phldr="1"/>
      <dgm:spPr/>
      <dgm:t>
        <a:bodyPr/>
        <a:lstStyle/>
        <a:p>
          <a:endParaRPr lang="en-IN"/>
        </a:p>
      </dgm:t>
    </dgm:pt>
    <dgm:pt modelId="{5D382516-4C78-4C63-9D2D-29678B4F98C1}">
      <dgm:prSet phldrT="[Text]" custT="1"/>
      <dgm:spPr/>
      <dgm:t>
        <a:bodyPr/>
        <a:lstStyle/>
        <a:p>
          <a:r>
            <a:rPr lang="en-IN" sz="1800" b="1" i="0">
              <a:latin typeface="Consolas" panose="020B0609020204030204" pitchFamily="49" charset="0"/>
            </a:rPr>
            <a:t>LLMs</a:t>
          </a:r>
          <a:endParaRPr lang="en-IN" sz="1800">
            <a:latin typeface="Consolas" panose="020B0609020204030204" pitchFamily="49" charset="0"/>
          </a:endParaRPr>
        </a:p>
      </dgm:t>
    </dgm:pt>
    <dgm:pt modelId="{D869CFFA-0D7A-42CC-A9FE-D754F47CB11C}" type="parTrans" cxnId="{A1BF7B5F-B149-4B94-8E78-B1F66BE4FBFE}">
      <dgm:prSet/>
      <dgm:spPr/>
      <dgm:t>
        <a:bodyPr/>
        <a:lstStyle/>
        <a:p>
          <a:endParaRPr lang="en-IN"/>
        </a:p>
      </dgm:t>
    </dgm:pt>
    <dgm:pt modelId="{C0FE1F16-F4CD-4F95-8D16-E49FF3B8D63B}" type="sibTrans" cxnId="{A1BF7B5F-B149-4B94-8E78-B1F66BE4FBFE}">
      <dgm:prSet/>
      <dgm:spPr/>
      <dgm:t>
        <a:bodyPr/>
        <a:lstStyle/>
        <a:p>
          <a:endParaRPr lang="en-IN"/>
        </a:p>
      </dgm:t>
    </dgm:pt>
    <dgm:pt modelId="{ED6781DC-1A21-43D1-A14E-4A5459788D55}">
      <dgm:prSet phldrT="[Text]" custT="1"/>
      <dgm:spPr/>
      <dgm:t>
        <a:bodyPr/>
        <a:lstStyle/>
        <a:p>
          <a:r>
            <a:rPr lang="en-IN" sz="1800" b="1" i="0">
              <a:latin typeface="Consolas" panose="020B0609020204030204" pitchFamily="49" charset="0"/>
            </a:rPr>
            <a:t>Generative AI</a:t>
          </a:r>
          <a:endParaRPr lang="en-IN" sz="1800">
            <a:latin typeface="Consolas" panose="020B0609020204030204" pitchFamily="49" charset="0"/>
          </a:endParaRPr>
        </a:p>
      </dgm:t>
    </dgm:pt>
    <dgm:pt modelId="{5F24D7FF-F008-4AF7-883B-3AB87D490558}" type="parTrans" cxnId="{9DDAFD82-3E83-4708-8BA3-EE836D373E1A}">
      <dgm:prSet/>
      <dgm:spPr/>
      <dgm:t>
        <a:bodyPr/>
        <a:lstStyle/>
        <a:p>
          <a:endParaRPr lang="en-IN"/>
        </a:p>
      </dgm:t>
    </dgm:pt>
    <dgm:pt modelId="{88CF28A3-0B7D-44DC-BAC9-CD100C2BB462}" type="sibTrans" cxnId="{9DDAFD82-3E83-4708-8BA3-EE836D373E1A}">
      <dgm:prSet/>
      <dgm:spPr/>
      <dgm:t>
        <a:bodyPr/>
        <a:lstStyle/>
        <a:p>
          <a:endParaRPr lang="en-IN"/>
        </a:p>
      </dgm:t>
    </dgm:pt>
    <dgm:pt modelId="{2DDE6702-F81C-49B7-9FFF-CD5AC1DAFEA8}">
      <dgm:prSet phldrT="[Text]" custT="1"/>
      <dgm:spPr/>
      <dgm:t>
        <a:bodyPr/>
        <a:lstStyle/>
        <a:p>
          <a:r>
            <a:rPr lang="en-IN" sz="1800" b="1" i="0">
              <a:latin typeface="Consolas" panose="020B0609020204030204" pitchFamily="49" charset="0"/>
            </a:rPr>
            <a:t>Machine learning (ML)</a:t>
          </a:r>
          <a:endParaRPr lang="en-IN" sz="1800">
            <a:latin typeface="Consolas" panose="020B0609020204030204" pitchFamily="49" charset="0"/>
          </a:endParaRPr>
        </a:p>
      </dgm:t>
    </dgm:pt>
    <dgm:pt modelId="{18FF3244-3360-4BFE-84DF-647CF1B39FB2}" type="parTrans" cxnId="{611CCC8A-3DD7-42E2-A88B-2C19C2B20C83}">
      <dgm:prSet/>
      <dgm:spPr/>
      <dgm:t>
        <a:bodyPr/>
        <a:lstStyle/>
        <a:p>
          <a:endParaRPr lang="en-IN"/>
        </a:p>
      </dgm:t>
    </dgm:pt>
    <dgm:pt modelId="{CBF72F79-D3EE-4D8D-938A-63AD19BC03A3}" type="sibTrans" cxnId="{611CCC8A-3DD7-42E2-A88B-2C19C2B20C83}">
      <dgm:prSet/>
      <dgm:spPr/>
      <dgm:t>
        <a:bodyPr/>
        <a:lstStyle/>
        <a:p>
          <a:endParaRPr lang="en-IN"/>
        </a:p>
      </dgm:t>
    </dgm:pt>
    <dgm:pt modelId="{84353267-CBB1-43BB-9C0B-0604F58ACD13}">
      <dgm:prSet phldrT="[Text]" custT="1"/>
      <dgm:spPr/>
      <dgm:t>
        <a:bodyPr/>
        <a:lstStyle/>
        <a:p>
          <a:r>
            <a:rPr lang="en-IN" sz="1800" b="1" i="0">
              <a:latin typeface="Consolas" panose="020B0609020204030204" pitchFamily="49" charset="0"/>
            </a:rPr>
            <a:t>Traditional programming</a:t>
          </a:r>
          <a:endParaRPr lang="en-IN" sz="1800">
            <a:latin typeface="Consolas" panose="020B0609020204030204" pitchFamily="49" charset="0"/>
          </a:endParaRPr>
        </a:p>
      </dgm:t>
    </dgm:pt>
    <dgm:pt modelId="{A244BFA6-44AE-422A-88A4-6F315C8DE317}" type="parTrans" cxnId="{C51F2BA8-DA21-4F5B-8919-279E140908A3}">
      <dgm:prSet/>
      <dgm:spPr/>
      <dgm:t>
        <a:bodyPr/>
        <a:lstStyle/>
        <a:p>
          <a:endParaRPr lang="en-IN"/>
        </a:p>
      </dgm:t>
    </dgm:pt>
    <dgm:pt modelId="{EB10514C-2B7F-430D-8F33-4331BDACC96A}" type="sibTrans" cxnId="{C51F2BA8-DA21-4F5B-8919-279E140908A3}">
      <dgm:prSet/>
      <dgm:spPr/>
      <dgm:t>
        <a:bodyPr/>
        <a:lstStyle/>
        <a:p>
          <a:endParaRPr lang="en-IN"/>
        </a:p>
      </dgm:t>
    </dgm:pt>
    <dgm:pt modelId="{B4987C9C-99DF-430F-81CB-D22835B1FE0F}" type="pres">
      <dgm:prSet presAssocID="{42ECEB57-3D4A-4888-9C63-E98093B0A71D}" presName="Name0" presStyleCnt="0">
        <dgm:presLayoutVars>
          <dgm:dir/>
          <dgm:resizeHandles val="exact"/>
        </dgm:presLayoutVars>
      </dgm:prSet>
      <dgm:spPr/>
    </dgm:pt>
    <dgm:pt modelId="{6079258A-5D77-4EE1-A198-90FDE2A33E74}" type="pres">
      <dgm:prSet presAssocID="{5D382516-4C78-4C63-9D2D-29678B4F98C1}" presName="compNode" presStyleCnt="0"/>
      <dgm:spPr/>
    </dgm:pt>
    <dgm:pt modelId="{B9A3ED13-AE5C-430B-A61F-96BCB22F108A}" type="pres">
      <dgm:prSet presAssocID="{5D382516-4C78-4C63-9D2D-29678B4F98C1}" presName="pictRect" presStyleLbl="node1" presStyleIdx="0" presStyleCnt="4" custScaleY="220358" custLinFactNeighborX="-210" custLinFactNeighborY="-57225"/>
      <dgm:spPr>
        <a:solidFill>
          <a:schemeClr val="accent1">
            <a:lumMod val="40000"/>
            <a:lumOff val="60000"/>
          </a:schemeClr>
        </a:solidFill>
      </dgm:spPr>
    </dgm:pt>
    <dgm:pt modelId="{C4D1A0AB-E26C-4C20-A1E3-FC3D412C75AB}" type="pres">
      <dgm:prSet presAssocID="{5D382516-4C78-4C63-9D2D-29678B4F98C1}" presName="textRect" presStyleLbl="revTx" presStyleIdx="0" presStyleCnt="4" custScaleX="91831" custScaleY="51525" custLinFactNeighborX="-142" custLinFactNeighborY="11065">
        <dgm:presLayoutVars>
          <dgm:bulletEnabled val="1"/>
        </dgm:presLayoutVars>
      </dgm:prSet>
      <dgm:spPr/>
    </dgm:pt>
    <dgm:pt modelId="{555B1D5A-4316-4948-ACA8-4DE85A944821}" type="pres">
      <dgm:prSet presAssocID="{C0FE1F16-F4CD-4F95-8D16-E49FF3B8D63B}" presName="sibTrans" presStyleLbl="sibTrans2D1" presStyleIdx="0" presStyleCnt="0"/>
      <dgm:spPr/>
    </dgm:pt>
    <dgm:pt modelId="{3F1E47AD-379A-4530-A853-E25C15FF2128}" type="pres">
      <dgm:prSet presAssocID="{ED6781DC-1A21-43D1-A14E-4A5459788D55}" presName="compNode" presStyleCnt="0"/>
      <dgm:spPr/>
    </dgm:pt>
    <dgm:pt modelId="{670868ED-3BAF-42AD-AAEA-8FCB0890CC65}" type="pres">
      <dgm:prSet presAssocID="{ED6781DC-1A21-43D1-A14E-4A5459788D55}" presName="pictRect" presStyleLbl="node1" presStyleIdx="1" presStyleCnt="4" custScaleX="99294" custScaleY="220321" custLinFactNeighborX="-1103" custLinFactNeighborY="-11043"/>
      <dgm:spPr>
        <a:solidFill>
          <a:schemeClr val="accent2">
            <a:lumMod val="60000"/>
            <a:lumOff val="40000"/>
          </a:schemeClr>
        </a:solidFill>
      </dgm:spPr>
    </dgm:pt>
    <dgm:pt modelId="{5579856A-382C-41F5-90D1-3F47022EBF31}" type="pres">
      <dgm:prSet presAssocID="{ED6781DC-1A21-43D1-A14E-4A5459788D55}" presName="textRect" presStyleLbl="revTx" presStyleIdx="1" presStyleCnt="4" custScaleX="88025" custScaleY="29366" custLinFactY="-200000" custLinFactNeighborX="-779" custLinFactNeighborY="-216861">
        <dgm:presLayoutVars>
          <dgm:bulletEnabled val="1"/>
        </dgm:presLayoutVars>
      </dgm:prSet>
      <dgm:spPr/>
    </dgm:pt>
    <dgm:pt modelId="{EC8BBFD1-C9DE-4708-9D4C-E261D23409BC}" type="pres">
      <dgm:prSet presAssocID="{88CF28A3-0B7D-44DC-BAC9-CD100C2BB462}" presName="sibTrans" presStyleLbl="sibTrans2D1" presStyleIdx="0" presStyleCnt="0"/>
      <dgm:spPr/>
    </dgm:pt>
    <dgm:pt modelId="{AAEFA04D-11E2-477A-A74D-7303AED3DF60}" type="pres">
      <dgm:prSet presAssocID="{2DDE6702-F81C-49B7-9FFF-CD5AC1DAFEA8}" presName="compNode" presStyleCnt="0"/>
      <dgm:spPr/>
    </dgm:pt>
    <dgm:pt modelId="{F880810B-D329-41BC-9A08-9F31B3A6E2F1}" type="pres">
      <dgm:prSet presAssocID="{2DDE6702-F81C-49B7-9FFF-CD5AC1DAFEA8}" presName="pictRect" presStyleLbl="node1" presStyleIdx="2" presStyleCnt="4" custScaleY="220358" custLinFactNeighborX="-1965" custLinFactNeighborY="-57225"/>
      <dgm:spPr>
        <a:solidFill>
          <a:schemeClr val="accent6">
            <a:lumMod val="60000"/>
            <a:lumOff val="40000"/>
          </a:schemeClr>
        </a:solidFill>
      </dgm:spPr>
    </dgm:pt>
    <dgm:pt modelId="{2DCD95C7-2C3E-42E5-88E9-249DBCABBA31}" type="pres">
      <dgm:prSet presAssocID="{2DDE6702-F81C-49B7-9FFF-CD5AC1DAFEA8}" presName="textRect" presStyleLbl="revTx" presStyleIdx="2" presStyleCnt="4" custScaleY="44793" custLinFactNeighborX="-1107" custLinFactNeighborY="12441">
        <dgm:presLayoutVars>
          <dgm:bulletEnabled val="1"/>
        </dgm:presLayoutVars>
      </dgm:prSet>
      <dgm:spPr/>
    </dgm:pt>
    <dgm:pt modelId="{F2AF4F83-B61C-460A-A2E4-25361F66E7C2}" type="pres">
      <dgm:prSet presAssocID="{CBF72F79-D3EE-4D8D-938A-63AD19BC03A3}" presName="sibTrans" presStyleLbl="sibTrans2D1" presStyleIdx="0" presStyleCnt="0"/>
      <dgm:spPr/>
    </dgm:pt>
    <dgm:pt modelId="{DB29A99B-8611-45C1-BDF1-7AE2B7FCC0AD}" type="pres">
      <dgm:prSet presAssocID="{84353267-CBB1-43BB-9C0B-0604F58ACD13}" presName="compNode" presStyleCnt="0"/>
      <dgm:spPr/>
    </dgm:pt>
    <dgm:pt modelId="{84F0ACE3-876B-4301-A8A3-07846393C2FB}" type="pres">
      <dgm:prSet presAssocID="{84353267-CBB1-43BB-9C0B-0604F58ACD13}" presName="pictRect" presStyleLbl="node1" presStyleIdx="3" presStyleCnt="4" custScaleY="209287" custLinFactNeighborX="-278" custLinFactNeighborY="-9947"/>
      <dgm:spPr>
        <a:solidFill>
          <a:schemeClr val="accent4">
            <a:lumMod val="40000"/>
            <a:lumOff val="60000"/>
          </a:schemeClr>
        </a:solidFill>
      </dgm:spPr>
    </dgm:pt>
    <dgm:pt modelId="{FA8392F7-5974-405C-8A12-AE7C9559297D}" type="pres">
      <dgm:prSet presAssocID="{84353267-CBB1-43BB-9C0B-0604F58ACD13}" presName="textRect" presStyleLbl="revTx" presStyleIdx="3" presStyleCnt="4" custScaleY="85864" custLinFactY="-180250" custLinFactNeighborX="502" custLinFactNeighborY="-200000">
        <dgm:presLayoutVars>
          <dgm:bulletEnabled val="1"/>
        </dgm:presLayoutVars>
      </dgm:prSet>
      <dgm:spPr/>
    </dgm:pt>
  </dgm:ptLst>
  <dgm:cxnLst>
    <dgm:cxn modelId="{A87C620B-16C6-4B64-9FE2-12BFEE2E7564}" type="presOf" srcId="{42ECEB57-3D4A-4888-9C63-E98093B0A71D}" destId="{B4987C9C-99DF-430F-81CB-D22835B1FE0F}" srcOrd="0" destOrd="0" presId="urn:microsoft.com/office/officeart/2005/8/layout/pList1"/>
    <dgm:cxn modelId="{1F86013B-08C2-423C-B3D2-224311F74835}" type="presOf" srcId="{CBF72F79-D3EE-4D8D-938A-63AD19BC03A3}" destId="{F2AF4F83-B61C-460A-A2E4-25361F66E7C2}" srcOrd="0" destOrd="0" presId="urn:microsoft.com/office/officeart/2005/8/layout/pList1"/>
    <dgm:cxn modelId="{03E85656-0748-42AD-B391-F7963956909B}" type="presOf" srcId="{5D382516-4C78-4C63-9D2D-29678B4F98C1}" destId="{C4D1A0AB-E26C-4C20-A1E3-FC3D412C75AB}" srcOrd="0" destOrd="0" presId="urn:microsoft.com/office/officeart/2005/8/layout/pList1"/>
    <dgm:cxn modelId="{A1BF7B5F-B149-4B94-8E78-B1F66BE4FBFE}" srcId="{42ECEB57-3D4A-4888-9C63-E98093B0A71D}" destId="{5D382516-4C78-4C63-9D2D-29678B4F98C1}" srcOrd="0" destOrd="0" parTransId="{D869CFFA-0D7A-42CC-A9FE-D754F47CB11C}" sibTransId="{C0FE1F16-F4CD-4F95-8D16-E49FF3B8D63B}"/>
    <dgm:cxn modelId="{65241B6E-E5E1-4818-BBDD-BF1CE3349547}" type="presOf" srcId="{88CF28A3-0B7D-44DC-BAC9-CD100C2BB462}" destId="{EC8BBFD1-C9DE-4708-9D4C-E261D23409BC}" srcOrd="0" destOrd="0" presId="urn:microsoft.com/office/officeart/2005/8/layout/pList1"/>
    <dgm:cxn modelId="{F35A5D81-532A-4FC6-9B8C-905E56E7F2C0}" type="presOf" srcId="{84353267-CBB1-43BB-9C0B-0604F58ACD13}" destId="{FA8392F7-5974-405C-8A12-AE7C9559297D}" srcOrd="0" destOrd="0" presId="urn:microsoft.com/office/officeart/2005/8/layout/pList1"/>
    <dgm:cxn modelId="{9DDAFD82-3E83-4708-8BA3-EE836D373E1A}" srcId="{42ECEB57-3D4A-4888-9C63-E98093B0A71D}" destId="{ED6781DC-1A21-43D1-A14E-4A5459788D55}" srcOrd="1" destOrd="0" parTransId="{5F24D7FF-F008-4AF7-883B-3AB87D490558}" sibTransId="{88CF28A3-0B7D-44DC-BAC9-CD100C2BB462}"/>
    <dgm:cxn modelId="{611CCC8A-3DD7-42E2-A88B-2C19C2B20C83}" srcId="{42ECEB57-3D4A-4888-9C63-E98093B0A71D}" destId="{2DDE6702-F81C-49B7-9FFF-CD5AC1DAFEA8}" srcOrd="2" destOrd="0" parTransId="{18FF3244-3360-4BFE-84DF-647CF1B39FB2}" sibTransId="{CBF72F79-D3EE-4D8D-938A-63AD19BC03A3}"/>
    <dgm:cxn modelId="{72C0F18E-BE70-400F-B64F-60D4BED9A034}" type="presOf" srcId="{2DDE6702-F81C-49B7-9FFF-CD5AC1DAFEA8}" destId="{2DCD95C7-2C3E-42E5-88E9-249DBCABBA31}" srcOrd="0" destOrd="0" presId="urn:microsoft.com/office/officeart/2005/8/layout/pList1"/>
    <dgm:cxn modelId="{C51F2BA8-DA21-4F5B-8919-279E140908A3}" srcId="{42ECEB57-3D4A-4888-9C63-E98093B0A71D}" destId="{84353267-CBB1-43BB-9C0B-0604F58ACD13}" srcOrd="3" destOrd="0" parTransId="{A244BFA6-44AE-422A-88A4-6F315C8DE317}" sibTransId="{EB10514C-2B7F-430D-8F33-4331BDACC96A}"/>
    <dgm:cxn modelId="{2CDCF6D2-C132-4F2A-9DEF-518330ED591F}" type="presOf" srcId="{C0FE1F16-F4CD-4F95-8D16-E49FF3B8D63B}" destId="{555B1D5A-4316-4948-ACA8-4DE85A944821}" srcOrd="0" destOrd="0" presId="urn:microsoft.com/office/officeart/2005/8/layout/pList1"/>
    <dgm:cxn modelId="{61062CFE-A8A9-45CA-B798-33B3C0455F46}" type="presOf" srcId="{ED6781DC-1A21-43D1-A14E-4A5459788D55}" destId="{5579856A-382C-41F5-90D1-3F47022EBF31}" srcOrd="0" destOrd="0" presId="urn:microsoft.com/office/officeart/2005/8/layout/pList1"/>
    <dgm:cxn modelId="{D9A0B52C-BB20-425C-98F4-7B7765047208}" type="presParOf" srcId="{B4987C9C-99DF-430F-81CB-D22835B1FE0F}" destId="{6079258A-5D77-4EE1-A198-90FDE2A33E74}" srcOrd="0" destOrd="0" presId="urn:microsoft.com/office/officeart/2005/8/layout/pList1"/>
    <dgm:cxn modelId="{A7B50FD9-D8BF-4840-9923-02654B834464}" type="presParOf" srcId="{6079258A-5D77-4EE1-A198-90FDE2A33E74}" destId="{B9A3ED13-AE5C-430B-A61F-96BCB22F108A}" srcOrd="0" destOrd="0" presId="urn:microsoft.com/office/officeart/2005/8/layout/pList1"/>
    <dgm:cxn modelId="{5BB3FF1B-1BBC-4AC3-BFC1-60319324BBB7}" type="presParOf" srcId="{6079258A-5D77-4EE1-A198-90FDE2A33E74}" destId="{C4D1A0AB-E26C-4C20-A1E3-FC3D412C75AB}" srcOrd="1" destOrd="0" presId="urn:microsoft.com/office/officeart/2005/8/layout/pList1"/>
    <dgm:cxn modelId="{8283BEF9-A133-462D-9751-E5B10A6C7C38}" type="presParOf" srcId="{B4987C9C-99DF-430F-81CB-D22835B1FE0F}" destId="{555B1D5A-4316-4948-ACA8-4DE85A944821}" srcOrd="1" destOrd="0" presId="urn:microsoft.com/office/officeart/2005/8/layout/pList1"/>
    <dgm:cxn modelId="{23BAB0F9-9FFA-44AE-8C76-902D45C492F1}" type="presParOf" srcId="{B4987C9C-99DF-430F-81CB-D22835B1FE0F}" destId="{3F1E47AD-379A-4530-A853-E25C15FF2128}" srcOrd="2" destOrd="0" presId="urn:microsoft.com/office/officeart/2005/8/layout/pList1"/>
    <dgm:cxn modelId="{B0BF5ECF-D4B9-487A-91AB-D58066D22372}" type="presParOf" srcId="{3F1E47AD-379A-4530-A853-E25C15FF2128}" destId="{670868ED-3BAF-42AD-AAEA-8FCB0890CC65}" srcOrd="0" destOrd="0" presId="urn:microsoft.com/office/officeart/2005/8/layout/pList1"/>
    <dgm:cxn modelId="{ADACD805-D4F3-4558-A23A-76F0FFE56404}" type="presParOf" srcId="{3F1E47AD-379A-4530-A853-E25C15FF2128}" destId="{5579856A-382C-41F5-90D1-3F47022EBF31}" srcOrd="1" destOrd="0" presId="urn:microsoft.com/office/officeart/2005/8/layout/pList1"/>
    <dgm:cxn modelId="{B6C9D801-1273-4629-9A31-2129243D702D}" type="presParOf" srcId="{B4987C9C-99DF-430F-81CB-D22835B1FE0F}" destId="{EC8BBFD1-C9DE-4708-9D4C-E261D23409BC}" srcOrd="3" destOrd="0" presId="urn:microsoft.com/office/officeart/2005/8/layout/pList1"/>
    <dgm:cxn modelId="{7BD1272F-B476-4FD0-A89C-C8A9B7EC3213}" type="presParOf" srcId="{B4987C9C-99DF-430F-81CB-D22835B1FE0F}" destId="{AAEFA04D-11E2-477A-A74D-7303AED3DF60}" srcOrd="4" destOrd="0" presId="urn:microsoft.com/office/officeart/2005/8/layout/pList1"/>
    <dgm:cxn modelId="{571042BF-474F-45FF-A79D-0DAE4984EB24}" type="presParOf" srcId="{AAEFA04D-11E2-477A-A74D-7303AED3DF60}" destId="{F880810B-D329-41BC-9A08-9F31B3A6E2F1}" srcOrd="0" destOrd="0" presId="urn:microsoft.com/office/officeart/2005/8/layout/pList1"/>
    <dgm:cxn modelId="{566B2DD2-DE44-4A4E-8BE0-9904DCDE1082}" type="presParOf" srcId="{AAEFA04D-11E2-477A-A74D-7303AED3DF60}" destId="{2DCD95C7-2C3E-42E5-88E9-249DBCABBA31}" srcOrd="1" destOrd="0" presId="urn:microsoft.com/office/officeart/2005/8/layout/pList1"/>
    <dgm:cxn modelId="{14BF888B-AFDA-44A3-BB11-843CF886E6E2}" type="presParOf" srcId="{B4987C9C-99DF-430F-81CB-D22835B1FE0F}" destId="{F2AF4F83-B61C-460A-A2E4-25361F66E7C2}" srcOrd="5" destOrd="0" presId="urn:microsoft.com/office/officeart/2005/8/layout/pList1"/>
    <dgm:cxn modelId="{6FEB0090-39D8-47C6-A1FC-7B9644B1F241}" type="presParOf" srcId="{B4987C9C-99DF-430F-81CB-D22835B1FE0F}" destId="{DB29A99B-8611-45C1-BDF1-7AE2B7FCC0AD}" srcOrd="6" destOrd="0" presId="urn:microsoft.com/office/officeart/2005/8/layout/pList1"/>
    <dgm:cxn modelId="{0B02C8AB-170C-4A55-9700-F876A6B6AFDC}" type="presParOf" srcId="{DB29A99B-8611-45C1-BDF1-7AE2B7FCC0AD}" destId="{84F0ACE3-876B-4301-A8A3-07846393C2FB}" srcOrd="0" destOrd="0" presId="urn:microsoft.com/office/officeart/2005/8/layout/pList1"/>
    <dgm:cxn modelId="{B9D7B153-A96E-4CC0-8F98-EA59EBE2FCA3}" type="presParOf" srcId="{DB29A99B-8611-45C1-BDF1-7AE2B7FCC0AD}" destId="{FA8392F7-5974-405C-8A12-AE7C9559297D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850354-044D-BB4F-98A2-6152DCC5D18D}">
      <dsp:nvSpPr>
        <dsp:cNvPr id="0" name=""/>
        <dsp:cNvSpPr/>
      </dsp:nvSpPr>
      <dsp:spPr>
        <a:xfrm>
          <a:off x="1533412" y="0"/>
          <a:ext cx="2440838" cy="213360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1270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>
              <a:latin typeface="Aptos" panose="020B0004020202020204" pitchFamily="34" charset="0"/>
            </a:rPr>
            <a:t>Gen AI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>
              <a:latin typeface="Aptos" panose="020B0004020202020204" pitchFamily="34" charset="0"/>
            </a:rPr>
            <a:t>Agentic AI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>
              <a:latin typeface="Aptos" panose="020B0004020202020204" pitchFamily="34" charset="0"/>
            </a:rPr>
            <a:t>Engineering AI Apps</a:t>
          </a:r>
        </a:p>
      </dsp:txBody>
      <dsp:txXfrm>
        <a:off x="2143621" y="320040"/>
        <a:ext cx="1189908" cy="1493520"/>
      </dsp:txXfrm>
    </dsp:sp>
    <dsp:sp modelId="{D5F4D6A5-82E6-5248-919A-7A6FA18923C8}">
      <dsp:nvSpPr>
        <dsp:cNvPr id="0" name=""/>
        <dsp:cNvSpPr/>
      </dsp:nvSpPr>
      <dsp:spPr>
        <a:xfrm>
          <a:off x="923202" y="456590"/>
          <a:ext cx="1220419" cy="122041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>
              <a:latin typeface="Aptos" panose="020B0004020202020204" pitchFamily="34" charset="0"/>
            </a:rPr>
            <a:t>Enable</a:t>
          </a:r>
        </a:p>
      </dsp:txBody>
      <dsp:txXfrm>
        <a:off x="1101928" y="635316"/>
        <a:ext cx="862967" cy="862967"/>
      </dsp:txXfrm>
    </dsp:sp>
    <dsp:sp modelId="{3848D0CB-C932-E649-958C-103C9A77BD2B}">
      <dsp:nvSpPr>
        <dsp:cNvPr id="0" name=""/>
        <dsp:cNvSpPr/>
      </dsp:nvSpPr>
      <dsp:spPr>
        <a:xfrm>
          <a:off x="4767601" y="0"/>
          <a:ext cx="2440838" cy="213360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1270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>
              <a:latin typeface="Aptos" panose="020B0004020202020204" pitchFamily="34" charset="0"/>
            </a:rPr>
            <a:t>Code Assistants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>
              <a:latin typeface="Aptos" panose="020B0004020202020204" pitchFamily="34" charset="0"/>
            </a:rPr>
            <a:t>Agentic IDEs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>
              <a:latin typeface="Aptos" panose="020B0004020202020204" pitchFamily="34" charset="0"/>
            </a:rPr>
            <a:t>Design &amp; Develop </a:t>
          </a:r>
        </a:p>
      </dsp:txBody>
      <dsp:txXfrm>
        <a:off x="5377810" y="320040"/>
        <a:ext cx="1189908" cy="1493520"/>
      </dsp:txXfrm>
    </dsp:sp>
    <dsp:sp modelId="{9DAEB254-6C83-8B4E-9D96-F11014627BC0}">
      <dsp:nvSpPr>
        <dsp:cNvPr id="0" name=""/>
        <dsp:cNvSpPr/>
      </dsp:nvSpPr>
      <dsp:spPr>
        <a:xfrm>
          <a:off x="4157391" y="456590"/>
          <a:ext cx="1220419" cy="122041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>
              <a:latin typeface="Aptos" panose="020B0004020202020204" pitchFamily="34" charset="0"/>
            </a:rPr>
            <a:t>Activate</a:t>
          </a:r>
        </a:p>
      </dsp:txBody>
      <dsp:txXfrm>
        <a:off x="4336117" y="635316"/>
        <a:ext cx="862967" cy="862967"/>
      </dsp:txXfrm>
    </dsp:sp>
    <dsp:sp modelId="{F12994B7-E1AC-3F46-9325-0ACCF1336C01}">
      <dsp:nvSpPr>
        <dsp:cNvPr id="0" name=""/>
        <dsp:cNvSpPr/>
      </dsp:nvSpPr>
      <dsp:spPr>
        <a:xfrm>
          <a:off x="8001789" y="0"/>
          <a:ext cx="2440838" cy="213360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1270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>
              <a:latin typeface="Aptos" panose="020B0004020202020204" pitchFamily="34" charset="0"/>
            </a:rPr>
            <a:t>Showcase developed apps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>
              <a:latin typeface="Aptos" panose="020B0004020202020204" pitchFamily="34" charset="0"/>
            </a:rPr>
            <a:t>Incorporate feedback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>
              <a:latin typeface="Aptos" panose="020B0004020202020204" pitchFamily="34" charset="0"/>
            </a:rPr>
            <a:t>Ideate</a:t>
          </a:r>
        </a:p>
      </dsp:txBody>
      <dsp:txXfrm>
        <a:off x="8611999" y="320040"/>
        <a:ext cx="1189908" cy="1493520"/>
      </dsp:txXfrm>
    </dsp:sp>
    <dsp:sp modelId="{F6D9DBF5-F7BE-3D4D-9934-458E47620D87}">
      <dsp:nvSpPr>
        <dsp:cNvPr id="0" name=""/>
        <dsp:cNvSpPr/>
      </dsp:nvSpPr>
      <dsp:spPr>
        <a:xfrm>
          <a:off x="7391580" y="456590"/>
          <a:ext cx="1220419" cy="122041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>
              <a:latin typeface="Aptos" panose="020B0004020202020204" pitchFamily="34" charset="0"/>
            </a:rPr>
            <a:t>Demonstrate</a:t>
          </a:r>
        </a:p>
      </dsp:txBody>
      <dsp:txXfrm>
        <a:off x="7570306" y="635316"/>
        <a:ext cx="862967" cy="8629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A3ED13-AE5C-430B-A61F-96BCB22F108A}">
      <dsp:nvSpPr>
        <dsp:cNvPr id="0" name=""/>
        <dsp:cNvSpPr/>
      </dsp:nvSpPr>
      <dsp:spPr>
        <a:xfrm>
          <a:off x="0" y="0"/>
          <a:ext cx="2606609" cy="3957528"/>
        </a:xfrm>
        <a:prstGeom prst="roundRect">
          <a:avLst/>
        </a:prstGeom>
        <a:solidFill>
          <a:schemeClr val="accent1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4D1A0AB-E26C-4C20-A1E3-FC3D412C75AB}">
      <dsp:nvSpPr>
        <dsp:cNvPr id="0" name=""/>
        <dsp:cNvSpPr/>
      </dsp:nvSpPr>
      <dsp:spPr>
        <a:xfrm>
          <a:off x="105683" y="3950262"/>
          <a:ext cx="2393675" cy="4982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>
              <a:latin typeface="Consolas" panose="020B0609020204030204" pitchFamily="49" charset="0"/>
            </a:rPr>
            <a:t>LLMs</a:t>
          </a:r>
          <a:endParaRPr lang="en-IN" sz="1800" kern="1200">
            <a:latin typeface="Consolas" panose="020B0609020204030204" pitchFamily="49" charset="0"/>
          </a:endParaRPr>
        </a:p>
      </dsp:txBody>
      <dsp:txXfrm>
        <a:off x="105683" y="3950262"/>
        <a:ext cx="2393675" cy="498273"/>
      </dsp:txXfrm>
    </dsp:sp>
    <dsp:sp modelId="{670868ED-3BAF-42AD-AAEA-8FCB0890CC65}">
      <dsp:nvSpPr>
        <dsp:cNvPr id="0" name=""/>
        <dsp:cNvSpPr/>
      </dsp:nvSpPr>
      <dsp:spPr>
        <a:xfrm>
          <a:off x="2841547" y="534132"/>
          <a:ext cx="2588207" cy="3956864"/>
        </a:xfrm>
        <a:prstGeom prst="roundRect">
          <a:avLst/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579856A-382C-41F5-90D1-3F47022EBF31}">
      <dsp:nvSpPr>
        <dsp:cNvPr id="0" name=""/>
        <dsp:cNvSpPr/>
      </dsp:nvSpPr>
      <dsp:spPr>
        <a:xfrm>
          <a:off x="2996862" y="0"/>
          <a:ext cx="2294468" cy="28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>
              <a:latin typeface="Consolas" panose="020B0609020204030204" pitchFamily="49" charset="0"/>
            </a:rPr>
            <a:t>Generative AI</a:t>
          </a:r>
          <a:endParaRPr lang="en-IN" sz="1800" kern="1200">
            <a:latin typeface="Consolas" panose="020B0609020204030204" pitchFamily="49" charset="0"/>
          </a:endParaRPr>
        </a:p>
      </dsp:txBody>
      <dsp:txXfrm>
        <a:off x="2996862" y="0"/>
        <a:ext cx="2294468" cy="283984"/>
      </dsp:txXfrm>
    </dsp:sp>
    <dsp:sp modelId="{F880810B-D329-41BC-9A08-9F31B3A6E2F1}">
      <dsp:nvSpPr>
        <dsp:cNvPr id="0" name=""/>
        <dsp:cNvSpPr/>
      </dsp:nvSpPr>
      <dsp:spPr>
        <a:xfrm>
          <a:off x="5668056" y="0"/>
          <a:ext cx="2606609" cy="3957528"/>
        </a:xfrm>
        <a:prstGeom prst="roundRect">
          <a:avLst/>
        </a:prstGeom>
        <a:solidFill>
          <a:schemeClr val="accent6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CD95C7-2C3E-42E5-88E9-249DBCABBA31}">
      <dsp:nvSpPr>
        <dsp:cNvPr id="0" name=""/>
        <dsp:cNvSpPr/>
      </dsp:nvSpPr>
      <dsp:spPr>
        <a:xfrm>
          <a:off x="5690420" y="3996120"/>
          <a:ext cx="2606609" cy="433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>
              <a:latin typeface="Consolas" panose="020B0609020204030204" pitchFamily="49" charset="0"/>
            </a:rPr>
            <a:t>Machine learning (ML)</a:t>
          </a:r>
          <a:endParaRPr lang="en-IN" sz="1800" kern="1200">
            <a:latin typeface="Consolas" panose="020B0609020204030204" pitchFamily="49" charset="0"/>
          </a:endParaRPr>
        </a:p>
      </dsp:txBody>
      <dsp:txXfrm>
        <a:off x="5690420" y="3996120"/>
        <a:ext cx="2606609" cy="433171"/>
      </dsp:txXfrm>
    </dsp:sp>
    <dsp:sp modelId="{84F0ACE3-876B-4301-A8A3-07846393C2FB}">
      <dsp:nvSpPr>
        <dsp:cNvPr id="0" name=""/>
        <dsp:cNvSpPr/>
      </dsp:nvSpPr>
      <dsp:spPr>
        <a:xfrm>
          <a:off x="8579409" y="652899"/>
          <a:ext cx="2606609" cy="3758698"/>
        </a:xfrm>
        <a:prstGeom prst="roundRect">
          <a:avLst/>
        </a:prstGeom>
        <a:solidFill>
          <a:schemeClr val="accent4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8392F7-5974-405C-8A12-AE7C9559297D}">
      <dsp:nvSpPr>
        <dsp:cNvPr id="0" name=""/>
        <dsp:cNvSpPr/>
      </dsp:nvSpPr>
      <dsp:spPr>
        <a:xfrm>
          <a:off x="8589574" y="4"/>
          <a:ext cx="2606609" cy="830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>
              <a:latin typeface="Consolas" panose="020B0609020204030204" pitchFamily="49" charset="0"/>
            </a:rPr>
            <a:t>Traditional programming</a:t>
          </a:r>
          <a:endParaRPr lang="en-IN" sz="1800" kern="1200">
            <a:latin typeface="Consolas" panose="020B0609020204030204" pitchFamily="49" charset="0"/>
          </a:endParaRPr>
        </a:p>
      </dsp:txBody>
      <dsp:txXfrm>
        <a:off x="8589574" y="4"/>
        <a:ext cx="2606609" cy="830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F0A44-9D72-5249-8C37-8FB99F54CE1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79717D-A204-0A4D-B779-D468A7E07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701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FSS Converge link &amp; QR Code</a:t>
            </a:r>
          </a:p>
        </p:txBody>
      </p:sp>
    </p:spTree>
    <p:extLst>
      <p:ext uri="{BB962C8B-B14F-4D97-AF65-F5344CB8AC3E}">
        <p14:creationId xmlns:p14="http://schemas.microsoft.com/office/powerpoint/2010/main" val="3185084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32BA1-55D7-CC4B-9067-F03C772BF91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85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2E070-8A3A-45B2-9C44-7586C822A4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E6050B-8C83-85A3-8BC1-3AD898110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4282C-B704-CF8B-1FA8-8DBEA7289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7C7D-DF7B-4FA8-8A0A-0C00B83DEC08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1ECD2-F88C-5E26-141A-AE230CAB4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240FB-7AB3-2FD7-831F-8683CC840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527B-4807-4872-AC31-CE699279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508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86BA9-8504-49E4-9EB0-F32B1D5A7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68A7E-B4D8-3993-F8DC-EEF1CE153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FAE22-40CA-9488-C64D-778EB632D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7C7D-DF7B-4FA8-8A0A-0C00B83DEC08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10D81-A868-14D3-07D8-BC0981CA4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5D6BE-DA12-9494-4C17-CD42DF78A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527B-4807-4872-AC31-CE699279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490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51FD5-0539-5539-5D85-78DBE3CA4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75777-84E7-E5AE-E998-E56E07B5D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C57AE-D0EF-3053-DE82-9950A7558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7C7D-DF7B-4FA8-8A0A-0C00B83DEC08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78275-8460-8DB3-718F-439CB450B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C4DA9-A177-1FE8-9A64-98EBB5238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527B-4807-4872-AC31-CE699279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132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1ECF-FA49-8219-F00E-AC1BF896B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5266E-76E7-FEF4-DADA-5C4CCF91C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F5379-64A9-4C4E-8E64-101025756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2B27E-09C2-1289-5B7B-A7678A945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7C7D-DF7B-4FA8-8A0A-0C00B83DEC08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2F849-6835-95C7-C133-868BF148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3C844-D47F-82EF-4776-A303C35FE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527B-4807-4872-AC31-CE699279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318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0727-6A2F-4A15-7D7E-1246D0601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1DB06-B36A-76A6-23D9-9505F5EAE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C34792-7B2B-E216-EAC2-DA95EB6EB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2BD78D-1903-BB22-86EB-6DD2E79FC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8C842-01C9-F484-0737-ED8E00DF4A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CA2689-BC63-B59A-A181-CC7960017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7C7D-DF7B-4FA8-8A0A-0C00B83DEC08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0FDE97-31C5-F6B5-EF1A-4BA655FA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BEDA55-8B5E-1183-B3F7-19BB20CB1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527B-4807-4872-AC31-CE699279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126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B9C7E-E9FD-3DF7-D6BD-409D25A18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0C3B0B-28DF-2694-B4F7-6C72F4B1B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7C7D-DF7B-4FA8-8A0A-0C00B83DEC08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55764F-4A1B-C538-7ECA-F4C7C0FA1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5775FB-2A3D-010F-E6E0-E966BC65C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527B-4807-4872-AC31-CE699279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825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57C100-578D-9882-9F2F-8A5A85CB7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7C7D-DF7B-4FA8-8A0A-0C00B83DEC08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4A640D-26AC-BCC5-8C91-CDF49DB95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1073C-17D7-F825-9E08-96458C51C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527B-4807-4872-AC31-CE699279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92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2CB9F-49BC-B6EF-AA1C-1D24AF8C1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899C0-1CBC-E217-976E-1559AEB12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1C2D44-FDAA-C62F-D191-5BD8F4D47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11C51-6933-37B1-6564-F8C7F1CA8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7C7D-DF7B-4FA8-8A0A-0C00B83DEC08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786CB-76F1-F0C1-4FCB-1DE194CA7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4ED2F-E187-C1C4-1327-8465DC20B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527B-4807-4872-AC31-CE699279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016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1A0FE-6E65-F39E-AAEE-4FE9F6320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9E97BA-8EA4-6D44-1048-EDB3E778F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468CA4-D504-2C91-ED3E-176AB5A03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AEF10-51BF-ED88-1394-96CD475A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7C7D-DF7B-4FA8-8A0A-0C00B83DEC08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8C392-811B-BE60-DA44-D4302DFFE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9E723-D33F-FD90-127A-194F5ED5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527B-4807-4872-AC31-CE699279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847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DC751-AF40-933D-BEB2-C7DAE4087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3E92A8-DBCC-0DBC-F425-314257E34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EC926-B461-7FB7-BB47-FD83ED98D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7C7D-DF7B-4FA8-8A0A-0C00B83DEC08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68A6B-2671-51D5-A94D-2C4E5BFB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84D9F-6BA4-706C-AA7D-E564828EE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527B-4807-4872-AC31-CE699279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341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8C8CD2-5103-E859-E1BD-B111142FAD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994578-5024-E913-3948-1FEB831E2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92C62-F4EA-1E43-57B4-317931967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7C7D-DF7B-4FA8-8A0A-0C00B83DEC08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5220A-E926-8B05-BC90-313ABF6AA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20150-7D3D-2357-B28B-F6C769326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527B-4807-4872-AC31-CE699279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3388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C7EBD8F-99F6-E648-8AFA-50D6F9131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1376" y="6406597"/>
            <a:ext cx="494104" cy="2682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kumimoji="0" lang="uk-UA" sz="817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BM Plex Sans" charset="0"/>
                <a:ea typeface="IBM Plex Sans" charset="0"/>
                <a:cs typeface="IBM Plex Sans" charset="0"/>
                <a:sym typeface="Arial"/>
              </a:defRPr>
            </a:lvl1pPr>
          </a:lstStyle>
          <a:p>
            <a:fld id="{5714FB1E-E660-F74D-BC29-F339B17ACE97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1590E392-857C-CE4C-B8DD-DD202BCF19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7551" y="6406597"/>
            <a:ext cx="1828800" cy="2682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17">
                <a:solidFill>
                  <a:schemeClr val="tx2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</a:lstStyle>
          <a:p>
            <a:r>
              <a:rPr lang="en-US">
                <a:solidFill>
                  <a:srgbClr val="000000"/>
                </a:solidFill>
              </a:rPr>
              <a:t>IBM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62167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D52593-25E7-368F-14B2-99D0EFBF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5957D-FCAD-6BE4-83B0-E63F1F455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07840-5F3E-D2FB-58FB-D8B5E445E9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A7C7D-DF7B-4FA8-8A0A-0C00B83DEC08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BBDB1-5861-DBBD-4ADB-AFDF737B3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AF935-E180-7C83-B465-9702EEBE7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E527B-4807-4872-AC31-CE699279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268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hyperlink" Target="https://medium.com/@uddaishya22/unlocking-efficiency-how-mixture-of-experts-models-revolutionize-task-specialization-5adeeabc7af9?source=your_stories_page--------------------------------------------" TargetMode="External"/><Relationship Id="rId4" Type="http://schemas.openxmlformats.org/officeDocument/2006/relationships/hyperlink" Target="https://medium.com/@uddaishya22/model-context-protocol-mcp-the-universal-standard-for-genai-integration-d6cbd5cbd96b?source=your_stories_page--------------------------------------------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bm.com/thought-leadership/institute-business-value/en-us/report/insurance-generative-ai" TargetMode="External"/><Relationship Id="rId3" Type="http://schemas.openxmlformats.org/officeDocument/2006/relationships/hyperlink" Target="https://ibm-learning.udemy.com/course/generative-ai-for-beginners-b/" TargetMode="External"/><Relationship Id="rId7" Type="http://schemas.openxmlformats.org/officeDocument/2006/relationships/hyperlink" Target="https://www.ibm.com/think/topics/generative-ai-banking" TargetMode="External"/><Relationship Id="rId2" Type="http://schemas.openxmlformats.org/officeDocument/2006/relationships/hyperlink" Target="https://yourlearning.ibm.com/activity/URL-A9C1FAB68C6E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ibm-learning.udemy.com/course/prompt-engineering-for-ai/" TargetMode="External"/><Relationship Id="rId5" Type="http://schemas.openxmlformats.org/officeDocument/2006/relationships/hyperlink" Target="https://ibm-learning.udemy.com/course/generative-ai-for-leaders/" TargetMode="External"/><Relationship Id="rId4" Type="http://schemas.openxmlformats.org/officeDocument/2006/relationships/hyperlink" Target="https://ibm-learning.udemy.com/course/ethics-generative-ai-genai-chatgpt-llm-course/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eeplearning.ai/short-courses/large-language-models-semantic-search/" TargetMode="External"/><Relationship Id="rId13" Type="http://schemas.openxmlformats.org/officeDocument/2006/relationships/hyperlink" Target="https://ibm-learning.udemy.com/course/langchain/learn/lecture/37474628%23overview#overview" TargetMode="External"/><Relationship Id="rId3" Type="http://schemas.openxmlformats.org/officeDocument/2006/relationships/hyperlink" Target="https://www.deeplearning.ai/short-courses/functions-tools-agents-langchain/" TargetMode="External"/><Relationship Id="rId7" Type="http://schemas.openxmlformats.org/officeDocument/2006/relationships/hyperlink" Target="https://www.deeplearning.ai/short-courses/google-cloud-vertex-ai/" TargetMode="External"/><Relationship Id="rId12" Type="http://schemas.openxmlformats.org/officeDocument/2006/relationships/hyperlink" Target="https://www.pinecone.io/learn/series/langchain/" TargetMode="External"/><Relationship Id="rId2" Type="http://schemas.openxmlformats.org/officeDocument/2006/relationships/hyperlink" Target="https://www.deeplearning.ai/short-courses/langchain-for-llm-application-development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deeplearning.ai/short-courses/vector-databases-embeddings-applications/" TargetMode="External"/><Relationship Id="rId11" Type="http://schemas.openxmlformats.org/officeDocument/2006/relationships/hyperlink" Target="https://www.deeplearning.ai/short-courses/finetuning-large-language-models/" TargetMode="External"/><Relationship Id="rId5" Type="http://schemas.openxmlformats.org/officeDocument/2006/relationships/hyperlink" Target="https://www.deeplearning.ai/short-courses/building-evaluating-advanced-rag/" TargetMode="External"/><Relationship Id="rId10" Type="http://schemas.openxmlformats.org/officeDocument/2006/relationships/hyperlink" Target="https://www.deeplearning.ai/short-courses/quality-safety-llm-applications/" TargetMode="External"/><Relationship Id="rId4" Type="http://schemas.openxmlformats.org/officeDocument/2006/relationships/hyperlink" Target="https://ibm-learning.udemy.com/course/prompt-engineering-for-ai/" TargetMode="External"/><Relationship Id="rId9" Type="http://schemas.openxmlformats.org/officeDocument/2006/relationships/hyperlink" Target="https://www.deeplearning.ai/short-courses/evaluating-debugging-generative-ai/" TargetMode="External"/><Relationship Id="rId1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ibm.ent.box.com/folder/317711734920?s=o2492gi4s29rbha59d8xxq4smoqhm0ls" TargetMode="External"/><Relationship Id="rId3" Type="http://schemas.openxmlformats.org/officeDocument/2006/relationships/hyperlink" Target="https://learn.deeplearning.ai/specializations/generative-ai-for-software-development" TargetMode="External"/><Relationship Id="rId7" Type="http://schemas.openxmlformats.org/officeDocument/2006/relationships/hyperlink" Target="https://www.ibm.com/think/topics/ai-in-software-development" TargetMode="External"/><Relationship Id="rId2" Type="http://schemas.openxmlformats.org/officeDocument/2006/relationships/hyperlink" Target="https://learn.deeplearning.ai/courses/agentic-ai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ibm-learning.udemy.com/course/github-copilot-the-complete-guide/" TargetMode="External"/><Relationship Id="rId11" Type="http://schemas.openxmlformats.org/officeDocument/2006/relationships/image" Target="../media/image15.png"/><Relationship Id="rId5" Type="http://schemas.openxmlformats.org/officeDocument/2006/relationships/hyperlink" Target="https://learn.deeplearning.ai/courses/long-term-agentic-memory-with-langgraph/" TargetMode="External"/><Relationship Id="rId10" Type="http://schemas.openxmlformats.org/officeDocument/2006/relationships/hyperlink" Target="https://yourlearning.ibm.com/activity/PLAN-BB88B1C39AAC" TargetMode="External"/><Relationship Id="rId4" Type="http://schemas.openxmlformats.org/officeDocument/2006/relationships/hyperlink" Target="https://ibm-learning.udemy.com/course/the-complete-agentic-ai-engineering-course/" TargetMode="External"/><Relationship Id="rId9" Type="http://schemas.openxmlformats.org/officeDocument/2006/relationships/hyperlink" Target="https://www.youtube.com/playlist?list=PLOspHqNVtKACI0uR7Oa-bkWbtTufpJNhi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7587D-3895-5827-44CE-9DC8CE058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39385-B85F-B24E-6B92-1ABCD1B267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9518" y="2186820"/>
            <a:ext cx="4524027" cy="3520297"/>
          </a:xfrm>
        </p:spPr>
        <p:txBody>
          <a:bodyPr>
            <a:noAutofit/>
          </a:bodyPr>
          <a:lstStyle/>
          <a:p>
            <a:pPr algn="l"/>
            <a:r>
              <a:rPr lang="en-IN" b="1">
                <a:latin typeface="Consolas" panose="020B0609020204030204" pitchFamily="49" charset="0"/>
              </a:rPr>
              <a:t>FSS 300.AI club Enablement Series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FBAECA-2828-1E90-FC72-FE881270A63C}"/>
              </a:ext>
            </a:extLst>
          </p:cNvPr>
          <p:cNvSpPr/>
          <p:nvPr/>
        </p:nvSpPr>
        <p:spPr>
          <a:xfrm>
            <a:off x="0" y="6361812"/>
            <a:ext cx="12192000" cy="496188"/>
          </a:xfrm>
          <a:prstGeom prst="rect">
            <a:avLst/>
          </a:prstGeom>
          <a:gradFill flip="none" rotWithShape="1">
            <a:gsLst>
              <a:gs pos="11000">
                <a:srgbClr val="0530AD"/>
              </a:gs>
              <a:gs pos="51000">
                <a:srgbClr val="00AEEF"/>
              </a:gs>
              <a:gs pos="81000">
                <a:srgbClr val="7030A0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7A98538-B391-0BBC-3919-0E1BDEC47370}"/>
              </a:ext>
            </a:extLst>
          </p:cNvPr>
          <p:cNvGrpSpPr/>
          <p:nvPr/>
        </p:nvGrpSpPr>
        <p:grpSpPr>
          <a:xfrm>
            <a:off x="11467538" y="283795"/>
            <a:ext cx="429384" cy="321996"/>
            <a:chOff x="4552645" y="3416817"/>
            <a:chExt cx="1948180" cy="1460945"/>
          </a:xfrm>
        </p:grpSpPr>
        <p:sp>
          <p:nvSpPr>
            <p:cNvPr id="8" name="object 27">
              <a:extLst>
                <a:ext uri="{FF2B5EF4-FFF2-40B4-BE49-F238E27FC236}">
                  <a16:creationId xmlns:a16="http://schemas.microsoft.com/office/drawing/2014/main" id="{A22EC15F-302E-3CA2-1A6D-9815B85FFAFB}"/>
                </a:ext>
              </a:extLst>
            </p:cNvPr>
            <p:cNvSpPr/>
            <p:nvPr/>
          </p:nvSpPr>
          <p:spPr>
            <a:xfrm>
              <a:off x="5201831" y="4066015"/>
              <a:ext cx="649605" cy="487045"/>
            </a:xfrm>
            <a:custGeom>
              <a:avLst/>
              <a:gdLst/>
              <a:ahLst/>
              <a:cxnLst/>
              <a:rect l="l" t="t" r="r" b="b"/>
              <a:pathLst>
                <a:path w="649605" h="487045">
                  <a:moveTo>
                    <a:pt x="649198" y="324599"/>
                  </a:moveTo>
                  <a:lnTo>
                    <a:pt x="0" y="324599"/>
                  </a:lnTo>
                  <a:lnTo>
                    <a:pt x="0" y="486892"/>
                  </a:lnTo>
                  <a:lnTo>
                    <a:pt x="649198" y="486892"/>
                  </a:lnTo>
                  <a:lnTo>
                    <a:pt x="649198" y="324599"/>
                  </a:lnTo>
                  <a:close/>
                </a:path>
                <a:path w="649605" h="487045">
                  <a:moveTo>
                    <a:pt x="649198" y="0"/>
                  </a:moveTo>
                  <a:lnTo>
                    <a:pt x="0" y="0"/>
                  </a:lnTo>
                  <a:lnTo>
                    <a:pt x="0" y="162293"/>
                  </a:lnTo>
                  <a:lnTo>
                    <a:pt x="649198" y="162293"/>
                  </a:lnTo>
                  <a:lnTo>
                    <a:pt x="6491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28">
              <a:extLst>
                <a:ext uri="{FF2B5EF4-FFF2-40B4-BE49-F238E27FC236}">
                  <a16:creationId xmlns:a16="http://schemas.microsoft.com/office/drawing/2014/main" id="{29601246-8E88-369B-8A92-46F6420E1B09}"/>
                </a:ext>
              </a:extLst>
            </p:cNvPr>
            <p:cNvSpPr/>
            <p:nvPr/>
          </p:nvSpPr>
          <p:spPr>
            <a:xfrm>
              <a:off x="4552645" y="3416817"/>
              <a:ext cx="1948180" cy="1136650"/>
            </a:xfrm>
            <a:custGeom>
              <a:avLst/>
              <a:gdLst/>
              <a:ahLst/>
              <a:cxnLst/>
              <a:rect l="l" t="t" r="r" b="b"/>
              <a:pathLst>
                <a:path w="1948180" h="1136650">
                  <a:moveTo>
                    <a:pt x="649198" y="446328"/>
                  </a:moveTo>
                  <a:lnTo>
                    <a:pt x="152082" y="666991"/>
                  </a:lnTo>
                  <a:lnTo>
                    <a:pt x="109855" y="689152"/>
                  </a:lnTo>
                  <a:lnTo>
                    <a:pt x="73012" y="718858"/>
                  </a:lnTo>
                  <a:lnTo>
                    <a:pt x="42595" y="755065"/>
                  </a:lnTo>
                  <a:lnTo>
                    <a:pt x="19608" y="796785"/>
                  </a:lnTo>
                  <a:lnTo>
                    <a:pt x="5067" y="842975"/>
                  </a:lnTo>
                  <a:lnTo>
                    <a:pt x="0" y="892644"/>
                  </a:lnTo>
                  <a:lnTo>
                    <a:pt x="4940" y="941705"/>
                  </a:lnTo>
                  <a:lnTo>
                    <a:pt x="19126" y="987399"/>
                  </a:lnTo>
                  <a:lnTo>
                    <a:pt x="41579" y="1028763"/>
                  </a:lnTo>
                  <a:lnTo>
                    <a:pt x="71297" y="1064793"/>
                  </a:lnTo>
                  <a:lnTo>
                    <a:pt x="107327" y="1094511"/>
                  </a:lnTo>
                  <a:lnTo>
                    <a:pt x="148678" y="1116965"/>
                  </a:lnTo>
                  <a:lnTo>
                    <a:pt x="194386" y="1131150"/>
                  </a:lnTo>
                  <a:lnTo>
                    <a:pt x="243446" y="1136091"/>
                  </a:lnTo>
                  <a:lnTo>
                    <a:pt x="296456" y="1130312"/>
                  </a:lnTo>
                  <a:lnTo>
                    <a:pt x="345414" y="1113777"/>
                  </a:lnTo>
                  <a:lnTo>
                    <a:pt x="389077" y="1087742"/>
                  </a:lnTo>
                  <a:lnTo>
                    <a:pt x="426224" y="1053452"/>
                  </a:lnTo>
                  <a:lnTo>
                    <a:pt x="455587" y="1012151"/>
                  </a:lnTo>
                  <a:lnTo>
                    <a:pt x="475932" y="965073"/>
                  </a:lnTo>
                  <a:lnTo>
                    <a:pt x="649198" y="446328"/>
                  </a:lnTo>
                  <a:close/>
                </a:path>
                <a:path w="1948180" h="1136650">
                  <a:moveTo>
                    <a:pt x="933208" y="142011"/>
                  </a:moveTo>
                  <a:lnTo>
                    <a:pt x="925969" y="97129"/>
                  </a:lnTo>
                  <a:lnTo>
                    <a:pt x="905814" y="58140"/>
                  </a:lnTo>
                  <a:lnTo>
                    <a:pt x="875068" y="27393"/>
                  </a:lnTo>
                  <a:lnTo>
                    <a:pt x="836091" y="7239"/>
                  </a:lnTo>
                  <a:lnTo>
                    <a:pt x="791197" y="0"/>
                  </a:lnTo>
                  <a:lnTo>
                    <a:pt x="746315" y="7239"/>
                  </a:lnTo>
                  <a:lnTo>
                    <a:pt x="707326" y="27393"/>
                  </a:lnTo>
                  <a:lnTo>
                    <a:pt x="676592" y="58140"/>
                  </a:lnTo>
                  <a:lnTo>
                    <a:pt x="656424" y="97129"/>
                  </a:lnTo>
                  <a:lnTo>
                    <a:pt x="649185" y="142011"/>
                  </a:lnTo>
                  <a:lnTo>
                    <a:pt x="656424" y="186893"/>
                  </a:lnTo>
                  <a:lnTo>
                    <a:pt x="676592" y="225882"/>
                  </a:lnTo>
                  <a:lnTo>
                    <a:pt x="707326" y="256628"/>
                  </a:lnTo>
                  <a:lnTo>
                    <a:pt x="746315" y="276783"/>
                  </a:lnTo>
                  <a:lnTo>
                    <a:pt x="791197" y="284035"/>
                  </a:lnTo>
                  <a:lnTo>
                    <a:pt x="836091" y="276783"/>
                  </a:lnTo>
                  <a:lnTo>
                    <a:pt x="875068" y="256628"/>
                  </a:lnTo>
                  <a:lnTo>
                    <a:pt x="905814" y="225882"/>
                  </a:lnTo>
                  <a:lnTo>
                    <a:pt x="925969" y="186893"/>
                  </a:lnTo>
                  <a:lnTo>
                    <a:pt x="933208" y="142011"/>
                  </a:lnTo>
                  <a:close/>
                </a:path>
                <a:path w="1948180" h="1136650">
                  <a:moveTo>
                    <a:pt x="1257808" y="486892"/>
                  </a:moveTo>
                  <a:lnTo>
                    <a:pt x="1230706" y="447370"/>
                  </a:lnTo>
                  <a:lnTo>
                    <a:pt x="1197965" y="412305"/>
                  </a:lnTo>
                  <a:lnTo>
                    <a:pt x="1160284" y="382295"/>
                  </a:lnTo>
                  <a:lnTo>
                    <a:pt x="1118323" y="357936"/>
                  </a:lnTo>
                  <a:lnTo>
                    <a:pt x="1072807" y="339813"/>
                  </a:lnTo>
                  <a:lnTo>
                    <a:pt x="1024394" y="328498"/>
                  </a:lnTo>
                  <a:lnTo>
                    <a:pt x="973785" y="324599"/>
                  </a:lnTo>
                  <a:lnTo>
                    <a:pt x="923175" y="328498"/>
                  </a:lnTo>
                  <a:lnTo>
                    <a:pt x="874763" y="339813"/>
                  </a:lnTo>
                  <a:lnTo>
                    <a:pt x="829246" y="357936"/>
                  </a:lnTo>
                  <a:lnTo>
                    <a:pt x="787298" y="382295"/>
                  </a:lnTo>
                  <a:lnTo>
                    <a:pt x="749604" y="412305"/>
                  </a:lnTo>
                  <a:lnTo>
                    <a:pt x="716864" y="447370"/>
                  </a:lnTo>
                  <a:lnTo>
                    <a:pt x="689762" y="486892"/>
                  </a:lnTo>
                  <a:lnTo>
                    <a:pt x="1257808" y="486892"/>
                  </a:lnTo>
                  <a:close/>
                </a:path>
                <a:path w="1948180" h="1136650">
                  <a:moveTo>
                    <a:pt x="1298384" y="142011"/>
                  </a:moveTo>
                  <a:lnTo>
                    <a:pt x="1291145" y="97129"/>
                  </a:lnTo>
                  <a:lnTo>
                    <a:pt x="1270990" y="58140"/>
                  </a:lnTo>
                  <a:lnTo>
                    <a:pt x="1240243" y="27393"/>
                  </a:lnTo>
                  <a:lnTo>
                    <a:pt x="1201267" y="7239"/>
                  </a:lnTo>
                  <a:lnTo>
                    <a:pt x="1156373" y="0"/>
                  </a:lnTo>
                  <a:lnTo>
                    <a:pt x="1111491" y="7239"/>
                  </a:lnTo>
                  <a:lnTo>
                    <a:pt x="1072502" y="27393"/>
                  </a:lnTo>
                  <a:lnTo>
                    <a:pt x="1041755" y="58140"/>
                  </a:lnTo>
                  <a:lnTo>
                    <a:pt x="1021600" y="97129"/>
                  </a:lnTo>
                  <a:lnTo>
                    <a:pt x="1014361" y="142011"/>
                  </a:lnTo>
                  <a:lnTo>
                    <a:pt x="1021600" y="186893"/>
                  </a:lnTo>
                  <a:lnTo>
                    <a:pt x="1041755" y="225882"/>
                  </a:lnTo>
                  <a:lnTo>
                    <a:pt x="1072502" y="256628"/>
                  </a:lnTo>
                  <a:lnTo>
                    <a:pt x="1111491" y="276783"/>
                  </a:lnTo>
                  <a:lnTo>
                    <a:pt x="1156373" y="284035"/>
                  </a:lnTo>
                  <a:lnTo>
                    <a:pt x="1201267" y="276783"/>
                  </a:lnTo>
                  <a:lnTo>
                    <a:pt x="1240243" y="256628"/>
                  </a:lnTo>
                  <a:lnTo>
                    <a:pt x="1270990" y="225882"/>
                  </a:lnTo>
                  <a:lnTo>
                    <a:pt x="1291145" y="186893"/>
                  </a:lnTo>
                  <a:lnTo>
                    <a:pt x="1298384" y="142011"/>
                  </a:lnTo>
                  <a:close/>
                </a:path>
                <a:path w="1948180" h="1136650">
                  <a:moveTo>
                    <a:pt x="1947570" y="892644"/>
                  </a:moveTo>
                  <a:lnTo>
                    <a:pt x="1942503" y="842975"/>
                  </a:lnTo>
                  <a:lnTo>
                    <a:pt x="1927961" y="796785"/>
                  </a:lnTo>
                  <a:lnTo>
                    <a:pt x="1904974" y="755065"/>
                  </a:lnTo>
                  <a:lnTo>
                    <a:pt x="1874558" y="718858"/>
                  </a:lnTo>
                  <a:lnTo>
                    <a:pt x="1837728" y="689152"/>
                  </a:lnTo>
                  <a:lnTo>
                    <a:pt x="1795500" y="666991"/>
                  </a:lnTo>
                  <a:lnTo>
                    <a:pt x="1298384" y="446328"/>
                  </a:lnTo>
                  <a:lnTo>
                    <a:pt x="1471637" y="965073"/>
                  </a:lnTo>
                  <a:lnTo>
                    <a:pt x="1491983" y="1012151"/>
                  </a:lnTo>
                  <a:lnTo>
                    <a:pt x="1521345" y="1053452"/>
                  </a:lnTo>
                  <a:lnTo>
                    <a:pt x="1558493" y="1087742"/>
                  </a:lnTo>
                  <a:lnTo>
                    <a:pt x="1602168" y="1113777"/>
                  </a:lnTo>
                  <a:lnTo>
                    <a:pt x="1651127" y="1130312"/>
                  </a:lnTo>
                  <a:lnTo>
                    <a:pt x="1704124" y="1136091"/>
                  </a:lnTo>
                  <a:lnTo>
                    <a:pt x="1753196" y="1131150"/>
                  </a:lnTo>
                  <a:lnTo>
                    <a:pt x="1798891" y="1116965"/>
                  </a:lnTo>
                  <a:lnTo>
                    <a:pt x="1840242" y="1094511"/>
                  </a:lnTo>
                  <a:lnTo>
                    <a:pt x="1876272" y="1064793"/>
                  </a:lnTo>
                  <a:lnTo>
                    <a:pt x="1906003" y="1028763"/>
                  </a:lnTo>
                  <a:lnTo>
                    <a:pt x="1928444" y="987399"/>
                  </a:lnTo>
                  <a:lnTo>
                    <a:pt x="1942630" y="941705"/>
                  </a:lnTo>
                  <a:lnTo>
                    <a:pt x="1947570" y="892644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29">
              <a:extLst>
                <a:ext uri="{FF2B5EF4-FFF2-40B4-BE49-F238E27FC236}">
                  <a16:creationId xmlns:a16="http://schemas.microsoft.com/office/drawing/2014/main" id="{4E429C3A-641C-D33D-F30A-A0C52858FE4C}"/>
                </a:ext>
              </a:extLst>
            </p:cNvPr>
            <p:cNvSpPr/>
            <p:nvPr/>
          </p:nvSpPr>
          <p:spPr>
            <a:xfrm>
              <a:off x="5242415" y="4715202"/>
              <a:ext cx="568325" cy="162560"/>
            </a:xfrm>
            <a:custGeom>
              <a:avLst/>
              <a:gdLst/>
              <a:ahLst/>
              <a:cxnLst/>
              <a:rect l="l" t="t" r="r" b="b"/>
              <a:pathLst>
                <a:path w="568325" h="162559">
                  <a:moveTo>
                    <a:pt x="568045" y="0"/>
                  </a:moveTo>
                  <a:lnTo>
                    <a:pt x="0" y="0"/>
                  </a:lnTo>
                  <a:lnTo>
                    <a:pt x="27104" y="39530"/>
                  </a:lnTo>
                  <a:lnTo>
                    <a:pt x="59843" y="74592"/>
                  </a:lnTo>
                  <a:lnTo>
                    <a:pt x="97531" y="104598"/>
                  </a:lnTo>
                  <a:lnTo>
                    <a:pt x="139480" y="128959"/>
                  </a:lnTo>
                  <a:lnTo>
                    <a:pt x="185002" y="147089"/>
                  </a:lnTo>
                  <a:lnTo>
                    <a:pt x="233412" y="158398"/>
                  </a:lnTo>
                  <a:lnTo>
                    <a:pt x="284022" y="162298"/>
                  </a:lnTo>
                  <a:lnTo>
                    <a:pt x="334632" y="158398"/>
                  </a:lnTo>
                  <a:lnTo>
                    <a:pt x="383042" y="147089"/>
                  </a:lnTo>
                  <a:lnTo>
                    <a:pt x="428565" y="128959"/>
                  </a:lnTo>
                  <a:lnTo>
                    <a:pt x="470514" y="104598"/>
                  </a:lnTo>
                  <a:lnTo>
                    <a:pt x="508201" y="74592"/>
                  </a:lnTo>
                  <a:lnTo>
                    <a:pt x="540941" y="39530"/>
                  </a:lnTo>
                  <a:lnTo>
                    <a:pt x="568045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B01E2FE-C739-3EAC-1DCB-7971BF63C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349" y="0"/>
            <a:ext cx="52943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178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60A053A2-5A8E-803E-BFB5-BC6952C2CF72}"/>
              </a:ext>
            </a:extLst>
          </p:cNvPr>
          <p:cNvSpPr txBox="1">
            <a:spLocks/>
          </p:cNvSpPr>
          <p:nvPr/>
        </p:nvSpPr>
        <p:spPr>
          <a:xfrm>
            <a:off x="457201" y="146304"/>
            <a:ext cx="11497056" cy="443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marR="0" indent="0" algn="l" defTabSz="91441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charset="0"/>
                <a:ea typeface="Arial" charset="0"/>
                <a:cs typeface="Arial" charset="0"/>
                <a:sym typeface="Arial"/>
              </a:defRPr>
            </a:lvl1pPr>
            <a:lvl2pPr marL="0" marR="0" indent="0" algn="l" defTabSz="91441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91441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91441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91441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91441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91441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91441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91441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200" b="1">
                <a:solidFill>
                  <a:schemeClr val="tx2"/>
                </a:solidFill>
                <a:latin typeface="IBM Plex Sans"/>
                <a:cs typeface="Arial"/>
              </a:rPr>
              <a:t>CIC FS – 300.AI Club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519C55C-9B50-2421-A1FC-13FD4C75F783}"/>
              </a:ext>
            </a:extLst>
          </p:cNvPr>
          <p:cNvGraphicFramePr/>
          <p:nvPr/>
        </p:nvGraphicFramePr>
        <p:xfrm>
          <a:off x="588427" y="3632200"/>
          <a:ext cx="11365831" cy="213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ight Arrow 5">
            <a:extLst>
              <a:ext uri="{FF2B5EF4-FFF2-40B4-BE49-F238E27FC236}">
                <a16:creationId xmlns:a16="http://schemas.microsoft.com/office/drawing/2014/main" id="{AFBFE463-19E7-70A6-07E0-70E07010DE8E}"/>
              </a:ext>
            </a:extLst>
          </p:cNvPr>
          <p:cNvSpPr/>
          <p:nvPr/>
        </p:nvSpPr>
        <p:spPr>
          <a:xfrm>
            <a:off x="865633" y="6169531"/>
            <a:ext cx="10972800" cy="203200"/>
          </a:xfrm>
          <a:prstGeom prst="rightArrow">
            <a:avLst/>
          </a:prstGeom>
          <a:solidFill>
            <a:schemeClr val="accent1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23360" hangingPunct="0"/>
            <a:endParaRPr lang="en-GB" sz="1333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EA5565C2-2668-A090-21C7-1805EF028466}"/>
              </a:ext>
            </a:extLst>
          </p:cNvPr>
          <p:cNvSpPr/>
          <p:nvPr/>
        </p:nvSpPr>
        <p:spPr>
          <a:xfrm>
            <a:off x="4368800" y="6067931"/>
            <a:ext cx="406400" cy="406400"/>
          </a:xfrm>
          <a:prstGeom prst="diamond">
            <a:avLst/>
          </a:prstGeom>
          <a:solidFill>
            <a:srgbClr val="FF0000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23360" hangingPunct="0"/>
            <a:endParaRPr lang="en-GB" sz="1333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CA0BE4-9DCF-264E-8CA9-55B85D5C5EE7}"/>
              </a:ext>
            </a:extLst>
          </p:cNvPr>
          <p:cNvSpPr txBox="1"/>
          <p:nvPr/>
        </p:nvSpPr>
        <p:spPr>
          <a:xfrm>
            <a:off x="3962400" y="6474331"/>
            <a:ext cx="1219200" cy="406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21920" tIns="60960" rIns="121920" bIns="60960" numCol="1" spcCol="38100" rtlCol="0" anchor="t">
            <a:noAutofit/>
          </a:bodyPr>
          <a:lstStyle/>
          <a:p>
            <a:pPr defTabSz="623360" hangingPunct="0"/>
            <a:r>
              <a:rPr lang="en-GB" sz="1333">
                <a:solidFill>
                  <a:srgbClr val="1A1918"/>
                </a:solidFill>
                <a:latin typeface="IBM Plex Sans" panose="020B0503050203000203" pitchFamily="34" charset="0"/>
                <a:sym typeface="Arial"/>
              </a:rPr>
              <a:t>31 Dec 2025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D182290B-B389-216B-C78E-8E993F7A4DA8}"/>
              </a:ext>
            </a:extLst>
          </p:cNvPr>
          <p:cNvSpPr/>
          <p:nvPr/>
        </p:nvSpPr>
        <p:spPr>
          <a:xfrm>
            <a:off x="732260" y="6067931"/>
            <a:ext cx="406400" cy="406400"/>
          </a:xfrm>
          <a:prstGeom prst="diamond">
            <a:avLst/>
          </a:prstGeom>
          <a:solidFill>
            <a:srgbClr val="FF0000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23360" hangingPunct="0"/>
            <a:endParaRPr lang="en-GB" sz="1333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F50B9F-E5D0-84BE-FBD7-42C028DDD52B}"/>
              </a:ext>
            </a:extLst>
          </p:cNvPr>
          <p:cNvSpPr txBox="1"/>
          <p:nvPr/>
        </p:nvSpPr>
        <p:spPr>
          <a:xfrm>
            <a:off x="325860" y="6474331"/>
            <a:ext cx="1219200" cy="406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21920" tIns="60960" rIns="121920" bIns="60960" numCol="1" spcCol="38100" rtlCol="0" anchor="t">
            <a:noAutofit/>
          </a:bodyPr>
          <a:lstStyle/>
          <a:p>
            <a:pPr defTabSz="623360" hangingPunct="0"/>
            <a:r>
              <a:rPr lang="en-GB" sz="1333">
                <a:solidFill>
                  <a:srgbClr val="1A1918"/>
                </a:solidFill>
                <a:latin typeface="IBM Plex Sans" panose="020B0503050203000203" pitchFamily="34" charset="0"/>
                <a:sym typeface="Arial"/>
              </a:rPr>
              <a:t>01 Dec 2025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FE7DF0BE-B8AA-3A69-BA45-A8213F9953F3}"/>
              </a:ext>
            </a:extLst>
          </p:cNvPr>
          <p:cNvSpPr/>
          <p:nvPr/>
        </p:nvSpPr>
        <p:spPr>
          <a:xfrm>
            <a:off x="10871200" y="6067931"/>
            <a:ext cx="406400" cy="406400"/>
          </a:xfrm>
          <a:prstGeom prst="diamond">
            <a:avLst/>
          </a:prstGeom>
          <a:solidFill>
            <a:srgbClr val="FF0000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23360" hangingPunct="0"/>
            <a:endParaRPr lang="en-GB" sz="1333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6048FC-DA2A-5156-2B82-72B3ED5B945B}"/>
              </a:ext>
            </a:extLst>
          </p:cNvPr>
          <p:cNvSpPr txBox="1"/>
          <p:nvPr/>
        </p:nvSpPr>
        <p:spPr>
          <a:xfrm>
            <a:off x="10464800" y="6474331"/>
            <a:ext cx="1219200" cy="406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21920" tIns="60960" rIns="121920" bIns="60960" numCol="1" spcCol="38100" rtlCol="0" anchor="t">
            <a:noAutofit/>
          </a:bodyPr>
          <a:lstStyle/>
          <a:p>
            <a:pPr defTabSz="623360" hangingPunct="0"/>
            <a:r>
              <a:rPr lang="en-GB" sz="1333">
                <a:solidFill>
                  <a:srgbClr val="1A1918"/>
                </a:solidFill>
                <a:latin typeface="IBM Plex Sans" panose="020B0503050203000203" pitchFamily="34" charset="0"/>
                <a:sym typeface="Arial"/>
              </a:rPr>
              <a:t>31 Dec 2026</a:t>
            </a:r>
          </a:p>
        </p:txBody>
      </p:sp>
      <p:pic>
        <p:nvPicPr>
          <p:cNvPr id="17" name="Graphic 16" descr="Arrow circle with solid fill">
            <a:extLst>
              <a:ext uri="{FF2B5EF4-FFF2-40B4-BE49-F238E27FC236}">
                <a16:creationId xmlns:a16="http://schemas.microsoft.com/office/drawing/2014/main" id="{BF8B47C4-B812-F2BD-1B68-6432F03F5E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39173" y="3512971"/>
            <a:ext cx="627228" cy="627228"/>
          </a:xfrm>
          <a:prstGeom prst="rect">
            <a:avLst/>
          </a:prstGeom>
        </p:spPr>
      </p:pic>
      <p:pic>
        <p:nvPicPr>
          <p:cNvPr id="19" name="Graphic 18" descr="Arrow circle with solid fill">
            <a:extLst>
              <a:ext uri="{FF2B5EF4-FFF2-40B4-BE49-F238E27FC236}">
                <a16:creationId xmlns:a16="http://schemas.microsoft.com/office/drawing/2014/main" id="{4BA14342-C377-E2BC-901F-BE1AC5B825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87973" y="3512973"/>
            <a:ext cx="627228" cy="62722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D266D70-A32C-BB0C-13DD-47661AF9981C}"/>
              </a:ext>
            </a:extLst>
          </p:cNvPr>
          <p:cNvSpPr txBox="1"/>
          <p:nvPr/>
        </p:nvSpPr>
        <p:spPr>
          <a:xfrm>
            <a:off x="588428" y="1130529"/>
            <a:ext cx="6929973" cy="1138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lang="en-US" sz="1200" b="1">
                <a:latin typeface="IBM Plex Sans" panose="020B0503050203000203" pitchFamily="34" charset="0"/>
                <a:sym typeface="Arial"/>
              </a:rPr>
              <a:t>Exec Sponsor</a:t>
            </a:r>
            <a:r>
              <a:rPr lang="en-US" sz="1200">
                <a:latin typeface="IBM Plex Sans" panose="020B0503050203000203" pitchFamily="34" charset="0"/>
                <a:sym typeface="Arial"/>
              </a:rPr>
              <a:t>: Anubhav Kothari</a:t>
            </a:r>
          </a:p>
          <a:p>
            <a:pPr>
              <a:spcBef>
                <a:spcPts val="800"/>
              </a:spcBef>
            </a:pPr>
            <a:r>
              <a:rPr lang="en-US" sz="1200" b="1">
                <a:latin typeface="IBM Plex Sans" panose="020B0503050203000203" pitchFamily="34" charset="0"/>
              </a:rPr>
              <a:t>Exec Team</a:t>
            </a:r>
            <a:r>
              <a:rPr lang="en-US" sz="1200">
                <a:latin typeface="IBM Plex Sans" panose="020B0503050203000203" pitchFamily="34" charset="0"/>
              </a:rPr>
              <a:t>: Surjit Das, Madhusudhan Deshmukh, Madhusmita Patil, Tanmay Ambre</a:t>
            </a:r>
            <a:endParaRPr lang="en-US" sz="1200" b="1">
              <a:latin typeface="IBM Plex Sans" panose="020B0503050203000203" pitchFamily="34" charset="0"/>
              <a:sym typeface="Arial"/>
            </a:endParaRPr>
          </a:p>
          <a:p>
            <a:pPr>
              <a:spcBef>
                <a:spcPts val="800"/>
              </a:spcBef>
            </a:pPr>
            <a:r>
              <a:rPr lang="en-US" sz="1200" b="1">
                <a:latin typeface="IBM Plex Sans" panose="020B0503050203000203" pitchFamily="34" charset="0"/>
              </a:rPr>
              <a:t>Project Manager</a:t>
            </a:r>
            <a:r>
              <a:rPr lang="en-US" sz="1200">
                <a:latin typeface="IBM Plex Sans" panose="020B0503050203000203" pitchFamily="34" charset="0"/>
              </a:rPr>
              <a:t>: Abhishek </a:t>
            </a:r>
            <a:r>
              <a:rPr lang="en-US" sz="1200" err="1">
                <a:latin typeface="IBM Plex Sans" panose="020B0503050203000203" pitchFamily="34" charset="0"/>
              </a:rPr>
              <a:t>Randev</a:t>
            </a:r>
            <a:endParaRPr lang="en-US" sz="1200">
              <a:latin typeface="IBM Plex Sans" panose="020B0503050203000203" pitchFamily="34" charset="0"/>
              <a:sym typeface="Arial"/>
            </a:endParaRPr>
          </a:p>
          <a:p>
            <a:pPr>
              <a:spcBef>
                <a:spcPts val="800"/>
              </a:spcBef>
            </a:pPr>
            <a:r>
              <a:rPr lang="en-US" sz="1200" b="1">
                <a:latin typeface="IBM Plex Sans" panose="020B0503050203000203" pitchFamily="34" charset="0"/>
                <a:sym typeface="Arial"/>
              </a:rPr>
              <a:t>Communications</a:t>
            </a:r>
            <a:r>
              <a:rPr lang="en-US" sz="1200">
                <a:latin typeface="IBM Plex Sans" panose="020B0503050203000203" pitchFamily="34" charset="0"/>
                <a:sym typeface="Arial"/>
              </a:rPr>
              <a:t>: Mahua Banerjee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4381C8-2983-6BF7-736F-BEE66961E698}"/>
              </a:ext>
            </a:extLst>
          </p:cNvPr>
          <p:cNvSpPr txBox="1"/>
          <p:nvPr/>
        </p:nvSpPr>
        <p:spPr>
          <a:xfrm>
            <a:off x="588427" y="699951"/>
            <a:ext cx="11213381" cy="406400"/>
          </a:xfrm>
          <a:prstGeom prst="rect">
            <a:avLst/>
          </a:prstGeom>
          <a:solidFill>
            <a:srgbClr val="0070C0"/>
          </a:solidFill>
        </p:spPr>
        <p:txBody>
          <a:bodyPr wrap="square" lIns="0" tIns="0" rIns="0" bIns="0" rtlCol="1" anchor="ctr">
            <a:noAutofit/>
          </a:bodyPr>
          <a:lstStyle/>
          <a:p>
            <a:r>
              <a:rPr lang="en-US" sz="1300" b="1">
                <a:solidFill>
                  <a:schemeClr val="bg1"/>
                </a:solidFill>
                <a:latin typeface="IBM Plex Sans"/>
              </a:rPr>
              <a:t>Objective: </a:t>
            </a:r>
            <a:r>
              <a:rPr lang="en-GB" sz="1300" i="1">
                <a:solidFill>
                  <a:schemeClr val="bg1"/>
                </a:solidFill>
                <a:latin typeface="IBM Plex Sans"/>
              </a:rPr>
              <a:t>build a solid hands-on team of AI practitioners (Engineers and Architects) – commoditize AI development</a:t>
            </a:r>
            <a:endParaRPr lang="ar-QA" sz="1300" b="1">
              <a:solidFill>
                <a:schemeClr val="bg1"/>
              </a:solidFill>
              <a:latin typeface="IBM Plex Sans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C24309-F273-F2C4-C9FB-E691AB9FD832}"/>
              </a:ext>
            </a:extLst>
          </p:cNvPr>
          <p:cNvSpPr txBox="1"/>
          <p:nvPr/>
        </p:nvSpPr>
        <p:spPr>
          <a:xfrm>
            <a:off x="588427" y="3225800"/>
            <a:ext cx="11213381" cy="302131"/>
          </a:xfrm>
          <a:prstGeom prst="rect">
            <a:avLst/>
          </a:prstGeom>
          <a:solidFill>
            <a:srgbClr val="0070C0"/>
          </a:solidFill>
        </p:spPr>
        <p:txBody>
          <a:bodyPr wrap="square" lIns="0" tIns="0" rIns="0" bIns="0" rtlCol="1" anchor="ctr">
            <a:noAutofit/>
          </a:bodyPr>
          <a:lstStyle/>
          <a:p>
            <a:pPr algn="ctr"/>
            <a:r>
              <a:rPr lang="en-US" sz="2133" b="1">
                <a:solidFill>
                  <a:schemeClr val="bg1"/>
                </a:solidFill>
                <a:latin typeface="IBM Plex Sans" panose="020B0503050203000203" pitchFamily="34" charset="0"/>
              </a:rPr>
              <a:t>Journey</a:t>
            </a:r>
            <a:endParaRPr lang="ar-QA" sz="2133" b="1" err="1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959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DF555-2B93-F4BA-AB0A-5033C1866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4E09B-D169-68ED-FC62-43F37EF79E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407" y="120954"/>
            <a:ext cx="8187892" cy="719197"/>
          </a:xfrm>
        </p:spPr>
        <p:txBody>
          <a:bodyPr>
            <a:normAutofit/>
          </a:bodyPr>
          <a:lstStyle/>
          <a:p>
            <a:pPr algn="l"/>
            <a:r>
              <a:rPr lang="en-IN" sz="3600" b="1">
                <a:latin typeface="Consolas" panose="020B0609020204030204" pitchFamily="49" charset="0"/>
              </a:rPr>
              <a:t>About Speakers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542258-7C46-D357-7F58-A8E4365C865F}"/>
              </a:ext>
            </a:extLst>
          </p:cNvPr>
          <p:cNvSpPr/>
          <p:nvPr/>
        </p:nvSpPr>
        <p:spPr>
          <a:xfrm>
            <a:off x="0" y="6361812"/>
            <a:ext cx="12192000" cy="496188"/>
          </a:xfrm>
          <a:prstGeom prst="rect">
            <a:avLst/>
          </a:prstGeom>
          <a:gradFill flip="none" rotWithShape="1">
            <a:gsLst>
              <a:gs pos="11000">
                <a:srgbClr val="0530AD"/>
              </a:gs>
              <a:gs pos="51000">
                <a:srgbClr val="00AEEF"/>
              </a:gs>
              <a:gs pos="81000">
                <a:srgbClr val="7030A0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1255D9F-71D2-08B9-879C-B9C72316FA08}"/>
              </a:ext>
            </a:extLst>
          </p:cNvPr>
          <p:cNvGrpSpPr/>
          <p:nvPr/>
        </p:nvGrpSpPr>
        <p:grpSpPr>
          <a:xfrm>
            <a:off x="11467538" y="283795"/>
            <a:ext cx="429384" cy="321996"/>
            <a:chOff x="4552645" y="3416817"/>
            <a:chExt cx="1948180" cy="1460945"/>
          </a:xfrm>
        </p:grpSpPr>
        <p:sp>
          <p:nvSpPr>
            <p:cNvPr id="8" name="object 27">
              <a:extLst>
                <a:ext uri="{FF2B5EF4-FFF2-40B4-BE49-F238E27FC236}">
                  <a16:creationId xmlns:a16="http://schemas.microsoft.com/office/drawing/2014/main" id="{8E176FC0-B4AA-76D7-AAE8-36BB2A4BBE0B}"/>
                </a:ext>
              </a:extLst>
            </p:cNvPr>
            <p:cNvSpPr/>
            <p:nvPr/>
          </p:nvSpPr>
          <p:spPr>
            <a:xfrm>
              <a:off x="5201831" y="4066015"/>
              <a:ext cx="649605" cy="487045"/>
            </a:xfrm>
            <a:custGeom>
              <a:avLst/>
              <a:gdLst/>
              <a:ahLst/>
              <a:cxnLst/>
              <a:rect l="l" t="t" r="r" b="b"/>
              <a:pathLst>
                <a:path w="649605" h="487045">
                  <a:moveTo>
                    <a:pt x="649198" y="324599"/>
                  </a:moveTo>
                  <a:lnTo>
                    <a:pt x="0" y="324599"/>
                  </a:lnTo>
                  <a:lnTo>
                    <a:pt x="0" y="486892"/>
                  </a:lnTo>
                  <a:lnTo>
                    <a:pt x="649198" y="486892"/>
                  </a:lnTo>
                  <a:lnTo>
                    <a:pt x="649198" y="324599"/>
                  </a:lnTo>
                  <a:close/>
                </a:path>
                <a:path w="649605" h="487045">
                  <a:moveTo>
                    <a:pt x="649198" y="0"/>
                  </a:moveTo>
                  <a:lnTo>
                    <a:pt x="0" y="0"/>
                  </a:lnTo>
                  <a:lnTo>
                    <a:pt x="0" y="162293"/>
                  </a:lnTo>
                  <a:lnTo>
                    <a:pt x="649198" y="162293"/>
                  </a:lnTo>
                  <a:lnTo>
                    <a:pt x="6491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28">
              <a:extLst>
                <a:ext uri="{FF2B5EF4-FFF2-40B4-BE49-F238E27FC236}">
                  <a16:creationId xmlns:a16="http://schemas.microsoft.com/office/drawing/2014/main" id="{1327AD32-A60C-D521-FF02-83D6E693D12D}"/>
                </a:ext>
              </a:extLst>
            </p:cNvPr>
            <p:cNvSpPr/>
            <p:nvPr/>
          </p:nvSpPr>
          <p:spPr>
            <a:xfrm>
              <a:off x="4552645" y="3416817"/>
              <a:ext cx="1948180" cy="1136650"/>
            </a:xfrm>
            <a:custGeom>
              <a:avLst/>
              <a:gdLst/>
              <a:ahLst/>
              <a:cxnLst/>
              <a:rect l="l" t="t" r="r" b="b"/>
              <a:pathLst>
                <a:path w="1948180" h="1136650">
                  <a:moveTo>
                    <a:pt x="649198" y="446328"/>
                  </a:moveTo>
                  <a:lnTo>
                    <a:pt x="152082" y="666991"/>
                  </a:lnTo>
                  <a:lnTo>
                    <a:pt x="109855" y="689152"/>
                  </a:lnTo>
                  <a:lnTo>
                    <a:pt x="73012" y="718858"/>
                  </a:lnTo>
                  <a:lnTo>
                    <a:pt x="42595" y="755065"/>
                  </a:lnTo>
                  <a:lnTo>
                    <a:pt x="19608" y="796785"/>
                  </a:lnTo>
                  <a:lnTo>
                    <a:pt x="5067" y="842975"/>
                  </a:lnTo>
                  <a:lnTo>
                    <a:pt x="0" y="892644"/>
                  </a:lnTo>
                  <a:lnTo>
                    <a:pt x="4940" y="941705"/>
                  </a:lnTo>
                  <a:lnTo>
                    <a:pt x="19126" y="987399"/>
                  </a:lnTo>
                  <a:lnTo>
                    <a:pt x="41579" y="1028763"/>
                  </a:lnTo>
                  <a:lnTo>
                    <a:pt x="71297" y="1064793"/>
                  </a:lnTo>
                  <a:lnTo>
                    <a:pt x="107327" y="1094511"/>
                  </a:lnTo>
                  <a:lnTo>
                    <a:pt x="148678" y="1116965"/>
                  </a:lnTo>
                  <a:lnTo>
                    <a:pt x="194386" y="1131150"/>
                  </a:lnTo>
                  <a:lnTo>
                    <a:pt x="243446" y="1136091"/>
                  </a:lnTo>
                  <a:lnTo>
                    <a:pt x="296456" y="1130312"/>
                  </a:lnTo>
                  <a:lnTo>
                    <a:pt x="345414" y="1113777"/>
                  </a:lnTo>
                  <a:lnTo>
                    <a:pt x="389077" y="1087742"/>
                  </a:lnTo>
                  <a:lnTo>
                    <a:pt x="426224" y="1053452"/>
                  </a:lnTo>
                  <a:lnTo>
                    <a:pt x="455587" y="1012151"/>
                  </a:lnTo>
                  <a:lnTo>
                    <a:pt x="475932" y="965073"/>
                  </a:lnTo>
                  <a:lnTo>
                    <a:pt x="649198" y="446328"/>
                  </a:lnTo>
                  <a:close/>
                </a:path>
                <a:path w="1948180" h="1136650">
                  <a:moveTo>
                    <a:pt x="933208" y="142011"/>
                  </a:moveTo>
                  <a:lnTo>
                    <a:pt x="925969" y="97129"/>
                  </a:lnTo>
                  <a:lnTo>
                    <a:pt x="905814" y="58140"/>
                  </a:lnTo>
                  <a:lnTo>
                    <a:pt x="875068" y="27393"/>
                  </a:lnTo>
                  <a:lnTo>
                    <a:pt x="836091" y="7239"/>
                  </a:lnTo>
                  <a:lnTo>
                    <a:pt x="791197" y="0"/>
                  </a:lnTo>
                  <a:lnTo>
                    <a:pt x="746315" y="7239"/>
                  </a:lnTo>
                  <a:lnTo>
                    <a:pt x="707326" y="27393"/>
                  </a:lnTo>
                  <a:lnTo>
                    <a:pt x="676592" y="58140"/>
                  </a:lnTo>
                  <a:lnTo>
                    <a:pt x="656424" y="97129"/>
                  </a:lnTo>
                  <a:lnTo>
                    <a:pt x="649185" y="142011"/>
                  </a:lnTo>
                  <a:lnTo>
                    <a:pt x="656424" y="186893"/>
                  </a:lnTo>
                  <a:lnTo>
                    <a:pt x="676592" y="225882"/>
                  </a:lnTo>
                  <a:lnTo>
                    <a:pt x="707326" y="256628"/>
                  </a:lnTo>
                  <a:lnTo>
                    <a:pt x="746315" y="276783"/>
                  </a:lnTo>
                  <a:lnTo>
                    <a:pt x="791197" y="284035"/>
                  </a:lnTo>
                  <a:lnTo>
                    <a:pt x="836091" y="276783"/>
                  </a:lnTo>
                  <a:lnTo>
                    <a:pt x="875068" y="256628"/>
                  </a:lnTo>
                  <a:lnTo>
                    <a:pt x="905814" y="225882"/>
                  </a:lnTo>
                  <a:lnTo>
                    <a:pt x="925969" y="186893"/>
                  </a:lnTo>
                  <a:lnTo>
                    <a:pt x="933208" y="142011"/>
                  </a:lnTo>
                  <a:close/>
                </a:path>
                <a:path w="1948180" h="1136650">
                  <a:moveTo>
                    <a:pt x="1257808" y="486892"/>
                  </a:moveTo>
                  <a:lnTo>
                    <a:pt x="1230706" y="447370"/>
                  </a:lnTo>
                  <a:lnTo>
                    <a:pt x="1197965" y="412305"/>
                  </a:lnTo>
                  <a:lnTo>
                    <a:pt x="1160284" y="382295"/>
                  </a:lnTo>
                  <a:lnTo>
                    <a:pt x="1118323" y="357936"/>
                  </a:lnTo>
                  <a:lnTo>
                    <a:pt x="1072807" y="339813"/>
                  </a:lnTo>
                  <a:lnTo>
                    <a:pt x="1024394" y="328498"/>
                  </a:lnTo>
                  <a:lnTo>
                    <a:pt x="973785" y="324599"/>
                  </a:lnTo>
                  <a:lnTo>
                    <a:pt x="923175" y="328498"/>
                  </a:lnTo>
                  <a:lnTo>
                    <a:pt x="874763" y="339813"/>
                  </a:lnTo>
                  <a:lnTo>
                    <a:pt x="829246" y="357936"/>
                  </a:lnTo>
                  <a:lnTo>
                    <a:pt x="787298" y="382295"/>
                  </a:lnTo>
                  <a:lnTo>
                    <a:pt x="749604" y="412305"/>
                  </a:lnTo>
                  <a:lnTo>
                    <a:pt x="716864" y="447370"/>
                  </a:lnTo>
                  <a:lnTo>
                    <a:pt x="689762" y="486892"/>
                  </a:lnTo>
                  <a:lnTo>
                    <a:pt x="1257808" y="486892"/>
                  </a:lnTo>
                  <a:close/>
                </a:path>
                <a:path w="1948180" h="1136650">
                  <a:moveTo>
                    <a:pt x="1298384" y="142011"/>
                  </a:moveTo>
                  <a:lnTo>
                    <a:pt x="1291145" y="97129"/>
                  </a:lnTo>
                  <a:lnTo>
                    <a:pt x="1270990" y="58140"/>
                  </a:lnTo>
                  <a:lnTo>
                    <a:pt x="1240243" y="27393"/>
                  </a:lnTo>
                  <a:lnTo>
                    <a:pt x="1201267" y="7239"/>
                  </a:lnTo>
                  <a:lnTo>
                    <a:pt x="1156373" y="0"/>
                  </a:lnTo>
                  <a:lnTo>
                    <a:pt x="1111491" y="7239"/>
                  </a:lnTo>
                  <a:lnTo>
                    <a:pt x="1072502" y="27393"/>
                  </a:lnTo>
                  <a:lnTo>
                    <a:pt x="1041755" y="58140"/>
                  </a:lnTo>
                  <a:lnTo>
                    <a:pt x="1021600" y="97129"/>
                  </a:lnTo>
                  <a:lnTo>
                    <a:pt x="1014361" y="142011"/>
                  </a:lnTo>
                  <a:lnTo>
                    <a:pt x="1021600" y="186893"/>
                  </a:lnTo>
                  <a:lnTo>
                    <a:pt x="1041755" y="225882"/>
                  </a:lnTo>
                  <a:lnTo>
                    <a:pt x="1072502" y="256628"/>
                  </a:lnTo>
                  <a:lnTo>
                    <a:pt x="1111491" y="276783"/>
                  </a:lnTo>
                  <a:lnTo>
                    <a:pt x="1156373" y="284035"/>
                  </a:lnTo>
                  <a:lnTo>
                    <a:pt x="1201267" y="276783"/>
                  </a:lnTo>
                  <a:lnTo>
                    <a:pt x="1240243" y="256628"/>
                  </a:lnTo>
                  <a:lnTo>
                    <a:pt x="1270990" y="225882"/>
                  </a:lnTo>
                  <a:lnTo>
                    <a:pt x="1291145" y="186893"/>
                  </a:lnTo>
                  <a:lnTo>
                    <a:pt x="1298384" y="142011"/>
                  </a:lnTo>
                  <a:close/>
                </a:path>
                <a:path w="1948180" h="1136650">
                  <a:moveTo>
                    <a:pt x="1947570" y="892644"/>
                  </a:moveTo>
                  <a:lnTo>
                    <a:pt x="1942503" y="842975"/>
                  </a:lnTo>
                  <a:lnTo>
                    <a:pt x="1927961" y="796785"/>
                  </a:lnTo>
                  <a:lnTo>
                    <a:pt x="1904974" y="755065"/>
                  </a:lnTo>
                  <a:lnTo>
                    <a:pt x="1874558" y="718858"/>
                  </a:lnTo>
                  <a:lnTo>
                    <a:pt x="1837728" y="689152"/>
                  </a:lnTo>
                  <a:lnTo>
                    <a:pt x="1795500" y="666991"/>
                  </a:lnTo>
                  <a:lnTo>
                    <a:pt x="1298384" y="446328"/>
                  </a:lnTo>
                  <a:lnTo>
                    <a:pt x="1471637" y="965073"/>
                  </a:lnTo>
                  <a:lnTo>
                    <a:pt x="1491983" y="1012151"/>
                  </a:lnTo>
                  <a:lnTo>
                    <a:pt x="1521345" y="1053452"/>
                  </a:lnTo>
                  <a:lnTo>
                    <a:pt x="1558493" y="1087742"/>
                  </a:lnTo>
                  <a:lnTo>
                    <a:pt x="1602168" y="1113777"/>
                  </a:lnTo>
                  <a:lnTo>
                    <a:pt x="1651127" y="1130312"/>
                  </a:lnTo>
                  <a:lnTo>
                    <a:pt x="1704124" y="1136091"/>
                  </a:lnTo>
                  <a:lnTo>
                    <a:pt x="1753196" y="1131150"/>
                  </a:lnTo>
                  <a:lnTo>
                    <a:pt x="1798891" y="1116965"/>
                  </a:lnTo>
                  <a:lnTo>
                    <a:pt x="1840242" y="1094511"/>
                  </a:lnTo>
                  <a:lnTo>
                    <a:pt x="1876272" y="1064793"/>
                  </a:lnTo>
                  <a:lnTo>
                    <a:pt x="1906003" y="1028763"/>
                  </a:lnTo>
                  <a:lnTo>
                    <a:pt x="1928444" y="987399"/>
                  </a:lnTo>
                  <a:lnTo>
                    <a:pt x="1942630" y="941705"/>
                  </a:lnTo>
                  <a:lnTo>
                    <a:pt x="1947570" y="892644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29">
              <a:extLst>
                <a:ext uri="{FF2B5EF4-FFF2-40B4-BE49-F238E27FC236}">
                  <a16:creationId xmlns:a16="http://schemas.microsoft.com/office/drawing/2014/main" id="{0091C7FB-3042-E24F-ACD2-B7DEB59AD470}"/>
                </a:ext>
              </a:extLst>
            </p:cNvPr>
            <p:cNvSpPr/>
            <p:nvPr/>
          </p:nvSpPr>
          <p:spPr>
            <a:xfrm>
              <a:off x="5242415" y="4715202"/>
              <a:ext cx="568325" cy="162560"/>
            </a:xfrm>
            <a:custGeom>
              <a:avLst/>
              <a:gdLst/>
              <a:ahLst/>
              <a:cxnLst/>
              <a:rect l="l" t="t" r="r" b="b"/>
              <a:pathLst>
                <a:path w="568325" h="162559">
                  <a:moveTo>
                    <a:pt x="568045" y="0"/>
                  </a:moveTo>
                  <a:lnTo>
                    <a:pt x="0" y="0"/>
                  </a:lnTo>
                  <a:lnTo>
                    <a:pt x="27104" y="39530"/>
                  </a:lnTo>
                  <a:lnTo>
                    <a:pt x="59843" y="74592"/>
                  </a:lnTo>
                  <a:lnTo>
                    <a:pt x="97531" y="104598"/>
                  </a:lnTo>
                  <a:lnTo>
                    <a:pt x="139480" y="128959"/>
                  </a:lnTo>
                  <a:lnTo>
                    <a:pt x="185002" y="147089"/>
                  </a:lnTo>
                  <a:lnTo>
                    <a:pt x="233412" y="158398"/>
                  </a:lnTo>
                  <a:lnTo>
                    <a:pt x="284022" y="162298"/>
                  </a:lnTo>
                  <a:lnTo>
                    <a:pt x="334632" y="158398"/>
                  </a:lnTo>
                  <a:lnTo>
                    <a:pt x="383042" y="147089"/>
                  </a:lnTo>
                  <a:lnTo>
                    <a:pt x="428565" y="128959"/>
                  </a:lnTo>
                  <a:lnTo>
                    <a:pt x="470514" y="104598"/>
                  </a:lnTo>
                  <a:lnTo>
                    <a:pt x="508201" y="74592"/>
                  </a:lnTo>
                  <a:lnTo>
                    <a:pt x="540941" y="39530"/>
                  </a:lnTo>
                  <a:lnTo>
                    <a:pt x="568045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1560AA6-C334-17FB-F90D-65BD123C368D}"/>
              </a:ext>
            </a:extLst>
          </p:cNvPr>
          <p:cNvSpPr txBox="1"/>
          <p:nvPr/>
        </p:nvSpPr>
        <p:spPr>
          <a:xfrm>
            <a:off x="7660922" y="1295347"/>
            <a:ext cx="438432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err="1">
                <a:latin typeface="Consolas" panose="020B0609020204030204" pitchFamily="49" charset="0"/>
              </a:rPr>
              <a:t>Uddaishya</a:t>
            </a:r>
            <a:r>
              <a:rPr lang="en-US" sz="1600">
                <a:latin typeface="Consolas" panose="020B0609020204030204" pitchFamily="49" charset="0"/>
              </a:rPr>
              <a:t> </a:t>
            </a:r>
          </a:p>
          <a:p>
            <a:r>
              <a:rPr lang="en-US" sz="1600">
                <a:latin typeface="Consolas" panose="020B0609020204030204" pitchFamily="49" charset="0"/>
              </a:rPr>
              <a:t>GenAI innovator and Big Data developer at Barclays Account, </a:t>
            </a:r>
            <a:r>
              <a:rPr lang="en-IN" sz="1600">
                <a:latin typeface="Consolas" panose="020B0609020204030204" pitchFamily="49" charset="0"/>
              </a:rPr>
              <a:t>Driving Agentic GenAI Solutions &amp; Enterprise-Scale Automation</a:t>
            </a:r>
            <a:endParaRPr lang="en-US" sz="1600">
              <a:latin typeface="Consolas" panose="020B0609020204030204" pitchFamily="49" charset="0"/>
            </a:endParaRPr>
          </a:p>
          <a:p>
            <a:r>
              <a:rPr lang="en-US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EB856B-EA8C-AA5A-D76C-23E5D2953A10}"/>
              </a:ext>
            </a:extLst>
          </p:cNvPr>
          <p:cNvSpPr txBox="1"/>
          <p:nvPr/>
        </p:nvSpPr>
        <p:spPr>
          <a:xfrm>
            <a:off x="7528145" y="3987159"/>
            <a:ext cx="44567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err="1">
                <a:latin typeface="Consolas" panose="020B0609020204030204" pitchFamily="49" charset="0"/>
              </a:rPr>
              <a:t>Krishnaprasath</a:t>
            </a:r>
            <a:r>
              <a:rPr lang="en-IN" sz="1600" b="1">
                <a:latin typeface="Consolas" panose="020B0609020204030204" pitchFamily="49" charset="0"/>
              </a:rPr>
              <a:t> Nagarajan</a:t>
            </a:r>
          </a:p>
          <a:p>
            <a:r>
              <a:rPr lang="en-IN" sz="1600">
                <a:latin typeface="Consolas" panose="020B0609020204030204" pitchFamily="49" charset="0"/>
              </a:rPr>
              <a:t>Senior Full Stack Developer , GenAI –Python Developer at Barclays Account</a:t>
            </a:r>
            <a:endParaRPr lang="en-US" sz="1600">
              <a:latin typeface="Consolas" panose="020B060902020403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713531-5018-475F-9F7D-A4CB5BD2BA71}"/>
              </a:ext>
            </a:extLst>
          </p:cNvPr>
          <p:cNvCxnSpPr>
            <a:cxnSpLocks/>
          </p:cNvCxnSpPr>
          <p:nvPr/>
        </p:nvCxnSpPr>
        <p:spPr>
          <a:xfrm>
            <a:off x="5527515" y="1692040"/>
            <a:ext cx="0" cy="44800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0E737CB-F381-1767-E776-6C60AE95120E}"/>
              </a:ext>
            </a:extLst>
          </p:cNvPr>
          <p:cNvCxnSpPr/>
          <p:nvPr/>
        </p:nvCxnSpPr>
        <p:spPr>
          <a:xfrm>
            <a:off x="5529521" y="3837818"/>
            <a:ext cx="6515723" cy="326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EBBE895-7C34-951B-7F12-1C2A698F8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8745" y="1404328"/>
            <a:ext cx="1789397" cy="19715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72F6ED-EFE6-4930-1762-D0EA56CA9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954" y="3982121"/>
            <a:ext cx="1658781" cy="15838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17FA25F-E1ED-35BF-324F-ADCC0ADCB436}"/>
              </a:ext>
            </a:extLst>
          </p:cNvPr>
          <p:cNvSpPr txBox="1"/>
          <p:nvPr/>
        </p:nvSpPr>
        <p:spPr>
          <a:xfrm>
            <a:off x="7637365" y="2792713"/>
            <a:ext cx="434757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b="1" i="0" u="none" strike="noStrike">
                <a:solidFill>
                  <a:srgbClr val="242424"/>
                </a:solidFill>
                <a:effectLst/>
                <a:latin typeface="sohne"/>
                <a:hlinkClick r:id="rId4"/>
              </a:rPr>
              <a:t>Model Context Protocol (MCP): The Universal Standard for GenAI Integration</a:t>
            </a:r>
            <a:endParaRPr lang="en-IN" sz="1100" b="1" i="0">
              <a:solidFill>
                <a:srgbClr val="242424"/>
              </a:solidFill>
              <a:effectLst/>
              <a:latin typeface="so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i="0" u="none" strike="noStrike">
                <a:solidFill>
                  <a:srgbClr val="242424"/>
                </a:solidFill>
                <a:effectLst/>
                <a:latin typeface="sohne"/>
                <a:hlinkClick r:id="rId5"/>
              </a:rPr>
              <a:t>Unlocking Efficiency: How Mixture of Experts Models Revolutionize Task Specialization</a:t>
            </a:r>
            <a:endParaRPr lang="en-US" sz="1100" b="1" i="0">
              <a:solidFill>
                <a:srgbClr val="242424"/>
              </a:solidFill>
              <a:effectLst/>
              <a:latin typeface="sohne"/>
            </a:endParaRPr>
          </a:p>
        </p:txBody>
      </p:sp>
      <p:pic>
        <p:nvPicPr>
          <p:cNvPr id="3" name="Picture 2" descr="Siddhartha Bhattacharya Profile Image">
            <a:extLst>
              <a:ext uri="{FF2B5EF4-FFF2-40B4-BE49-F238E27FC236}">
                <a16:creationId xmlns:a16="http://schemas.microsoft.com/office/drawing/2014/main" id="{B92E9B14-E7A0-5142-3BBD-18FEF9A71A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57" y="1404258"/>
            <a:ext cx="1719944" cy="177437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FFC5D3-CF71-9EE5-88C9-77407642710A}"/>
              </a:ext>
            </a:extLst>
          </p:cNvPr>
          <p:cNvSpPr txBox="1"/>
          <p:nvPr/>
        </p:nvSpPr>
        <p:spPr>
          <a:xfrm>
            <a:off x="2292116" y="1298387"/>
            <a:ext cx="318316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600" b="1" dirty="0">
                <a:latin typeface="Consolas"/>
              </a:rPr>
              <a:t>Siddhartha Bhattacharya</a:t>
            </a:r>
            <a:endParaRPr lang="en-IN" sz="1600" b="1" dirty="0">
              <a:latin typeface="Consolas" panose="020B0609020204030204" pitchFamily="49" charset="0"/>
            </a:endParaRPr>
          </a:p>
          <a:p>
            <a:r>
              <a:rPr lang="en-IN" sz="1600" dirty="0">
                <a:latin typeface="Consolas"/>
              </a:rPr>
              <a:t>Executive Architect</a:t>
            </a:r>
          </a:p>
          <a:p>
            <a:r>
              <a:rPr lang="en-IN" sz="1600" dirty="0">
                <a:latin typeface="Consolas"/>
              </a:rPr>
              <a:t>Nationwide, Barclays</a:t>
            </a:r>
            <a:endParaRPr lang="en-IN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122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04D01-3164-82A9-59E1-CA3A646D1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76" y="149601"/>
            <a:ext cx="10515600" cy="315912"/>
          </a:xfrm>
        </p:spPr>
        <p:txBody>
          <a:bodyPr>
            <a:noAutofit/>
          </a:bodyPr>
          <a:lstStyle/>
          <a:p>
            <a:r>
              <a:rPr lang="en-US" sz="2400" dirty="0"/>
              <a:t>Sidd’s Generative AI Journey</a:t>
            </a:r>
          </a:p>
        </p:txBody>
      </p: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F3D0BC21-9DAC-F373-EBF7-78F49CF7B0F8}"/>
              </a:ext>
            </a:extLst>
          </p:cNvPr>
          <p:cNvGraphicFramePr>
            <a:graphicFrameLocks noGrp="1"/>
          </p:cNvGraphicFramePr>
          <p:nvPr/>
        </p:nvGraphicFramePr>
        <p:xfrm>
          <a:off x="187174" y="664874"/>
          <a:ext cx="10534064" cy="1810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051">
                  <a:extLst>
                    <a:ext uri="{9D8B030D-6E8A-4147-A177-3AD203B41FA5}">
                      <a16:colId xmlns:a16="http://schemas.microsoft.com/office/drawing/2014/main" val="2993309350"/>
                    </a:ext>
                  </a:extLst>
                </a:gridCol>
                <a:gridCol w="1356852">
                  <a:extLst>
                    <a:ext uri="{9D8B030D-6E8A-4147-A177-3AD203B41FA5}">
                      <a16:colId xmlns:a16="http://schemas.microsoft.com/office/drawing/2014/main" val="3942180157"/>
                    </a:ext>
                  </a:extLst>
                </a:gridCol>
                <a:gridCol w="1396181">
                  <a:extLst>
                    <a:ext uri="{9D8B030D-6E8A-4147-A177-3AD203B41FA5}">
                      <a16:colId xmlns:a16="http://schemas.microsoft.com/office/drawing/2014/main" val="304112962"/>
                    </a:ext>
                  </a:extLst>
                </a:gridCol>
                <a:gridCol w="1460948">
                  <a:extLst>
                    <a:ext uri="{9D8B030D-6E8A-4147-A177-3AD203B41FA5}">
                      <a16:colId xmlns:a16="http://schemas.microsoft.com/office/drawing/2014/main" val="1342936156"/>
                    </a:ext>
                  </a:extLst>
                </a:gridCol>
                <a:gridCol w="1744368">
                  <a:extLst>
                    <a:ext uri="{9D8B030D-6E8A-4147-A177-3AD203B41FA5}">
                      <a16:colId xmlns:a16="http://schemas.microsoft.com/office/drawing/2014/main" val="324883820"/>
                    </a:ext>
                  </a:extLst>
                </a:gridCol>
                <a:gridCol w="1617549">
                  <a:extLst>
                    <a:ext uri="{9D8B030D-6E8A-4147-A177-3AD203B41FA5}">
                      <a16:colId xmlns:a16="http://schemas.microsoft.com/office/drawing/2014/main" val="1490671355"/>
                    </a:ext>
                  </a:extLst>
                </a:gridCol>
                <a:gridCol w="1627115">
                  <a:extLst>
                    <a:ext uri="{9D8B030D-6E8A-4147-A177-3AD203B41FA5}">
                      <a16:colId xmlns:a16="http://schemas.microsoft.com/office/drawing/2014/main" val="1751126606"/>
                    </a:ext>
                  </a:extLst>
                </a:gridCol>
              </a:tblGrid>
              <a:tr h="256313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Learning themes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14480"/>
                  </a:ext>
                </a:extLst>
              </a:tr>
              <a:tr h="553037">
                <a:tc>
                  <a:txBody>
                    <a:bodyPr/>
                    <a:lstStyle/>
                    <a:p>
                      <a:r>
                        <a:rPr lang="en-US" sz="1050" dirty="0"/>
                        <a:t>Tools &amp; Techniques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Prompt </a:t>
                      </a:r>
                      <a:r>
                        <a:rPr lang="en-US" sz="1050" dirty="0" err="1"/>
                        <a:t>Engg</a:t>
                      </a:r>
                      <a:endParaRPr lang="en-US" sz="105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Assistant SDKs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RAG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Function Calling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Fine Tuning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IBM Tech &amp; ICA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Agent Frameworks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Multimodal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Graph RAG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Agentic Orchestration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MCP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IBM R,T&amp;C adoption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Memory &amp; Context </a:t>
                      </a:r>
                      <a:r>
                        <a:rPr lang="en-US" sz="1050" dirty="0" err="1"/>
                        <a:t>Mgmt</a:t>
                      </a:r>
                      <a:endParaRPr lang="en-US" sz="105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Assistants &amp; Spec Driven Dev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212268"/>
                  </a:ext>
                </a:extLst>
              </a:tr>
              <a:tr h="309701">
                <a:tc>
                  <a:txBody>
                    <a:bodyPr/>
                    <a:lstStyle/>
                    <a:p>
                      <a:r>
                        <a:rPr lang="en-US" sz="1050" dirty="0"/>
                        <a:t>Integration &amp; Governance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Traceability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APIs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Databases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Evaluations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Feedback Loop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Value Realization &amp; Outcome Management</a:t>
                      </a:r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Enterprise AI and tool management policies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Explainability, Auditability &amp; Drift management 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174027"/>
                  </a:ext>
                </a:extLst>
              </a:tr>
              <a:tr h="309701">
                <a:tc>
                  <a:txBody>
                    <a:bodyPr/>
                    <a:lstStyle/>
                    <a:p>
                      <a:r>
                        <a:rPr lang="en-US" sz="1050" dirty="0"/>
                        <a:t>Deployment &amp; Security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Local (Docker)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Performance Engineering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dirty="0"/>
                        <a:t>LLM and Agent Ops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Agent Fallback</a:t>
                      </a:r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Data Governance &amp; Synthetic Data Mgmt.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/>
                        <a:t>Hyperscaler aligned deployment patterns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6557"/>
                  </a:ext>
                </a:extLst>
              </a:tr>
            </a:tbl>
          </a:graphicData>
        </a:graphic>
      </p:graphicFrame>
      <p:sp>
        <p:nvSpPr>
          <p:cNvPr id="98" name="TextBox 97">
            <a:extLst>
              <a:ext uri="{FF2B5EF4-FFF2-40B4-BE49-F238E27FC236}">
                <a16:creationId xmlns:a16="http://schemas.microsoft.com/office/drawing/2014/main" id="{281E7F0B-8D58-E272-AB53-BCE435BC82E8}"/>
              </a:ext>
            </a:extLst>
          </p:cNvPr>
          <p:cNvSpPr txBox="1"/>
          <p:nvPr/>
        </p:nvSpPr>
        <p:spPr>
          <a:xfrm>
            <a:off x="1577566" y="6204394"/>
            <a:ext cx="30430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2023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D01F746-59CA-1D3F-8C42-752D6D624F1A}"/>
              </a:ext>
            </a:extLst>
          </p:cNvPr>
          <p:cNvSpPr txBox="1"/>
          <p:nvPr/>
        </p:nvSpPr>
        <p:spPr>
          <a:xfrm>
            <a:off x="4614967" y="6210277"/>
            <a:ext cx="30430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2024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A19DE70-21B5-5E18-2C82-A1BC31E2EE82}"/>
              </a:ext>
            </a:extLst>
          </p:cNvPr>
          <p:cNvGrpSpPr/>
          <p:nvPr/>
        </p:nvGrpSpPr>
        <p:grpSpPr>
          <a:xfrm>
            <a:off x="1334627" y="3176107"/>
            <a:ext cx="11122844" cy="3248189"/>
            <a:chOff x="666033" y="2991208"/>
            <a:chExt cx="11952394" cy="3792174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5EE8304-74DF-3675-FE8D-AB165B6DD46E}"/>
                </a:ext>
              </a:extLst>
            </p:cNvPr>
            <p:cNvSpPr txBox="1"/>
            <p:nvPr/>
          </p:nvSpPr>
          <p:spPr>
            <a:xfrm rot="2352800">
              <a:off x="10292514" y="5183013"/>
              <a:ext cx="2325913" cy="485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/>
                <a:t>Patent Submission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/>
                <a:t>Practice enablement</a:t>
              </a:r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54474640-ECA9-CC73-940A-18469F09147F}"/>
                </a:ext>
              </a:extLst>
            </p:cNvPr>
            <p:cNvGrpSpPr/>
            <p:nvPr/>
          </p:nvGrpSpPr>
          <p:grpSpPr>
            <a:xfrm>
              <a:off x="666033" y="2991208"/>
              <a:ext cx="10907914" cy="3792174"/>
              <a:chOff x="666033" y="2991208"/>
              <a:chExt cx="10907914" cy="3792174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638812A7-DAF4-5186-046B-206902296E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5882" y="6499122"/>
                <a:ext cx="9772399" cy="25913"/>
              </a:xfrm>
              <a:prstGeom prst="line">
                <a:avLst/>
              </a:prstGeom>
              <a:ln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972FFB2C-9481-55EA-D5FC-837E934AD8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5882" y="6359618"/>
                <a:ext cx="0" cy="2869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05D7C69B-9D6B-A9AF-AD95-642A08ED3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3348" y="6359618"/>
                <a:ext cx="0" cy="27715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2023E9F1-C612-2E8E-4B80-A8C3D02C0D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50814" y="6359618"/>
                <a:ext cx="0" cy="27715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463FB7C6-F156-B82D-430E-FCFDD74046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08281" y="6338041"/>
                <a:ext cx="0" cy="27715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23968AFB-6277-C57A-29C6-9A86727F6BEE}"/>
                  </a:ext>
                </a:extLst>
              </p:cNvPr>
              <p:cNvCxnSpPr>
                <a:cxnSpLocks/>
                <a:stCxn id="25" idx="2"/>
                <a:endCxn id="76" idx="6"/>
              </p:cNvCxnSpPr>
              <p:nvPr/>
            </p:nvCxnSpPr>
            <p:spPr>
              <a:xfrm flipV="1">
                <a:off x="837562" y="4426480"/>
                <a:ext cx="9900215" cy="17696"/>
              </a:xfrm>
              <a:prstGeom prst="line">
                <a:avLst/>
              </a:prstGeom>
              <a:ln w="4445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AFA178A8-034F-27B4-2777-D787DA6AB305}"/>
                  </a:ext>
                </a:extLst>
              </p:cNvPr>
              <p:cNvGrpSpPr/>
              <p:nvPr/>
            </p:nvGrpSpPr>
            <p:grpSpPr>
              <a:xfrm>
                <a:off x="783562" y="4264176"/>
                <a:ext cx="360000" cy="360000"/>
                <a:chOff x="1838631" y="1380136"/>
                <a:chExt cx="360000" cy="36000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3C376990-5DA4-94E3-28C6-8F3F00B400F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38631" y="1380136"/>
                  <a:ext cx="360000" cy="3600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6C01E00A-3BE0-51CF-CB05-BC19454A38A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92631" y="1434136"/>
                  <a:ext cx="251999" cy="25199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" dirty="0"/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899BF4BE-3825-9A7B-CFA1-627F4423A10D}"/>
                  </a:ext>
                </a:extLst>
              </p:cNvPr>
              <p:cNvGrpSpPr/>
              <p:nvPr/>
            </p:nvGrpSpPr>
            <p:grpSpPr>
              <a:xfrm>
                <a:off x="1860195" y="4264175"/>
                <a:ext cx="360000" cy="360000"/>
                <a:chOff x="1838631" y="1380136"/>
                <a:chExt cx="360000" cy="360000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7875B013-A3A3-51A0-B4C5-855EBC2B186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38631" y="1380136"/>
                  <a:ext cx="360000" cy="3600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3C3A4010-331D-4879-EA32-B492CCAC1F9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92631" y="1434136"/>
                  <a:ext cx="251999" cy="25199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" dirty="0"/>
                </a:p>
              </p:txBody>
            </p:sp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2805D20-62BB-7E6B-00F5-C5BEF3976384}"/>
                  </a:ext>
                </a:extLst>
              </p:cNvPr>
              <p:cNvSpPr txBox="1"/>
              <p:nvPr/>
            </p:nvSpPr>
            <p:spPr>
              <a:xfrm rot="19201730">
                <a:off x="666033" y="3205668"/>
                <a:ext cx="2049499" cy="485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Early encounters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Assistant </a:t>
                </a:r>
                <a:r>
                  <a:rPr lang="en-US" sz="1000" dirty="0" err="1"/>
                  <a:t>PoCs</a:t>
                </a:r>
                <a:endParaRPr lang="en-US" sz="1000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A1EE3CB-2DF2-9C31-2F82-42DC3438E488}"/>
                  </a:ext>
                </a:extLst>
              </p:cNvPr>
              <p:cNvSpPr txBox="1"/>
              <p:nvPr/>
            </p:nvSpPr>
            <p:spPr>
              <a:xfrm rot="2415757">
                <a:off x="1667565" y="5243872"/>
                <a:ext cx="2072234" cy="485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GenAI IRB for Banking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8-member team</a:t>
                </a:r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9A3F83C4-C4CD-E832-A29F-4834250B6CE2}"/>
                  </a:ext>
                </a:extLst>
              </p:cNvPr>
              <p:cNvGrpSpPr/>
              <p:nvPr/>
            </p:nvGrpSpPr>
            <p:grpSpPr>
              <a:xfrm>
                <a:off x="2866525" y="4264174"/>
                <a:ext cx="360000" cy="360000"/>
                <a:chOff x="1838631" y="1380136"/>
                <a:chExt cx="360000" cy="360000"/>
              </a:xfrm>
            </p:grpSpPr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EFB0E815-7125-38B7-971E-4321776EBF9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38631" y="1380136"/>
                  <a:ext cx="360000" cy="3600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690713E6-86ED-3852-56AF-FB71589D11B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92631" y="1434136"/>
                  <a:ext cx="251999" cy="25199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" dirty="0"/>
                </a:p>
              </p:txBody>
            </p: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CEC7A4B-E9FE-A614-4C9E-C0EDD8D7B759}"/>
                  </a:ext>
                </a:extLst>
              </p:cNvPr>
              <p:cNvSpPr txBox="1"/>
              <p:nvPr/>
            </p:nvSpPr>
            <p:spPr>
              <a:xfrm rot="19201730">
                <a:off x="2802422" y="3050098"/>
                <a:ext cx="2325913" cy="646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Agent Exploration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Conversational banking POV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Collaboration with Asset teams</a:t>
                </a: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21E1CA30-5A2F-F735-0A6D-1F5ADF923510}"/>
                  </a:ext>
                </a:extLst>
              </p:cNvPr>
              <p:cNvGrpSpPr/>
              <p:nvPr/>
            </p:nvGrpSpPr>
            <p:grpSpPr>
              <a:xfrm>
                <a:off x="3955984" y="4246480"/>
                <a:ext cx="360000" cy="360000"/>
                <a:chOff x="1838631" y="1380136"/>
                <a:chExt cx="360000" cy="360000"/>
              </a:xfrm>
            </p:grpSpPr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1E37F25A-E0AB-F35F-0FDB-1A2E97927C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38631" y="1380136"/>
                  <a:ext cx="360000" cy="3600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632FDB47-2332-961E-362C-1FB70E763E0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92631" y="1434136"/>
                  <a:ext cx="251999" cy="25199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" dirty="0"/>
                </a:p>
              </p:txBody>
            </p: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5427ACB-253C-F651-D2CA-FA8F0D6ECE6F}"/>
                  </a:ext>
                </a:extLst>
              </p:cNvPr>
              <p:cNvSpPr txBox="1"/>
              <p:nvPr/>
            </p:nvSpPr>
            <p:spPr>
              <a:xfrm rot="2415757">
                <a:off x="3836382" y="5119591"/>
                <a:ext cx="2049224" cy="646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Socialization of Credentials with clients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Client demos </a:t>
                </a: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2AAF42EA-132A-5A20-AB33-3D8D04EADF17}"/>
                  </a:ext>
                </a:extLst>
              </p:cNvPr>
              <p:cNvGrpSpPr/>
              <p:nvPr/>
            </p:nvGrpSpPr>
            <p:grpSpPr>
              <a:xfrm>
                <a:off x="5029270" y="4261587"/>
                <a:ext cx="360000" cy="360000"/>
                <a:chOff x="1838631" y="1380136"/>
                <a:chExt cx="360000" cy="360000"/>
              </a:xfrm>
            </p:grpSpPr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0DBC7F78-2966-38F2-A9F2-76043E51192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38631" y="1380136"/>
                  <a:ext cx="360000" cy="3600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E62A3B1A-F1C2-06CB-E070-55901AEA578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92631" y="1434136"/>
                  <a:ext cx="251999" cy="25199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" dirty="0"/>
                </a:p>
              </p:txBody>
            </p:sp>
          </p:grp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03994EA-2923-F436-4973-2670AF5C7593}"/>
                  </a:ext>
                </a:extLst>
              </p:cNvPr>
              <p:cNvSpPr txBox="1"/>
              <p:nvPr/>
            </p:nvSpPr>
            <p:spPr>
              <a:xfrm rot="19201730">
                <a:off x="4902465" y="2991208"/>
                <a:ext cx="2325913" cy="826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ICA Hackathons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AWS Hackathons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MS Hackathons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000" dirty="0"/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DFB8DCF4-BD53-8E44-9456-169CD7549E71}"/>
                  </a:ext>
                </a:extLst>
              </p:cNvPr>
              <p:cNvGrpSpPr/>
              <p:nvPr/>
            </p:nvGrpSpPr>
            <p:grpSpPr>
              <a:xfrm>
                <a:off x="6178404" y="4258998"/>
                <a:ext cx="360000" cy="360000"/>
                <a:chOff x="1838631" y="1380136"/>
                <a:chExt cx="360000" cy="360000"/>
              </a:xfrm>
            </p:grpSpPr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ECE02382-72D6-039E-8EE4-C96A1B7A25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38631" y="1380136"/>
                  <a:ext cx="360000" cy="3600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12926C48-07AB-2A04-4348-757D46E6457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92631" y="1434136"/>
                  <a:ext cx="251999" cy="25199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" dirty="0"/>
                </a:p>
              </p:txBody>
            </p:sp>
          </p:grp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11AC20D-A1A6-0481-D013-4A05BC30F28B}"/>
                  </a:ext>
                </a:extLst>
              </p:cNvPr>
              <p:cNvSpPr txBox="1"/>
              <p:nvPr/>
            </p:nvSpPr>
            <p:spPr>
              <a:xfrm rot="2415757">
                <a:off x="6106598" y="5266457"/>
                <a:ext cx="2452314" cy="485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Modernization pilot at UK bank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GenAI Reference Architecture</a:t>
                </a: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98659E22-3818-1DBD-1CE8-998BAB6BF378}"/>
                  </a:ext>
                </a:extLst>
              </p:cNvPr>
              <p:cNvGrpSpPr/>
              <p:nvPr/>
            </p:nvGrpSpPr>
            <p:grpSpPr>
              <a:xfrm>
                <a:off x="7274819" y="4263985"/>
                <a:ext cx="360000" cy="360000"/>
                <a:chOff x="1838631" y="1380136"/>
                <a:chExt cx="360000" cy="360000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CBE230E-0888-3EF7-9017-189F579F8C8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38631" y="1380136"/>
                  <a:ext cx="360000" cy="3600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0F746D4-C6F2-FE4D-8E2B-F6EB9C198DB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92631" y="1434136"/>
                  <a:ext cx="251999" cy="25199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" dirty="0"/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EED205A-E47B-DDB7-64B5-3EA90BE86414}"/>
                  </a:ext>
                </a:extLst>
              </p:cNvPr>
              <p:cNvSpPr txBox="1"/>
              <p:nvPr/>
            </p:nvSpPr>
            <p:spPr>
              <a:xfrm rot="19201730">
                <a:off x="7254652" y="3010811"/>
                <a:ext cx="2325913" cy="1006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Fine-tune model for BIAN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GenAI first modernization at scale framework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0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000" dirty="0"/>
              </a:p>
            </p:txBody>
          </p: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334825EF-3FEC-534E-EE60-056D39DEF7F0}"/>
                  </a:ext>
                </a:extLst>
              </p:cNvPr>
              <p:cNvGrpSpPr/>
              <p:nvPr/>
            </p:nvGrpSpPr>
            <p:grpSpPr>
              <a:xfrm>
                <a:off x="8363609" y="4279583"/>
                <a:ext cx="360000" cy="360000"/>
                <a:chOff x="1838631" y="1380136"/>
                <a:chExt cx="360000" cy="360000"/>
              </a:xfrm>
            </p:grpSpPr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9C2C7E4C-EFE5-4A83-8CE8-B2122DDF748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38631" y="1380136"/>
                  <a:ext cx="360000" cy="3600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DD1B4791-7213-3A5C-012F-A4712F28EA3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92631" y="1434136"/>
                  <a:ext cx="251999" cy="25199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" dirty="0"/>
                </a:p>
              </p:txBody>
            </p:sp>
          </p:grp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DEAAB9B-A755-0149-5226-33D11BE269CD}"/>
                  </a:ext>
                </a:extLst>
              </p:cNvPr>
              <p:cNvSpPr txBox="1"/>
              <p:nvPr/>
            </p:nvSpPr>
            <p:spPr>
              <a:xfrm rot="2415757">
                <a:off x="8253418" y="5135294"/>
                <a:ext cx="2452314" cy="826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Data Modernization and Migration engagements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Process Automation project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Present at client events</a:t>
                </a:r>
              </a:p>
            </p:txBody>
          </p: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F70BB8FD-EA67-AC55-4D45-4FC3717A5DD5}"/>
                  </a:ext>
                </a:extLst>
              </p:cNvPr>
              <p:cNvGrpSpPr/>
              <p:nvPr/>
            </p:nvGrpSpPr>
            <p:grpSpPr>
              <a:xfrm>
                <a:off x="9319270" y="4281219"/>
                <a:ext cx="360000" cy="360000"/>
                <a:chOff x="1838631" y="1380136"/>
                <a:chExt cx="360000" cy="360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E7E42F84-CC5C-D994-B7BE-9222B08270E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38631" y="1380136"/>
                  <a:ext cx="360000" cy="3600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68DC5587-D12F-96F1-8AF4-6CE2B9E6A83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92631" y="1434136"/>
                  <a:ext cx="251999" cy="25199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" dirty="0"/>
                </a:p>
              </p:txBody>
            </p: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F827D084-4407-5D9D-2A73-3FEDFB6C4D18}"/>
                  </a:ext>
                </a:extLst>
              </p:cNvPr>
              <p:cNvGrpSpPr/>
              <p:nvPr/>
            </p:nvGrpSpPr>
            <p:grpSpPr>
              <a:xfrm>
                <a:off x="10377777" y="4246480"/>
                <a:ext cx="360000" cy="360000"/>
                <a:chOff x="1838631" y="1380136"/>
                <a:chExt cx="360000" cy="360000"/>
              </a:xfrm>
            </p:grpSpPr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C00B9CC0-16D1-0A20-3AC2-9D12EBEC86E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38631" y="1380136"/>
                  <a:ext cx="360000" cy="3600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A81DFEDB-1439-09A0-3D6F-9247F50CB60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92631" y="1434136"/>
                  <a:ext cx="251999" cy="25199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" dirty="0"/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AAE09D8-2252-1DD3-79C9-72CEA91AFD7E}"/>
                  </a:ext>
                </a:extLst>
              </p:cNvPr>
              <p:cNvSpPr txBox="1"/>
              <p:nvPr/>
            </p:nvSpPr>
            <p:spPr>
              <a:xfrm rot="19080978">
                <a:off x="9121633" y="3156197"/>
                <a:ext cx="2452314" cy="485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Agentic Reference Architecture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Agent One for UK bank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89020FE-FDDE-3FDC-034D-90DEAA2E4D92}"/>
                  </a:ext>
                </a:extLst>
              </p:cNvPr>
              <p:cNvSpPr txBox="1"/>
              <p:nvPr/>
            </p:nvSpPr>
            <p:spPr>
              <a:xfrm>
                <a:off x="7474533" y="6506383"/>
                <a:ext cx="325364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2025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6406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477AA-412C-A5B9-70A8-55F6AE40D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ACC705-DB16-C668-640D-047B1A4979B4}"/>
              </a:ext>
            </a:extLst>
          </p:cNvPr>
          <p:cNvSpPr/>
          <p:nvPr/>
        </p:nvSpPr>
        <p:spPr>
          <a:xfrm rot="10800000">
            <a:off x="-365761" y="32366"/>
            <a:ext cx="12557761" cy="6857999"/>
          </a:xfrm>
          <a:prstGeom prst="rect">
            <a:avLst/>
          </a:prstGeom>
          <a:gradFill flip="none" rotWithShape="1">
            <a:gsLst>
              <a:gs pos="0">
                <a:srgbClr val="C9A4E4"/>
              </a:gs>
              <a:gs pos="64000">
                <a:schemeClr val="bg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AD2C564-C459-E685-EE27-A88A21F589A8}"/>
              </a:ext>
            </a:extLst>
          </p:cNvPr>
          <p:cNvGrpSpPr/>
          <p:nvPr/>
        </p:nvGrpSpPr>
        <p:grpSpPr>
          <a:xfrm>
            <a:off x="11467538" y="283795"/>
            <a:ext cx="429384" cy="321996"/>
            <a:chOff x="4552645" y="3416817"/>
            <a:chExt cx="1948180" cy="1460945"/>
          </a:xfrm>
        </p:grpSpPr>
        <p:sp>
          <p:nvSpPr>
            <p:cNvPr id="15" name="object 27">
              <a:extLst>
                <a:ext uri="{FF2B5EF4-FFF2-40B4-BE49-F238E27FC236}">
                  <a16:creationId xmlns:a16="http://schemas.microsoft.com/office/drawing/2014/main" id="{31DCC41E-03D8-7276-4B35-C6A2281AE509}"/>
                </a:ext>
              </a:extLst>
            </p:cNvPr>
            <p:cNvSpPr/>
            <p:nvPr/>
          </p:nvSpPr>
          <p:spPr>
            <a:xfrm>
              <a:off x="5201831" y="4066015"/>
              <a:ext cx="649605" cy="487045"/>
            </a:xfrm>
            <a:custGeom>
              <a:avLst/>
              <a:gdLst/>
              <a:ahLst/>
              <a:cxnLst/>
              <a:rect l="l" t="t" r="r" b="b"/>
              <a:pathLst>
                <a:path w="649605" h="487045">
                  <a:moveTo>
                    <a:pt x="649198" y="324599"/>
                  </a:moveTo>
                  <a:lnTo>
                    <a:pt x="0" y="324599"/>
                  </a:lnTo>
                  <a:lnTo>
                    <a:pt x="0" y="486892"/>
                  </a:lnTo>
                  <a:lnTo>
                    <a:pt x="649198" y="486892"/>
                  </a:lnTo>
                  <a:lnTo>
                    <a:pt x="649198" y="324599"/>
                  </a:lnTo>
                  <a:close/>
                </a:path>
                <a:path w="649605" h="487045">
                  <a:moveTo>
                    <a:pt x="649198" y="0"/>
                  </a:moveTo>
                  <a:lnTo>
                    <a:pt x="0" y="0"/>
                  </a:lnTo>
                  <a:lnTo>
                    <a:pt x="0" y="162293"/>
                  </a:lnTo>
                  <a:lnTo>
                    <a:pt x="649198" y="162293"/>
                  </a:lnTo>
                  <a:lnTo>
                    <a:pt x="6491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object 28">
              <a:extLst>
                <a:ext uri="{FF2B5EF4-FFF2-40B4-BE49-F238E27FC236}">
                  <a16:creationId xmlns:a16="http://schemas.microsoft.com/office/drawing/2014/main" id="{F7F0315C-3DFA-FDD5-F62E-314CDFF86A4D}"/>
                </a:ext>
              </a:extLst>
            </p:cNvPr>
            <p:cNvSpPr/>
            <p:nvPr/>
          </p:nvSpPr>
          <p:spPr>
            <a:xfrm>
              <a:off x="4552645" y="3416817"/>
              <a:ext cx="1948180" cy="1136650"/>
            </a:xfrm>
            <a:custGeom>
              <a:avLst/>
              <a:gdLst/>
              <a:ahLst/>
              <a:cxnLst/>
              <a:rect l="l" t="t" r="r" b="b"/>
              <a:pathLst>
                <a:path w="1948180" h="1136650">
                  <a:moveTo>
                    <a:pt x="649198" y="446328"/>
                  </a:moveTo>
                  <a:lnTo>
                    <a:pt x="152082" y="666991"/>
                  </a:lnTo>
                  <a:lnTo>
                    <a:pt x="109855" y="689152"/>
                  </a:lnTo>
                  <a:lnTo>
                    <a:pt x="73012" y="718858"/>
                  </a:lnTo>
                  <a:lnTo>
                    <a:pt x="42595" y="755065"/>
                  </a:lnTo>
                  <a:lnTo>
                    <a:pt x="19608" y="796785"/>
                  </a:lnTo>
                  <a:lnTo>
                    <a:pt x="5067" y="842975"/>
                  </a:lnTo>
                  <a:lnTo>
                    <a:pt x="0" y="892644"/>
                  </a:lnTo>
                  <a:lnTo>
                    <a:pt x="4940" y="941705"/>
                  </a:lnTo>
                  <a:lnTo>
                    <a:pt x="19126" y="987399"/>
                  </a:lnTo>
                  <a:lnTo>
                    <a:pt x="41579" y="1028763"/>
                  </a:lnTo>
                  <a:lnTo>
                    <a:pt x="71297" y="1064793"/>
                  </a:lnTo>
                  <a:lnTo>
                    <a:pt x="107327" y="1094511"/>
                  </a:lnTo>
                  <a:lnTo>
                    <a:pt x="148678" y="1116965"/>
                  </a:lnTo>
                  <a:lnTo>
                    <a:pt x="194386" y="1131150"/>
                  </a:lnTo>
                  <a:lnTo>
                    <a:pt x="243446" y="1136091"/>
                  </a:lnTo>
                  <a:lnTo>
                    <a:pt x="296456" y="1130312"/>
                  </a:lnTo>
                  <a:lnTo>
                    <a:pt x="345414" y="1113777"/>
                  </a:lnTo>
                  <a:lnTo>
                    <a:pt x="389077" y="1087742"/>
                  </a:lnTo>
                  <a:lnTo>
                    <a:pt x="426224" y="1053452"/>
                  </a:lnTo>
                  <a:lnTo>
                    <a:pt x="455587" y="1012151"/>
                  </a:lnTo>
                  <a:lnTo>
                    <a:pt x="475932" y="965073"/>
                  </a:lnTo>
                  <a:lnTo>
                    <a:pt x="649198" y="446328"/>
                  </a:lnTo>
                  <a:close/>
                </a:path>
                <a:path w="1948180" h="1136650">
                  <a:moveTo>
                    <a:pt x="933208" y="142011"/>
                  </a:moveTo>
                  <a:lnTo>
                    <a:pt x="925969" y="97129"/>
                  </a:lnTo>
                  <a:lnTo>
                    <a:pt x="905814" y="58140"/>
                  </a:lnTo>
                  <a:lnTo>
                    <a:pt x="875068" y="27393"/>
                  </a:lnTo>
                  <a:lnTo>
                    <a:pt x="836091" y="7239"/>
                  </a:lnTo>
                  <a:lnTo>
                    <a:pt x="791197" y="0"/>
                  </a:lnTo>
                  <a:lnTo>
                    <a:pt x="746315" y="7239"/>
                  </a:lnTo>
                  <a:lnTo>
                    <a:pt x="707326" y="27393"/>
                  </a:lnTo>
                  <a:lnTo>
                    <a:pt x="676592" y="58140"/>
                  </a:lnTo>
                  <a:lnTo>
                    <a:pt x="656424" y="97129"/>
                  </a:lnTo>
                  <a:lnTo>
                    <a:pt x="649185" y="142011"/>
                  </a:lnTo>
                  <a:lnTo>
                    <a:pt x="656424" y="186893"/>
                  </a:lnTo>
                  <a:lnTo>
                    <a:pt x="676592" y="225882"/>
                  </a:lnTo>
                  <a:lnTo>
                    <a:pt x="707326" y="256628"/>
                  </a:lnTo>
                  <a:lnTo>
                    <a:pt x="746315" y="276783"/>
                  </a:lnTo>
                  <a:lnTo>
                    <a:pt x="791197" y="284035"/>
                  </a:lnTo>
                  <a:lnTo>
                    <a:pt x="836091" y="276783"/>
                  </a:lnTo>
                  <a:lnTo>
                    <a:pt x="875068" y="256628"/>
                  </a:lnTo>
                  <a:lnTo>
                    <a:pt x="905814" y="225882"/>
                  </a:lnTo>
                  <a:lnTo>
                    <a:pt x="925969" y="186893"/>
                  </a:lnTo>
                  <a:lnTo>
                    <a:pt x="933208" y="142011"/>
                  </a:lnTo>
                  <a:close/>
                </a:path>
                <a:path w="1948180" h="1136650">
                  <a:moveTo>
                    <a:pt x="1257808" y="486892"/>
                  </a:moveTo>
                  <a:lnTo>
                    <a:pt x="1230706" y="447370"/>
                  </a:lnTo>
                  <a:lnTo>
                    <a:pt x="1197965" y="412305"/>
                  </a:lnTo>
                  <a:lnTo>
                    <a:pt x="1160284" y="382295"/>
                  </a:lnTo>
                  <a:lnTo>
                    <a:pt x="1118323" y="357936"/>
                  </a:lnTo>
                  <a:lnTo>
                    <a:pt x="1072807" y="339813"/>
                  </a:lnTo>
                  <a:lnTo>
                    <a:pt x="1024394" y="328498"/>
                  </a:lnTo>
                  <a:lnTo>
                    <a:pt x="973785" y="324599"/>
                  </a:lnTo>
                  <a:lnTo>
                    <a:pt x="923175" y="328498"/>
                  </a:lnTo>
                  <a:lnTo>
                    <a:pt x="874763" y="339813"/>
                  </a:lnTo>
                  <a:lnTo>
                    <a:pt x="829246" y="357936"/>
                  </a:lnTo>
                  <a:lnTo>
                    <a:pt x="787298" y="382295"/>
                  </a:lnTo>
                  <a:lnTo>
                    <a:pt x="749604" y="412305"/>
                  </a:lnTo>
                  <a:lnTo>
                    <a:pt x="716864" y="447370"/>
                  </a:lnTo>
                  <a:lnTo>
                    <a:pt x="689762" y="486892"/>
                  </a:lnTo>
                  <a:lnTo>
                    <a:pt x="1257808" y="486892"/>
                  </a:lnTo>
                  <a:close/>
                </a:path>
                <a:path w="1948180" h="1136650">
                  <a:moveTo>
                    <a:pt x="1298384" y="142011"/>
                  </a:moveTo>
                  <a:lnTo>
                    <a:pt x="1291145" y="97129"/>
                  </a:lnTo>
                  <a:lnTo>
                    <a:pt x="1270990" y="58140"/>
                  </a:lnTo>
                  <a:lnTo>
                    <a:pt x="1240243" y="27393"/>
                  </a:lnTo>
                  <a:lnTo>
                    <a:pt x="1201267" y="7239"/>
                  </a:lnTo>
                  <a:lnTo>
                    <a:pt x="1156373" y="0"/>
                  </a:lnTo>
                  <a:lnTo>
                    <a:pt x="1111491" y="7239"/>
                  </a:lnTo>
                  <a:lnTo>
                    <a:pt x="1072502" y="27393"/>
                  </a:lnTo>
                  <a:lnTo>
                    <a:pt x="1041755" y="58140"/>
                  </a:lnTo>
                  <a:lnTo>
                    <a:pt x="1021600" y="97129"/>
                  </a:lnTo>
                  <a:lnTo>
                    <a:pt x="1014361" y="142011"/>
                  </a:lnTo>
                  <a:lnTo>
                    <a:pt x="1021600" y="186893"/>
                  </a:lnTo>
                  <a:lnTo>
                    <a:pt x="1041755" y="225882"/>
                  </a:lnTo>
                  <a:lnTo>
                    <a:pt x="1072502" y="256628"/>
                  </a:lnTo>
                  <a:lnTo>
                    <a:pt x="1111491" y="276783"/>
                  </a:lnTo>
                  <a:lnTo>
                    <a:pt x="1156373" y="284035"/>
                  </a:lnTo>
                  <a:lnTo>
                    <a:pt x="1201267" y="276783"/>
                  </a:lnTo>
                  <a:lnTo>
                    <a:pt x="1240243" y="256628"/>
                  </a:lnTo>
                  <a:lnTo>
                    <a:pt x="1270990" y="225882"/>
                  </a:lnTo>
                  <a:lnTo>
                    <a:pt x="1291145" y="186893"/>
                  </a:lnTo>
                  <a:lnTo>
                    <a:pt x="1298384" y="142011"/>
                  </a:lnTo>
                  <a:close/>
                </a:path>
                <a:path w="1948180" h="1136650">
                  <a:moveTo>
                    <a:pt x="1947570" y="892644"/>
                  </a:moveTo>
                  <a:lnTo>
                    <a:pt x="1942503" y="842975"/>
                  </a:lnTo>
                  <a:lnTo>
                    <a:pt x="1927961" y="796785"/>
                  </a:lnTo>
                  <a:lnTo>
                    <a:pt x="1904974" y="755065"/>
                  </a:lnTo>
                  <a:lnTo>
                    <a:pt x="1874558" y="718858"/>
                  </a:lnTo>
                  <a:lnTo>
                    <a:pt x="1837728" y="689152"/>
                  </a:lnTo>
                  <a:lnTo>
                    <a:pt x="1795500" y="666991"/>
                  </a:lnTo>
                  <a:lnTo>
                    <a:pt x="1298384" y="446328"/>
                  </a:lnTo>
                  <a:lnTo>
                    <a:pt x="1471637" y="965073"/>
                  </a:lnTo>
                  <a:lnTo>
                    <a:pt x="1491983" y="1012151"/>
                  </a:lnTo>
                  <a:lnTo>
                    <a:pt x="1521345" y="1053452"/>
                  </a:lnTo>
                  <a:lnTo>
                    <a:pt x="1558493" y="1087742"/>
                  </a:lnTo>
                  <a:lnTo>
                    <a:pt x="1602168" y="1113777"/>
                  </a:lnTo>
                  <a:lnTo>
                    <a:pt x="1651127" y="1130312"/>
                  </a:lnTo>
                  <a:lnTo>
                    <a:pt x="1704124" y="1136091"/>
                  </a:lnTo>
                  <a:lnTo>
                    <a:pt x="1753196" y="1131150"/>
                  </a:lnTo>
                  <a:lnTo>
                    <a:pt x="1798891" y="1116965"/>
                  </a:lnTo>
                  <a:lnTo>
                    <a:pt x="1840242" y="1094511"/>
                  </a:lnTo>
                  <a:lnTo>
                    <a:pt x="1876272" y="1064793"/>
                  </a:lnTo>
                  <a:lnTo>
                    <a:pt x="1906003" y="1028763"/>
                  </a:lnTo>
                  <a:lnTo>
                    <a:pt x="1928444" y="987399"/>
                  </a:lnTo>
                  <a:lnTo>
                    <a:pt x="1942630" y="941705"/>
                  </a:lnTo>
                  <a:lnTo>
                    <a:pt x="1947570" y="892644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bject 29">
              <a:extLst>
                <a:ext uri="{FF2B5EF4-FFF2-40B4-BE49-F238E27FC236}">
                  <a16:creationId xmlns:a16="http://schemas.microsoft.com/office/drawing/2014/main" id="{25BF6BBC-C3D6-2B09-A239-BB7E9182D2BD}"/>
                </a:ext>
              </a:extLst>
            </p:cNvPr>
            <p:cNvSpPr/>
            <p:nvPr/>
          </p:nvSpPr>
          <p:spPr>
            <a:xfrm>
              <a:off x="5242415" y="4715202"/>
              <a:ext cx="568325" cy="162560"/>
            </a:xfrm>
            <a:custGeom>
              <a:avLst/>
              <a:gdLst/>
              <a:ahLst/>
              <a:cxnLst/>
              <a:rect l="l" t="t" r="r" b="b"/>
              <a:pathLst>
                <a:path w="568325" h="162559">
                  <a:moveTo>
                    <a:pt x="568045" y="0"/>
                  </a:moveTo>
                  <a:lnTo>
                    <a:pt x="0" y="0"/>
                  </a:lnTo>
                  <a:lnTo>
                    <a:pt x="27104" y="39530"/>
                  </a:lnTo>
                  <a:lnTo>
                    <a:pt x="59843" y="74592"/>
                  </a:lnTo>
                  <a:lnTo>
                    <a:pt x="97531" y="104598"/>
                  </a:lnTo>
                  <a:lnTo>
                    <a:pt x="139480" y="128959"/>
                  </a:lnTo>
                  <a:lnTo>
                    <a:pt x="185002" y="147089"/>
                  </a:lnTo>
                  <a:lnTo>
                    <a:pt x="233412" y="158398"/>
                  </a:lnTo>
                  <a:lnTo>
                    <a:pt x="284022" y="162298"/>
                  </a:lnTo>
                  <a:lnTo>
                    <a:pt x="334632" y="158398"/>
                  </a:lnTo>
                  <a:lnTo>
                    <a:pt x="383042" y="147089"/>
                  </a:lnTo>
                  <a:lnTo>
                    <a:pt x="428565" y="128959"/>
                  </a:lnTo>
                  <a:lnTo>
                    <a:pt x="470514" y="104598"/>
                  </a:lnTo>
                  <a:lnTo>
                    <a:pt x="508201" y="74592"/>
                  </a:lnTo>
                  <a:lnTo>
                    <a:pt x="540941" y="39530"/>
                  </a:lnTo>
                  <a:lnTo>
                    <a:pt x="568045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70A963A3-0D28-BB93-EA66-673D78E597A3}"/>
              </a:ext>
            </a:extLst>
          </p:cNvPr>
          <p:cNvSpPr txBox="1">
            <a:spLocks/>
          </p:cNvSpPr>
          <p:nvPr/>
        </p:nvSpPr>
        <p:spPr>
          <a:xfrm>
            <a:off x="639328" y="283795"/>
            <a:ext cx="8632794" cy="8722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+mj-cs"/>
              </a:rPr>
              <a:t>How did it all start?</a:t>
            </a:r>
          </a:p>
        </p:txBody>
      </p:sp>
      <p:pic>
        <p:nvPicPr>
          <p:cNvPr id="2" name="Picture 1" descr="A screenshot of a computer">
            <a:extLst>
              <a:ext uri="{FF2B5EF4-FFF2-40B4-BE49-F238E27FC236}">
                <a16:creationId xmlns:a16="http://schemas.microsoft.com/office/drawing/2014/main" id="{82B682E8-A7A6-0537-F552-9D17092CA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55" y="1156015"/>
            <a:ext cx="9985474" cy="5303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276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F58CF-E4E9-BE4C-5D8E-DCD625724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0AEAE4A-F2AF-A663-EA98-A2E2FD28460D}"/>
              </a:ext>
            </a:extLst>
          </p:cNvPr>
          <p:cNvSpPr/>
          <p:nvPr/>
        </p:nvSpPr>
        <p:spPr>
          <a:xfrm rot="10800000">
            <a:off x="-365761" y="1"/>
            <a:ext cx="12557761" cy="6857999"/>
          </a:xfrm>
          <a:prstGeom prst="rect">
            <a:avLst/>
          </a:prstGeom>
          <a:gradFill flip="none" rotWithShape="1">
            <a:gsLst>
              <a:gs pos="33000">
                <a:srgbClr val="DEC8EE"/>
              </a:gs>
              <a:gs pos="0">
                <a:srgbClr val="0530AD"/>
              </a:gs>
              <a:gs pos="72000">
                <a:schemeClr val="bg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b="1">
                <a:latin typeface="Consolas" panose="020B0609020204030204" pitchFamily="49" charset="0"/>
              </a:rPr>
              <a:t>Prompt Template</a:t>
            </a:r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3AB15F-CE88-D7FF-FBDE-CCD46DCD7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175" y="135595"/>
            <a:ext cx="10573188" cy="808750"/>
          </a:xfrm>
        </p:spPr>
        <p:txBody>
          <a:bodyPr>
            <a:normAutofit/>
          </a:bodyPr>
          <a:lstStyle/>
          <a:p>
            <a:pPr algn="l"/>
            <a:r>
              <a:rPr lang="en-IN" sz="3600" b="1">
                <a:latin typeface="Consolas" panose="020B0609020204030204" pitchFamily="49" charset="0"/>
              </a:rPr>
              <a:t>Prompt Techniques &amp; Prompt Template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F8FC761-BCD8-A0EF-1B12-1382D6D3A5A8}"/>
              </a:ext>
            </a:extLst>
          </p:cNvPr>
          <p:cNvGrpSpPr/>
          <p:nvPr/>
        </p:nvGrpSpPr>
        <p:grpSpPr>
          <a:xfrm>
            <a:off x="11467538" y="283795"/>
            <a:ext cx="429384" cy="321996"/>
            <a:chOff x="4552645" y="3416817"/>
            <a:chExt cx="1948180" cy="1460945"/>
          </a:xfrm>
        </p:grpSpPr>
        <p:sp>
          <p:nvSpPr>
            <p:cNvPr id="15" name="object 27">
              <a:extLst>
                <a:ext uri="{FF2B5EF4-FFF2-40B4-BE49-F238E27FC236}">
                  <a16:creationId xmlns:a16="http://schemas.microsoft.com/office/drawing/2014/main" id="{8E7AE7E8-CB1C-F315-96E2-5CC383FB2BC8}"/>
                </a:ext>
              </a:extLst>
            </p:cNvPr>
            <p:cNvSpPr/>
            <p:nvPr/>
          </p:nvSpPr>
          <p:spPr>
            <a:xfrm>
              <a:off x="5201831" y="4066015"/>
              <a:ext cx="649605" cy="487045"/>
            </a:xfrm>
            <a:custGeom>
              <a:avLst/>
              <a:gdLst/>
              <a:ahLst/>
              <a:cxnLst/>
              <a:rect l="l" t="t" r="r" b="b"/>
              <a:pathLst>
                <a:path w="649605" h="487045">
                  <a:moveTo>
                    <a:pt x="649198" y="324599"/>
                  </a:moveTo>
                  <a:lnTo>
                    <a:pt x="0" y="324599"/>
                  </a:lnTo>
                  <a:lnTo>
                    <a:pt x="0" y="486892"/>
                  </a:lnTo>
                  <a:lnTo>
                    <a:pt x="649198" y="486892"/>
                  </a:lnTo>
                  <a:lnTo>
                    <a:pt x="649198" y="324599"/>
                  </a:lnTo>
                  <a:close/>
                </a:path>
                <a:path w="649605" h="487045">
                  <a:moveTo>
                    <a:pt x="649198" y="0"/>
                  </a:moveTo>
                  <a:lnTo>
                    <a:pt x="0" y="0"/>
                  </a:lnTo>
                  <a:lnTo>
                    <a:pt x="0" y="162293"/>
                  </a:lnTo>
                  <a:lnTo>
                    <a:pt x="649198" y="162293"/>
                  </a:lnTo>
                  <a:lnTo>
                    <a:pt x="6491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28">
              <a:extLst>
                <a:ext uri="{FF2B5EF4-FFF2-40B4-BE49-F238E27FC236}">
                  <a16:creationId xmlns:a16="http://schemas.microsoft.com/office/drawing/2014/main" id="{B7FBD856-4C3D-C04F-D07F-E023C9F375CC}"/>
                </a:ext>
              </a:extLst>
            </p:cNvPr>
            <p:cNvSpPr/>
            <p:nvPr/>
          </p:nvSpPr>
          <p:spPr>
            <a:xfrm>
              <a:off x="4552645" y="3416817"/>
              <a:ext cx="1948180" cy="1136650"/>
            </a:xfrm>
            <a:custGeom>
              <a:avLst/>
              <a:gdLst/>
              <a:ahLst/>
              <a:cxnLst/>
              <a:rect l="l" t="t" r="r" b="b"/>
              <a:pathLst>
                <a:path w="1948180" h="1136650">
                  <a:moveTo>
                    <a:pt x="649198" y="446328"/>
                  </a:moveTo>
                  <a:lnTo>
                    <a:pt x="152082" y="666991"/>
                  </a:lnTo>
                  <a:lnTo>
                    <a:pt x="109855" y="689152"/>
                  </a:lnTo>
                  <a:lnTo>
                    <a:pt x="73012" y="718858"/>
                  </a:lnTo>
                  <a:lnTo>
                    <a:pt x="42595" y="755065"/>
                  </a:lnTo>
                  <a:lnTo>
                    <a:pt x="19608" y="796785"/>
                  </a:lnTo>
                  <a:lnTo>
                    <a:pt x="5067" y="842975"/>
                  </a:lnTo>
                  <a:lnTo>
                    <a:pt x="0" y="892644"/>
                  </a:lnTo>
                  <a:lnTo>
                    <a:pt x="4940" y="941705"/>
                  </a:lnTo>
                  <a:lnTo>
                    <a:pt x="19126" y="987399"/>
                  </a:lnTo>
                  <a:lnTo>
                    <a:pt x="41579" y="1028763"/>
                  </a:lnTo>
                  <a:lnTo>
                    <a:pt x="71297" y="1064793"/>
                  </a:lnTo>
                  <a:lnTo>
                    <a:pt x="107327" y="1094511"/>
                  </a:lnTo>
                  <a:lnTo>
                    <a:pt x="148678" y="1116965"/>
                  </a:lnTo>
                  <a:lnTo>
                    <a:pt x="194386" y="1131150"/>
                  </a:lnTo>
                  <a:lnTo>
                    <a:pt x="243446" y="1136091"/>
                  </a:lnTo>
                  <a:lnTo>
                    <a:pt x="296456" y="1130312"/>
                  </a:lnTo>
                  <a:lnTo>
                    <a:pt x="345414" y="1113777"/>
                  </a:lnTo>
                  <a:lnTo>
                    <a:pt x="389077" y="1087742"/>
                  </a:lnTo>
                  <a:lnTo>
                    <a:pt x="426224" y="1053452"/>
                  </a:lnTo>
                  <a:lnTo>
                    <a:pt x="455587" y="1012151"/>
                  </a:lnTo>
                  <a:lnTo>
                    <a:pt x="475932" y="965073"/>
                  </a:lnTo>
                  <a:lnTo>
                    <a:pt x="649198" y="446328"/>
                  </a:lnTo>
                  <a:close/>
                </a:path>
                <a:path w="1948180" h="1136650">
                  <a:moveTo>
                    <a:pt x="933208" y="142011"/>
                  </a:moveTo>
                  <a:lnTo>
                    <a:pt x="925969" y="97129"/>
                  </a:lnTo>
                  <a:lnTo>
                    <a:pt x="905814" y="58140"/>
                  </a:lnTo>
                  <a:lnTo>
                    <a:pt x="875068" y="27393"/>
                  </a:lnTo>
                  <a:lnTo>
                    <a:pt x="836091" y="7239"/>
                  </a:lnTo>
                  <a:lnTo>
                    <a:pt x="791197" y="0"/>
                  </a:lnTo>
                  <a:lnTo>
                    <a:pt x="746315" y="7239"/>
                  </a:lnTo>
                  <a:lnTo>
                    <a:pt x="707326" y="27393"/>
                  </a:lnTo>
                  <a:lnTo>
                    <a:pt x="676592" y="58140"/>
                  </a:lnTo>
                  <a:lnTo>
                    <a:pt x="656424" y="97129"/>
                  </a:lnTo>
                  <a:lnTo>
                    <a:pt x="649185" y="142011"/>
                  </a:lnTo>
                  <a:lnTo>
                    <a:pt x="656424" y="186893"/>
                  </a:lnTo>
                  <a:lnTo>
                    <a:pt x="676592" y="225882"/>
                  </a:lnTo>
                  <a:lnTo>
                    <a:pt x="707326" y="256628"/>
                  </a:lnTo>
                  <a:lnTo>
                    <a:pt x="746315" y="276783"/>
                  </a:lnTo>
                  <a:lnTo>
                    <a:pt x="791197" y="284035"/>
                  </a:lnTo>
                  <a:lnTo>
                    <a:pt x="836091" y="276783"/>
                  </a:lnTo>
                  <a:lnTo>
                    <a:pt x="875068" y="256628"/>
                  </a:lnTo>
                  <a:lnTo>
                    <a:pt x="905814" y="225882"/>
                  </a:lnTo>
                  <a:lnTo>
                    <a:pt x="925969" y="186893"/>
                  </a:lnTo>
                  <a:lnTo>
                    <a:pt x="933208" y="142011"/>
                  </a:lnTo>
                  <a:close/>
                </a:path>
                <a:path w="1948180" h="1136650">
                  <a:moveTo>
                    <a:pt x="1257808" y="486892"/>
                  </a:moveTo>
                  <a:lnTo>
                    <a:pt x="1230706" y="447370"/>
                  </a:lnTo>
                  <a:lnTo>
                    <a:pt x="1197965" y="412305"/>
                  </a:lnTo>
                  <a:lnTo>
                    <a:pt x="1160284" y="382295"/>
                  </a:lnTo>
                  <a:lnTo>
                    <a:pt x="1118323" y="357936"/>
                  </a:lnTo>
                  <a:lnTo>
                    <a:pt x="1072807" y="339813"/>
                  </a:lnTo>
                  <a:lnTo>
                    <a:pt x="1024394" y="328498"/>
                  </a:lnTo>
                  <a:lnTo>
                    <a:pt x="973785" y="324599"/>
                  </a:lnTo>
                  <a:lnTo>
                    <a:pt x="923175" y="328498"/>
                  </a:lnTo>
                  <a:lnTo>
                    <a:pt x="874763" y="339813"/>
                  </a:lnTo>
                  <a:lnTo>
                    <a:pt x="829246" y="357936"/>
                  </a:lnTo>
                  <a:lnTo>
                    <a:pt x="787298" y="382295"/>
                  </a:lnTo>
                  <a:lnTo>
                    <a:pt x="749604" y="412305"/>
                  </a:lnTo>
                  <a:lnTo>
                    <a:pt x="716864" y="447370"/>
                  </a:lnTo>
                  <a:lnTo>
                    <a:pt x="689762" y="486892"/>
                  </a:lnTo>
                  <a:lnTo>
                    <a:pt x="1257808" y="486892"/>
                  </a:lnTo>
                  <a:close/>
                </a:path>
                <a:path w="1948180" h="1136650">
                  <a:moveTo>
                    <a:pt x="1298384" y="142011"/>
                  </a:moveTo>
                  <a:lnTo>
                    <a:pt x="1291145" y="97129"/>
                  </a:lnTo>
                  <a:lnTo>
                    <a:pt x="1270990" y="58140"/>
                  </a:lnTo>
                  <a:lnTo>
                    <a:pt x="1240243" y="27393"/>
                  </a:lnTo>
                  <a:lnTo>
                    <a:pt x="1201267" y="7239"/>
                  </a:lnTo>
                  <a:lnTo>
                    <a:pt x="1156373" y="0"/>
                  </a:lnTo>
                  <a:lnTo>
                    <a:pt x="1111491" y="7239"/>
                  </a:lnTo>
                  <a:lnTo>
                    <a:pt x="1072502" y="27393"/>
                  </a:lnTo>
                  <a:lnTo>
                    <a:pt x="1041755" y="58140"/>
                  </a:lnTo>
                  <a:lnTo>
                    <a:pt x="1021600" y="97129"/>
                  </a:lnTo>
                  <a:lnTo>
                    <a:pt x="1014361" y="142011"/>
                  </a:lnTo>
                  <a:lnTo>
                    <a:pt x="1021600" y="186893"/>
                  </a:lnTo>
                  <a:lnTo>
                    <a:pt x="1041755" y="225882"/>
                  </a:lnTo>
                  <a:lnTo>
                    <a:pt x="1072502" y="256628"/>
                  </a:lnTo>
                  <a:lnTo>
                    <a:pt x="1111491" y="276783"/>
                  </a:lnTo>
                  <a:lnTo>
                    <a:pt x="1156373" y="284035"/>
                  </a:lnTo>
                  <a:lnTo>
                    <a:pt x="1201267" y="276783"/>
                  </a:lnTo>
                  <a:lnTo>
                    <a:pt x="1240243" y="256628"/>
                  </a:lnTo>
                  <a:lnTo>
                    <a:pt x="1270990" y="225882"/>
                  </a:lnTo>
                  <a:lnTo>
                    <a:pt x="1291145" y="186893"/>
                  </a:lnTo>
                  <a:lnTo>
                    <a:pt x="1298384" y="142011"/>
                  </a:lnTo>
                  <a:close/>
                </a:path>
                <a:path w="1948180" h="1136650">
                  <a:moveTo>
                    <a:pt x="1947570" y="892644"/>
                  </a:moveTo>
                  <a:lnTo>
                    <a:pt x="1942503" y="842975"/>
                  </a:lnTo>
                  <a:lnTo>
                    <a:pt x="1927961" y="796785"/>
                  </a:lnTo>
                  <a:lnTo>
                    <a:pt x="1904974" y="755065"/>
                  </a:lnTo>
                  <a:lnTo>
                    <a:pt x="1874558" y="718858"/>
                  </a:lnTo>
                  <a:lnTo>
                    <a:pt x="1837728" y="689152"/>
                  </a:lnTo>
                  <a:lnTo>
                    <a:pt x="1795500" y="666991"/>
                  </a:lnTo>
                  <a:lnTo>
                    <a:pt x="1298384" y="446328"/>
                  </a:lnTo>
                  <a:lnTo>
                    <a:pt x="1471637" y="965073"/>
                  </a:lnTo>
                  <a:lnTo>
                    <a:pt x="1491983" y="1012151"/>
                  </a:lnTo>
                  <a:lnTo>
                    <a:pt x="1521345" y="1053452"/>
                  </a:lnTo>
                  <a:lnTo>
                    <a:pt x="1558493" y="1087742"/>
                  </a:lnTo>
                  <a:lnTo>
                    <a:pt x="1602168" y="1113777"/>
                  </a:lnTo>
                  <a:lnTo>
                    <a:pt x="1651127" y="1130312"/>
                  </a:lnTo>
                  <a:lnTo>
                    <a:pt x="1704124" y="1136091"/>
                  </a:lnTo>
                  <a:lnTo>
                    <a:pt x="1753196" y="1131150"/>
                  </a:lnTo>
                  <a:lnTo>
                    <a:pt x="1798891" y="1116965"/>
                  </a:lnTo>
                  <a:lnTo>
                    <a:pt x="1840242" y="1094511"/>
                  </a:lnTo>
                  <a:lnTo>
                    <a:pt x="1876272" y="1064793"/>
                  </a:lnTo>
                  <a:lnTo>
                    <a:pt x="1906003" y="1028763"/>
                  </a:lnTo>
                  <a:lnTo>
                    <a:pt x="1928444" y="987399"/>
                  </a:lnTo>
                  <a:lnTo>
                    <a:pt x="1942630" y="941705"/>
                  </a:lnTo>
                  <a:lnTo>
                    <a:pt x="1947570" y="892644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9">
              <a:extLst>
                <a:ext uri="{FF2B5EF4-FFF2-40B4-BE49-F238E27FC236}">
                  <a16:creationId xmlns:a16="http://schemas.microsoft.com/office/drawing/2014/main" id="{AF4ED503-BC5E-7305-63B6-EB79F7625D0E}"/>
                </a:ext>
              </a:extLst>
            </p:cNvPr>
            <p:cNvSpPr/>
            <p:nvPr/>
          </p:nvSpPr>
          <p:spPr>
            <a:xfrm>
              <a:off x="5242415" y="4715202"/>
              <a:ext cx="568325" cy="162560"/>
            </a:xfrm>
            <a:custGeom>
              <a:avLst/>
              <a:gdLst/>
              <a:ahLst/>
              <a:cxnLst/>
              <a:rect l="l" t="t" r="r" b="b"/>
              <a:pathLst>
                <a:path w="568325" h="162559">
                  <a:moveTo>
                    <a:pt x="568045" y="0"/>
                  </a:moveTo>
                  <a:lnTo>
                    <a:pt x="0" y="0"/>
                  </a:lnTo>
                  <a:lnTo>
                    <a:pt x="27104" y="39530"/>
                  </a:lnTo>
                  <a:lnTo>
                    <a:pt x="59843" y="74592"/>
                  </a:lnTo>
                  <a:lnTo>
                    <a:pt x="97531" y="104598"/>
                  </a:lnTo>
                  <a:lnTo>
                    <a:pt x="139480" y="128959"/>
                  </a:lnTo>
                  <a:lnTo>
                    <a:pt x="185002" y="147089"/>
                  </a:lnTo>
                  <a:lnTo>
                    <a:pt x="233412" y="158398"/>
                  </a:lnTo>
                  <a:lnTo>
                    <a:pt x="284022" y="162298"/>
                  </a:lnTo>
                  <a:lnTo>
                    <a:pt x="334632" y="158398"/>
                  </a:lnTo>
                  <a:lnTo>
                    <a:pt x="383042" y="147089"/>
                  </a:lnTo>
                  <a:lnTo>
                    <a:pt x="428565" y="128959"/>
                  </a:lnTo>
                  <a:lnTo>
                    <a:pt x="470514" y="104598"/>
                  </a:lnTo>
                  <a:lnTo>
                    <a:pt x="508201" y="74592"/>
                  </a:lnTo>
                  <a:lnTo>
                    <a:pt x="540941" y="39530"/>
                  </a:lnTo>
                  <a:lnTo>
                    <a:pt x="568045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02BF09-C998-A5A4-5DA7-227B9F752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740514"/>
              </p:ext>
            </p:extLst>
          </p:nvPr>
        </p:nvGraphicFramePr>
        <p:xfrm>
          <a:off x="807998" y="1368266"/>
          <a:ext cx="1021236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847">
                  <a:extLst>
                    <a:ext uri="{9D8B030D-6E8A-4147-A177-3AD203B41FA5}">
                      <a16:colId xmlns:a16="http://schemas.microsoft.com/office/drawing/2014/main" val="437519577"/>
                    </a:ext>
                  </a:extLst>
                </a:gridCol>
                <a:gridCol w="2972399">
                  <a:extLst>
                    <a:ext uri="{9D8B030D-6E8A-4147-A177-3AD203B41FA5}">
                      <a16:colId xmlns:a16="http://schemas.microsoft.com/office/drawing/2014/main" val="27929747"/>
                    </a:ext>
                  </a:extLst>
                </a:gridCol>
                <a:gridCol w="4248119">
                  <a:extLst>
                    <a:ext uri="{9D8B030D-6E8A-4147-A177-3AD203B41FA5}">
                      <a16:colId xmlns:a16="http://schemas.microsoft.com/office/drawing/2014/main" val="3747954549"/>
                    </a:ext>
                  </a:extLst>
                </a:gridCol>
              </a:tblGrid>
              <a:tr h="287199">
                <a:tc>
                  <a:txBody>
                    <a:bodyPr/>
                    <a:lstStyle/>
                    <a:p>
                      <a:r>
                        <a:rPr lang="en-IN" sz="1800" b="1" i="0" u="none" strike="noStrike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Technique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u="none" strike="noStrike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Examples/Description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u="none" strike="noStrike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Typical Use Case with Sample Example</a:t>
                      </a:r>
                      <a:endParaRPr 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142675"/>
                  </a:ext>
                </a:extLst>
              </a:tr>
              <a:tr h="701752">
                <a:tc>
                  <a:txBody>
                    <a:bodyPr/>
                    <a:lstStyle/>
                    <a:p>
                      <a:r>
                        <a:rPr lang="en-IN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Zero-Shot Prompting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examples; direct instruction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General queries , summarization , Content Translation</a:t>
                      </a:r>
                    </a:p>
                    <a:p>
                      <a:r>
                        <a:rPr lang="en-IN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"Summarize this article in 100 words.” 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871603"/>
                  </a:ext>
                </a:extLst>
              </a:tr>
              <a:tr h="491226">
                <a:tc>
                  <a:txBody>
                    <a:bodyPr/>
                    <a:lstStyle/>
                    <a:p>
                      <a:r>
                        <a:rPr lang="en-IN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Few-Shot Prompting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Multiple examples provided (N-shot)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Complex or nuanced tasks like  Classification /Sentiment Analysis</a:t>
                      </a:r>
                      <a:endParaRPr 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269970"/>
                  </a:ext>
                </a:extLst>
              </a:tr>
              <a:tr h="491226">
                <a:tc>
                  <a:txBody>
                    <a:bodyPr/>
                    <a:lstStyle/>
                    <a:p>
                      <a:r>
                        <a:rPr lang="en-IN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Role-based Prompting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Assigns a persona or role to guide the response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"You are a senior data analyst..."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018242"/>
                  </a:ext>
                </a:extLst>
              </a:tr>
              <a:tr h="701752">
                <a:tc>
                  <a:txBody>
                    <a:bodyPr/>
                    <a:lstStyle/>
                    <a:p>
                      <a:r>
                        <a:rPr lang="en-IN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Chain-of-Thought Prompting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Encourages step-by-step reasoning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Problem-solving, math, logic</a:t>
                      </a:r>
                    </a:p>
                    <a:p>
                      <a:r>
                        <a:rPr lang="en-IN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"Explain your reasoning step-by-step to solve...” 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78037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4E89685-1FBD-0127-7D05-B4D90E938125}"/>
              </a:ext>
            </a:extLst>
          </p:cNvPr>
          <p:cNvSpPr txBox="1"/>
          <p:nvPr/>
        </p:nvSpPr>
        <p:spPr>
          <a:xfrm>
            <a:off x="4018844" y="5020716"/>
            <a:ext cx="70015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IN" b="0" i="0" u="none" strike="noStrike">
                <a:solidFill>
                  <a:srgbClr val="000000"/>
                </a:solidFill>
                <a:effectLst/>
              </a:rPr>
              <a:t>A </a:t>
            </a:r>
            <a:r>
              <a:rPr lang="en-IN" b="1" i="0" u="none" strike="noStrike">
                <a:solidFill>
                  <a:srgbClr val="000000"/>
                </a:solidFill>
                <a:effectLst/>
              </a:rPr>
              <a:t>Prompt Template</a:t>
            </a:r>
            <a:r>
              <a:rPr lang="en-IN" b="0" i="0" u="none" strike="noStrike">
                <a:solidFill>
                  <a:srgbClr val="000000"/>
                </a:solidFill>
                <a:effectLst/>
              </a:rPr>
              <a:t> is </a:t>
            </a:r>
            <a:r>
              <a:rPr lang="en-IN" b="1" i="0" u="none" strike="noStrike">
                <a:solidFill>
                  <a:srgbClr val="000000"/>
                </a:solidFill>
                <a:effectLst/>
              </a:rPr>
              <a:t>reusable template</a:t>
            </a:r>
            <a:r>
              <a:rPr lang="en-IN" b="0" i="0" u="none" strike="noStrike">
                <a:solidFill>
                  <a:srgbClr val="000000"/>
                </a:solidFill>
                <a:effectLst/>
                <a:latin typeface="-webkit-standard"/>
              </a:rPr>
              <a:t> , and plug in different inputs</a:t>
            </a:r>
            <a:r>
              <a:rPr lang="en-IN">
                <a:solidFill>
                  <a:srgbClr val="000000"/>
                </a:solidFill>
                <a:latin typeface="-webkit-standard"/>
              </a:rPr>
              <a:t>. </a:t>
            </a:r>
          </a:p>
          <a:p>
            <a:pPr algn="l">
              <a:buNone/>
            </a:pPr>
            <a:r>
              <a:rPr lang="en-IN" b="0" i="0" u="none" strike="noStrike">
                <a:solidFill>
                  <a:srgbClr val="000000"/>
                </a:solidFill>
                <a:effectLst/>
                <a:latin typeface="-webkit-standard"/>
              </a:rPr>
              <a:t>I</a:t>
            </a:r>
            <a:r>
              <a:rPr lang="en-IN" b="0" i="0" u="none" strike="noStrike">
                <a:solidFill>
                  <a:srgbClr val="000000"/>
                </a:solidFill>
                <a:effectLst/>
              </a:rPr>
              <a:t>t helps you </a:t>
            </a:r>
            <a:r>
              <a:rPr lang="en-IN" b="1" i="0" u="none" strike="noStrike">
                <a:solidFill>
                  <a:srgbClr val="000000"/>
                </a:solidFill>
                <a:effectLst/>
              </a:rPr>
              <a:t>reuse the same structure</a:t>
            </a:r>
            <a:r>
              <a:rPr lang="en-IN" b="0" i="0" u="none" strike="noStrike">
                <a:solidFill>
                  <a:srgbClr val="000000"/>
                </a:solidFill>
                <a:effectLst/>
              </a:rPr>
              <a:t>, just by changing the input.  </a:t>
            </a:r>
          </a:p>
          <a:p>
            <a:pPr algn="l">
              <a:buNone/>
            </a:pPr>
            <a:endParaRPr lang="en-IN">
              <a:solidFill>
                <a:srgbClr val="000000"/>
              </a:solidFill>
            </a:endParaRPr>
          </a:p>
          <a:p>
            <a:pPr algn="l">
              <a:buNone/>
            </a:pPr>
            <a:r>
              <a:rPr lang="en-IN" b="0" i="0" u="none" strike="noStrike">
                <a:solidFill>
                  <a:srgbClr val="000000"/>
                </a:solidFill>
                <a:effectLst/>
              </a:rPr>
              <a:t>In prompts, it becomes:  </a:t>
            </a:r>
            <a:r>
              <a:rPr lang="en-IN"/>
              <a:t>“Summarize the following text: {text}”</a:t>
            </a:r>
          </a:p>
          <a:p>
            <a:pPr algn="l"/>
            <a:endParaRPr lang="en-IN" b="0" i="0" u="none" strike="noStrike">
              <a:solidFill>
                <a:srgbClr val="000000"/>
              </a:solidFill>
              <a:effectLst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49D33B1-CE91-CFD6-4E98-B19C6AC8F2D7}"/>
              </a:ext>
            </a:extLst>
          </p:cNvPr>
          <p:cNvSpPr/>
          <p:nvPr/>
        </p:nvSpPr>
        <p:spPr>
          <a:xfrm>
            <a:off x="620889" y="5170311"/>
            <a:ext cx="3206044" cy="1219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Prompt Template</a:t>
            </a:r>
          </a:p>
        </p:txBody>
      </p:sp>
    </p:spTree>
    <p:extLst>
      <p:ext uri="{BB962C8B-B14F-4D97-AF65-F5344CB8AC3E}">
        <p14:creationId xmlns:p14="http://schemas.microsoft.com/office/powerpoint/2010/main" val="2619130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7B40521-D9D6-A185-195D-FF1FF40C9583}"/>
              </a:ext>
            </a:extLst>
          </p:cNvPr>
          <p:cNvSpPr/>
          <p:nvPr/>
        </p:nvSpPr>
        <p:spPr>
          <a:xfrm rot="10800000">
            <a:off x="-365761" y="0"/>
            <a:ext cx="12557761" cy="6857999"/>
          </a:xfrm>
          <a:prstGeom prst="rect">
            <a:avLst/>
          </a:prstGeom>
          <a:gradFill flip="none" rotWithShape="1">
            <a:gsLst>
              <a:gs pos="0">
                <a:srgbClr val="0530AD"/>
              </a:gs>
              <a:gs pos="64000">
                <a:schemeClr val="bg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5AC0FF-DD9A-08A2-ABFE-BC3ABEB0C98D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EDA2C2-E3D5-3502-0508-A7C609987969}"/>
              </a:ext>
            </a:extLst>
          </p:cNvPr>
          <p:cNvGrpSpPr/>
          <p:nvPr/>
        </p:nvGrpSpPr>
        <p:grpSpPr>
          <a:xfrm>
            <a:off x="11467538" y="283795"/>
            <a:ext cx="429384" cy="321996"/>
            <a:chOff x="4552645" y="3416817"/>
            <a:chExt cx="1948180" cy="1460945"/>
          </a:xfrm>
        </p:grpSpPr>
        <p:sp>
          <p:nvSpPr>
            <p:cNvPr id="15" name="object 27">
              <a:extLst>
                <a:ext uri="{FF2B5EF4-FFF2-40B4-BE49-F238E27FC236}">
                  <a16:creationId xmlns:a16="http://schemas.microsoft.com/office/drawing/2014/main" id="{3331D50E-D400-5751-A292-9C770E663C92}"/>
                </a:ext>
              </a:extLst>
            </p:cNvPr>
            <p:cNvSpPr/>
            <p:nvPr/>
          </p:nvSpPr>
          <p:spPr>
            <a:xfrm>
              <a:off x="5201831" y="4066015"/>
              <a:ext cx="649605" cy="487045"/>
            </a:xfrm>
            <a:custGeom>
              <a:avLst/>
              <a:gdLst/>
              <a:ahLst/>
              <a:cxnLst/>
              <a:rect l="l" t="t" r="r" b="b"/>
              <a:pathLst>
                <a:path w="649605" h="487045">
                  <a:moveTo>
                    <a:pt x="649198" y="324599"/>
                  </a:moveTo>
                  <a:lnTo>
                    <a:pt x="0" y="324599"/>
                  </a:lnTo>
                  <a:lnTo>
                    <a:pt x="0" y="486892"/>
                  </a:lnTo>
                  <a:lnTo>
                    <a:pt x="649198" y="486892"/>
                  </a:lnTo>
                  <a:lnTo>
                    <a:pt x="649198" y="324599"/>
                  </a:lnTo>
                  <a:close/>
                </a:path>
                <a:path w="649605" h="487045">
                  <a:moveTo>
                    <a:pt x="649198" y="0"/>
                  </a:moveTo>
                  <a:lnTo>
                    <a:pt x="0" y="0"/>
                  </a:lnTo>
                  <a:lnTo>
                    <a:pt x="0" y="162293"/>
                  </a:lnTo>
                  <a:lnTo>
                    <a:pt x="649198" y="162293"/>
                  </a:lnTo>
                  <a:lnTo>
                    <a:pt x="6491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28">
              <a:extLst>
                <a:ext uri="{FF2B5EF4-FFF2-40B4-BE49-F238E27FC236}">
                  <a16:creationId xmlns:a16="http://schemas.microsoft.com/office/drawing/2014/main" id="{25AEEE89-AF7F-1437-B5CF-0250ABD1790F}"/>
                </a:ext>
              </a:extLst>
            </p:cNvPr>
            <p:cNvSpPr/>
            <p:nvPr/>
          </p:nvSpPr>
          <p:spPr>
            <a:xfrm>
              <a:off x="4552645" y="3416817"/>
              <a:ext cx="1948180" cy="1136650"/>
            </a:xfrm>
            <a:custGeom>
              <a:avLst/>
              <a:gdLst/>
              <a:ahLst/>
              <a:cxnLst/>
              <a:rect l="l" t="t" r="r" b="b"/>
              <a:pathLst>
                <a:path w="1948180" h="1136650">
                  <a:moveTo>
                    <a:pt x="649198" y="446328"/>
                  </a:moveTo>
                  <a:lnTo>
                    <a:pt x="152082" y="666991"/>
                  </a:lnTo>
                  <a:lnTo>
                    <a:pt x="109855" y="689152"/>
                  </a:lnTo>
                  <a:lnTo>
                    <a:pt x="73012" y="718858"/>
                  </a:lnTo>
                  <a:lnTo>
                    <a:pt x="42595" y="755065"/>
                  </a:lnTo>
                  <a:lnTo>
                    <a:pt x="19608" y="796785"/>
                  </a:lnTo>
                  <a:lnTo>
                    <a:pt x="5067" y="842975"/>
                  </a:lnTo>
                  <a:lnTo>
                    <a:pt x="0" y="892644"/>
                  </a:lnTo>
                  <a:lnTo>
                    <a:pt x="4940" y="941705"/>
                  </a:lnTo>
                  <a:lnTo>
                    <a:pt x="19126" y="987399"/>
                  </a:lnTo>
                  <a:lnTo>
                    <a:pt x="41579" y="1028763"/>
                  </a:lnTo>
                  <a:lnTo>
                    <a:pt x="71297" y="1064793"/>
                  </a:lnTo>
                  <a:lnTo>
                    <a:pt x="107327" y="1094511"/>
                  </a:lnTo>
                  <a:lnTo>
                    <a:pt x="148678" y="1116965"/>
                  </a:lnTo>
                  <a:lnTo>
                    <a:pt x="194386" y="1131150"/>
                  </a:lnTo>
                  <a:lnTo>
                    <a:pt x="243446" y="1136091"/>
                  </a:lnTo>
                  <a:lnTo>
                    <a:pt x="296456" y="1130312"/>
                  </a:lnTo>
                  <a:lnTo>
                    <a:pt x="345414" y="1113777"/>
                  </a:lnTo>
                  <a:lnTo>
                    <a:pt x="389077" y="1087742"/>
                  </a:lnTo>
                  <a:lnTo>
                    <a:pt x="426224" y="1053452"/>
                  </a:lnTo>
                  <a:lnTo>
                    <a:pt x="455587" y="1012151"/>
                  </a:lnTo>
                  <a:lnTo>
                    <a:pt x="475932" y="965073"/>
                  </a:lnTo>
                  <a:lnTo>
                    <a:pt x="649198" y="446328"/>
                  </a:lnTo>
                  <a:close/>
                </a:path>
                <a:path w="1948180" h="1136650">
                  <a:moveTo>
                    <a:pt x="933208" y="142011"/>
                  </a:moveTo>
                  <a:lnTo>
                    <a:pt x="925969" y="97129"/>
                  </a:lnTo>
                  <a:lnTo>
                    <a:pt x="905814" y="58140"/>
                  </a:lnTo>
                  <a:lnTo>
                    <a:pt x="875068" y="27393"/>
                  </a:lnTo>
                  <a:lnTo>
                    <a:pt x="836091" y="7239"/>
                  </a:lnTo>
                  <a:lnTo>
                    <a:pt x="791197" y="0"/>
                  </a:lnTo>
                  <a:lnTo>
                    <a:pt x="746315" y="7239"/>
                  </a:lnTo>
                  <a:lnTo>
                    <a:pt x="707326" y="27393"/>
                  </a:lnTo>
                  <a:lnTo>
                    <a:pt x="676592" y="58140"/>
                  </a:lnTo>
                  <a:lnTo>
                    <a:pt x="656424" y="97129"/>
                  </a:lnTo>
                  <a:lnTo>
                    <a:pt x="649185" y="142011"/>
                  </a:lnTo>
                  <a:lnTo>
                    <a:pt x="656424" y="186893"/>
                  </a:lnTo>
                  <a:lnTo>
                    <a:pt x="676592" y="225882"/>
                  </a:lnTo>
                  <a:lnTo>
                    <a:pt x="707326" y="256628"/>
                  </a:lnTo>
                  <a:lnTo>
                    <a:pt x="746315" y="276783"/>
                  </a:lnTo>
                  <a:lnTo>
                    <a:pt x="791197" y="284035"/>
                  </a:lnTo>
                  <a:lnTo>
                    <a:pt x="836091" y="276783"/>
                  </a:lnTo>
                  <a:lnTo>
                    <a:pt x="875068" y="256628"/>
                  </a:lnTo>
                  <a:lnTo>
                    <a:pt x="905814" y="225882"/>
                  </a:lnTo>
                  <a:lnTo>
                    <a:pt x="925969" y="186893"/>
                  </a:lnTo>
                  <a:lnTo>
                    <a:pt x="933208" y="142011"/>
                  </a:lnTo>
                  <a:close/>
                </a:path>
                <a:path w="1948180" h="1136650">
                  <a:moveTo>
                    <a:pt x="1257808" y="486892"/>
                  </a:moveTo>
                  <a:lnTo>
                    <a:pt x="1230706" y="447370"/>
                  </a:lnTo>
                  <a:lnTo>
                    <a:pt x="1197965" y="412305"/>
                  </a:lnTo>
                  <a:lnTo>
                    <a:pt x="1160284" y="382295"/>
                  </a:lnTo>
                  <a:lnTo>
                    <a:pt x="1118323" y="357936"/>
                  </a:lnTo>
                  <a:lnTo>
                    <a:pt x="1072807" y="339813"/>
                  </a:lnTo>
                  <a:lnTo>
                    <a:pt x="1024394" y="328498"/>
                  </a:lnTo>
                  <a:lnTo>
                    <a:pt x="973785" y="324599"/>
                  </a:lnTo>
                  <a:lnTo>
                    <a:pt x="923175" y="328498"/>
                  </a:lnTo>
                  <a:lnTo>
                    <a:pt x="874763" y="339813"/>
                  </a:lnTo>
                  <a:lnTo>
                    <a:pt x="829246" y="357936"/>
                  </a:lnTo>
                  <a:lnTo>
                    <a:pt x="787298" y="382295"/>
                  </a:lnTo>
                  <a:lnTo>
                    <a:pt x="749604" y="412305"/>
                  </a:lnTo>
                  <a:lnTo>
                    <a:pt x="716864" y="447370"/>
                  </a:lnTo>
                  <a:lnTo>
                    <a:pt x="689762" y="486892"/>
                  </a:lnTo>
                  <a:lnTo>
                    <a:pt x="1257808" y="486892"/>
                  </a:lnTo>
                  <a:close/>
                </a:path>
                <a:path w="1948180" h="1136650">
                  <a:moveTo>
                    <a:pt x="1298384" y="142011"/>
                  </a:moveTo>
                  <a:lnTo>
                    <a:pt x="1291145" y="97129"/>
                  </a:lnTo>
                  <a:lnTo>
                    <a:pt x="1270990" y="58140"/>
                  </a:lnTo>
                  <a:lnTo>
                    <a:pt x="1240243" y="27393"/>
                  </a:lnTo>
                  <a:lnTo>
                    <a:pt x="1201267" y="7239"/>
                  </a:lnTo>
                  <a:lnTo>
                    <a:pt x="1156373" y="0"/>
                  </a:lnTo>
                  <a:lnTo>
                    <a:pt x="1111491" y="7239"/>
                  </a:lnTo>
                  <a:lnTo>
                    <a:pt x="1072502" y="27393"/>
                  </a:lnTo>
                  <a:lnTo>
                    <a:pt x="1041755" y="58140"/>
                  </a:lnTo>
                  <a:lnTo>
                    <a:pt x="1021600" y="97129"/>
                  </a:lnTo>
                  <a:lnTo>
                    <a:pt x="1014361" y="142011"/>
                  </a:lnTo>
                  <a:lnTo>
                    <a:pt x="1021600" y="186893"/>
                  </a:lnTo>
                  <a:lnTo>
                    <a:pt x="1041755" y="225882"/>
                  </a:lnTo>
                  <a:lnTo>
                    <a:pt x="1072502" y="256628"/>
                  </a:lnTo>
                  <a:lnTo>
                    <a:pt x="1111491" y="276783"/>
                  </a:lnTo>
                  <a:lnTo>
                    <a:pt x="1156373" y="284035"/>
                  </a:lnTo>
                  <a:lnTo>
                    <a:pt x="1201267" y="276783"/>
                  </a:lnTo>
                  <a:lnTo>
                    <a:pt x="1240243" y="256628"/>
                  </a:lnTo>
                  <a:lnTo>
                    <a:pt x="1270990" y="225882"/>
                  </a:lnTo>
                  <a:lnTo>
                    <a:pt x="1291145" y="186893"/>
                  </a:lnTo>
                  <a:lnTo>
                    <a:pt x="1298384" y="142011"/>
                  </a:lnTo>
                  <a:close/>
                </a:path>
                <a:path w="1948180" h="1136650">
                  <a:moveTo>
                    <a:pt x="1947570" y="892644"/>
                  </a:moveTo>
                  <a:lnTo>
                    <a:pt x="1942503" y="842975"/>
                  </a:lnTo>
                  <a:lnTo>
                    <a:pt x="1927961" y="796785"/>
                  </a:lnTo>
                  <a:lnTo>
                    <a:pt x="1904974" y="755065"/>
                  </a:lnTo>
                  <a:lnTo>
                    <a:pt x="1874558" y="718858"/>
                  </a:lnTo>
                  <a:lnTo>
                    <a:pt x="1837728" y="689152"/>
                  </a:lnTo>
                  <a:lnTo>
                    <a:pt x="1795500" y="666991"/>
                  </a:lnTo>
                  <a:lnTo>
                    <a:pt x="1298384" y="446328"/>
                  </a:lnTo>
                  <a:lnTo>
                    <a:pt x="1471637" y="965073"/>
                  </a:lnTo>
                  <a:lnTo>
                    <a:pt x="1491983" y="1012151"/>
                  </a:lnTo>
                  <a:lnTo>
                    <a:pt x="1521345" y="1053452"/>
                  </a:lnTo>
                  <a:lnTo>
                    <a:pt x="1558493" y="1087742"/>
                  </a:lnTo>
                  <a:lnTo>
                    <a:pt x="1602168" y="1113777"/>
                  </a:lnTo>
                  <a:lnTo>
                    <a:pt x="1651127" y="1130312"/>
                  </a:lnTo>
                  <a:lnTo>
                    <a:pt x="1704124" y="1136091"/>
                  </a:lnTo>
                  <a:lnTo>
                    <a:pt x="1753196" y="1131150"/>
                  </a:lnTo>
                  <a:lnTo>
                    <a:pt x="1798891" y="1116965"/>
                  </a:lnTo>
                  <a:lnTo>
                    <a:pt x="1840242" y="1094511"/>
                  </a:lnTo>
                  <a:lnTo>
                    <a:pt x="1876272" y="1064793"/>
                  </a:lnTo>
                  <a:lnTo>
                    <a:pt x="1906003" y="1028763"/>
                  </a:lnTo>
                  <a:lnTo>
                    <a:pt x="1928444" y="987399"/>
                  </a:lnTo>
                  <a:lnTo>
                    <a:pt x="1942630" y="941705"/>
                  </a:lnTo>
                  <a:lnTo>
                    <a:pt x="1947570" y="892644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9">
              <a:extLst>
                <a:ext uri="{FF2B5EF4-FFF2-40B4-BE49-F238E27FC236}">
                  <a16:creationId xmlns:a16="http://schemas.microsoft.com/office/drawing/2014/main" id="{D050DB6C-8DC7-4509-BC21-47963795FD36}"/>
                </a:ext>
              </a:extLst>
            </p:cNvPr>
            <p:cNvSpPr/>
            <p:nvPr/>
          </p:nvSpPr>
          <p:spPr>
            <a:xfrm>
              <a:off x="5242415" y="4715202"/>
              <a:ext cx="568325" cy="162560"/>
            </a:xfrm>
            <a:custGeom>
              <a:avLst/>
              <a:gdLst/>
              <a:ahLst/>
              <a:cxnLst/>
              <a:rect l="l" t="t" r="r" b="b"/>
              <a:pathLst>
                <a:path w="568325" h="162559">
                  <a:moveTo>
                    <a:pt x="568045" y="0"/>
                  </a:moveTo>
                  <a:lnTo>
                    <a:pt x="0" y="0"/>
                  </a:lnTo>
                  <a:lnTo>
                    <a:pt x="27104" y="39530"/>
                  </a:lnTo>
                  <a:lnTo>
                    <a:pt x="59843" y="74592"/>
                  </a:lnTo>
                  <a:lnTo>
                    <a:pt x="97531" y="104598"/>
                  </a:lnTo>
                  <a:lnTo>
                    <a:pt x="139480" y="128959"/>
                  </a:lnTo>
                  <a:lnTo>
                    <a:pt x="185002" y="147089"/>
                  </a:lnTo>
                  <a:lnTo>
                    <a:pt x="233412" y="158398"/>
                  </a:lnTo>
                  <a:lnTo>
                    <a:pt x="284022" y="162298"/>
                  </a:lnTo>
                  <a:lnTo>
                    <a:pt x="334632" y="158398"/>
                  </a:lnTo>
                  <a:lnTo>
                    <a:pt x="383042" y="147089"/>
                  </a:lnTo>
                  <a:lnTo>
                    <a:pt x="428565" y="128959"/>
                  </a:lnTo>
                  <a:lnTo>
                    <a:pt x="470514" y="104598"/>
                  </a:lnTo>
                  <a:lnTo>
                    <a:pt x="508201" y="74592"/>
                  </a:lnTo>
                  <a:lnTo>
                    <a:pt x="540941" y="39530"/>
                  </a:lnTo>
                  <a:lnTo>
                    <a:pt x="568045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F8200BDD-E295-53D0-AA02-21A6664CD528}"/>
              </a:ext>
            </a:extLst>
          </p:cNvPr>
          <p:cNvSpPr txBox="1">
            <a:spLocks/>
          </p:cNvSpPr>
          <p:nvPr/>
        </p:nvSpPr>
        <p:spPr>
          <a:xfrm>
            <a:off x="917607" y="605791"/>
            <a:ext cx="8187892" cy="14365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b="1">
                <a:latin typeface="Consolas" panose="020B0609020204030204" pitchFamily="49" charset="0"/>
              </a:rPr>
              <a:t>What is Agentic AI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5EE421E-7D93-54A2-0392-8BC4539ACCF0}"/>
              </a:ext>
            </a:extLst>
          </p:cNvPr>
          <p:cNvSpPr txBox="1">
            <a:spLocks/>
          </p:cNvSpPr>
          <p:nvPr/>
        </p:nvSpPr>
        <p:spPr>
          <a:xfrm>
            <a:off x="917607" y="2151965"/>
            <a:ext cx="9025290" cy="9858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latin typeface="Consolas" panose="020B0609020204030204" pitchFamily="49" charset="0"/>
              </a:rPr>
              <a:t>Agentic AI refers to artificial intelligence systems that autonomously plan and execute tasks to achieve specific objectives, adapting to new information and environments with minimal human intervention.</a:t>
            </a:r>
            <a:endParaRPr lang="en-IN" sz="180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CC0B5F-9BB9-DAAF-530B-1B7C01F4A5BD}"/>
              </a:ext>
            </a:extLst>
          </p:cNvPr>
          <p:cNvSpPr txBox="1"/>
          <p:nvPr/>
        </p:nvSpPr>
        <p:spPr>
          <a:xfrm>
            <a:off x="917607" y="3397637"/>
            <a:ext cx="9673389" cy="1754326"/>
          </a:xfrm>
          <a:prstGeom prst="rect">
            <a:avLst/>
          </a:prstGeom>
          <a:noFill/>
        </p:spPr>
        <p:txBody>
          <a:bodyPr wrap="square" numCol="2" spcCol="252000" rtlCol="0">
            <a:spAutoFit/>
          </a:bodyPr>
          <a:lstStyle/>
          <a:p>
            <a:r>
              <a:rPr lang="en-IN">
                <a:latin typeface="Consolas" panose="020B0609020204030204" pitchFamily="49" charset="0"/>
              </a:rPr>
              <a:t>Key Features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latin typeface="Consolas" panose="020B0609020204030204" pitchFamily="49" charset="0"/>
              </a:rPr>
              <a:t>Autonomous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latin typeface="Consolas" panose="020B0609020204030204" pitchFamily="49" charset="0"/>
              </a:rPr>
              <a:t>Goal- Oriented Behaviour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latin typeface="Consolas" panose="020B0609020204030204" pitchFamily="49" charset="0"/>
              </a:rPr>
              <a:t>Adaptive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latin typeface="Consolas" panose="020B0609020204030204" pitchFamily="49" charset="0"/>
              </a:rPr>
              <a:t>Contextual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Proactive Actions</a:t>
            </a:r>
          </a:p>
          <a:p>
            <a:endParaRPr lang="en-IN">
              <a:latin typeface="Consolas" panose="020B0609020204030204" pitchFamily="49" charset="0"/>
            </a:endParaRPr>
          </a:p>
        </p:txBody>
      </p:sp>
      <p:pic>
        <p:nvPicPr>
          <p:cNvPr id="4" name="Picture 3" descr="A diagram of a building block&#10;&#10;AI-generated content may be incorrect.">
            <a:extLst>
              <a:ext uri="{FF2B5EF4-FFF2-40B4-BE49-F238E27FC236}">
                <a16:creationId xmlns:a16="http://schemas.microsoft.com/office/drawing/2014/main" id="{4307C5AA-72B6-3359-C274-C9DD80B81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553" y="3244334"/>
            <a:ext cx="5919770" cy="3329871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38391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E5EED-94BA-86BA-B70D-F6C342999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EF2AF9-C902-7CBC-8B3D-6D61CE5D5AD3}"/>
              </a:ext>
            </a:extLst>
          </p:cNvPr>
          <p:cNvSpPr/>
          <p:nvPr/>
        </p:nvSpPr>
        <p:spPr>
          <a:xfrm rot="10800000">
            <a:off x="-365761" y="1"/>
            <a:ext cx="12557761" cy="6857999"/>
          </a:xfrm>
          <a:prstGeom prst="rect">
            <a:avLst/>
          </a:prstGeom>
          <a:gradFill flip="none" rotWithShape="1">
            <a:gsLst>
              <a:gs pos="0">
                <a:srgbClr val="0530AD"/>
              </a:gs>
              <a:gs pos="64000">
                <a:schemeClr val="bg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E3DB74-E464-6BB7-0F68-BEB5AE45060E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A8C5A25-E6E4-D320-7E91-6EBB7224A5D8}"/>
              </a:ext>
            </a:extLst>
          </p:cNvPr>
          <p:cNvGrpSpPr/>
          <p:nvPr/>
        </p:nvGrpSpPr>
        <p:grpSpPr>
          <a:xfrm>
            <a:off x="11467538" y="283795"/>
            <a:ext cx="429384" cy="321996"/>
            <a:chOff x="4552645" y="3416817"/>
            <a:chExt cx="1948180" cy="1460945"/>
          </a:xfrm>
        </p:grpSpPr>
        <p:sp>
          <p:nvSpPr>
            <p:cNvPr id="15" name="object 27">
              <a:extLst>
                <a:ext uri="{FF2B5EF4-FFF2-40B4-BE49-F238E27FC236}">
                  <a16:creationId xmlns:a16="http://schemas.microsoft.com/office/drawing/2014/main" id="{48F3AD57-ED53-93CA-B8E5-2CCD0D83AA0C}"/>
                </a:ext>
              </a:extLst>
            </p:cNvPr>
            <p:cNvSpPr/>
            <p:nvPr/>
          </p:nvSpPr>
          <p:spPr>
            <a:xfrm>
              <a:off x="5201831" y="4066015"/>
              <a:ext cx="649605" cy="487045"/>
            </a:xfrm>
            <a:custGeom>
              <a:avLst/>
              <a:gdLst/>
              <a:ahLst/>
              <a:cxnLst/>
              <a:rect l="l" t="t" r="r" b="b"/>
              <a:pathLst>
                <a:path w="649605" h="487045">
                  <a:moveTo>
                    <a:pt x="649198" y="324599"/>
                  </a:moveTo>
                  <a:lnTo>
                    <a:pt x="0" y="324599"/>
                  </a:lnTo>
                  <a:lnTo>
                    <a:pt x="0" y="486892"/>
                  </a:lnTo>
                  <a:lnTo>
                    <a:pt x="649198" y="486892"/>
                  </a:lnTo>
                  <a:lnTo>
                    <a:pt x="649198" y="324599"/>
                  </a:lnTo>
                  <a:close/>
                </a:path>
                <a:path w="649605" h="487045">
                  <a:moveTo>
                    <a:pt x="649198" y="0"/>
                  </a:moveTo>
                  <a:lnTo>
                    <a:pt x="0" y="0"/>
                  </a:lnTo>
                  <a:lnTo>
                    <a:pt x="0" y="162293"/>
                  </a:lnTo>
                  <a:lnTo>
                    <a:pt x="649198" y="162293"/>
                  </a:lnTo>
                  <a:lnTo>
                    <a:pt x="6491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28">
              <a:extLst>
                <a:ext uri="{FF2B5EF4-FFF2-40B4-BE49-F238E27FC236}">
                  <a16:creationId xmlns:a16="http://schemas.microsoft.com/office/drawing/2014/main" id="{5A8713BE-1B19-7F11-98B1-53C904526241}"/>
                </a:ext>
              </a:extLst>
            </p:cNvPr>
            <p:cNvSpPr/>
            <p:nvPr/>
          </p:nvSpPr>
          <p:spPr>
            <a:xfrm>
              <a:off x="4552645" y="3416817"/>
              <a:ext cx="1948180" cy="1136650"/>
            </a:xfrm>
            <a:custGeom>
              <a:avLst/>
              <a:gdLst/>
              <a:ahLst/>
              <a:cxnLst/>
              <a:rect l="l" t="t" r="r" b="b"/>
              <a:pathLst>
                <a:path w="1948180" h="1136650">
                  <a:moveTo>
                    <a:pt x="649198" y="446328"/>
                  </a:moveTo>
                  <a:lnTo>
                    <a:pt x="152082" y="666991"/>
                  </a:lnTo>
                  <a:lnTo>
                    <a:pt x="109855" y="689152"/>
                  </a:lnTo>
                  <a:lnTo>
                    <a:pt x="73012" y="718858"/>
                  </a:lnTo>
                  <a:lnTo>
                    <a:pt x="42595" y="755065"/>
                  </a:lnTo>
                  <a:lnTo>
                    <a:pt x="19608" y="796785"/>
                  </a:lnTo>
                  <a:lnTo>
                    <a:pt x="5067" y="842975"/>
                  </a:lnTo>
                  <a:lnTo>
                    <a:pt x="0" y="892644"/>
                  </a:lnTo>
                  <a:lnTo>
                    <a:pt x="4940" y="941705"/>
                  </a:lnTo>
                  <a:lnTo>
                    <a:pt x="19126" y="987399"/>
                  </a:lnTo>
                  <a:lnTo>
                    <a:pt x="41579" y="1028763"/>
                  </a:lnTo>
                  <a:lnTo>
                    <a:pt x="71297" y="1064793"/>
                  </a:lnTo>
                  <a:lnTo>
                    <a:pt x="107327" y="1094511"/>
                  </a:lnTo>
                  <a:lnTo>
                    <a:pt x="148678" y="1116965"/>
                  </a:lnTo>
                  <a:lnTo>
                    <a:pt x="194386" y="1131150"/>
                  </a:lnTo>
                  <a:lnTo>
                    <a:pt x="243446" y="1136091"/>
                  </a:lnTo>
                  <a:lnTo>
                    <a:pt x="296456" y="1130312"/>
                  </a:lnTo>
                  <a:lnTo>
                    <a:pt x="345414" y="1113777"/>
                  </a:lnTo>
                  <a:lnTo>
                    <a:pt x="389077" y="1087742"/>
                  </a:lnTo>
                  <a:lnTo>
                    <a:pt x="426224" y="1053452"/>
                  </a:lnTo>
                  <a:lnTo>
                    <a:pt x="455587" y="1012151"/>
                  </a:lnTo>
                  <a:lnTo>
                    <a:pt x="475932" y="965073"/>
                  </a:lnTo>
                  <a:lnTo>
                    <a:pt x="649198" y="446328"/>
                  </a:lnTo>
                  <a:close/>
                </a:path>
                <a:path w="1948180" h="1136650">
                  <a:moveTo>
                    <a:pt x="933208" y="142011"/>
                  </a:moveTo>
                  <a:lnTo>
                    <a:pt x="925969" y="97129"/>
                  </a:lnTo>
                  <a:lnTo>
                    <a:pt x="905814" y="58140"/>
                  </a:lnTo>
                  <a:lnTo>
                    <a:pt x="875068" y="27393"/>
                  </a:lnTo>
                  <a:lnTo>
                    <a:pt x="836091" y="7239"/>
                  </a:lnTo>
                  <a:lnTo>
                    <a:pt x="791197" y="0"/>
                  </a:lnTo>
                  <a:lnTo>
                    <a:pt x="746315" y="7239"/>
                  </a:lnTo>
                  <a:lnTo>
                    <a:pt x="707326" y="27393"/>
                  </a:lnTo>
                  <a:lnTo>
                    <a:pt x="676592" y="58140"/>
                  </a:lnTo>
                  <a:lnTo>
                    <a:pt x="656424" y="97129"/>
                  </a:lnTo>
                  <a:lnTo>
                    <a:pt x="649185" y="142011"/>
                  </a:lnTo>
                  <a:lnTo>
                    <a:pt x="656424" y="186893"/>
                  </a:lnTo>
                  <a:lnTo>
                    <a:pt x="676592" y="225882"/>
                  </a:lnTo>
                  <a:lnTo>
                    <a:pt x="707326" y="256628"/>
                  </a:lnTo>
                  <a:lnTo>
                    <a:pt x="746315" y="276783"/>
                  </a:lnTo>
                  <a:lnTo>
                    <a:pt x="791197" y="284035"/>
                  </a:lnTo>
                  <a:lnTo>
                    <a:pt x="836091" y="276783"/>
                  </a:lnTo>
                  <a:lnTo>
                    <a:pt x="875068" y="256628"/>
                  </a:lnTo>
                  <a:lnTo>
                    <a:pt x="905814" y="225882"/>
                  </a:lnTo>
                  <a:lnTo>
                    <a:pt x="925969" y="186893"/>
                  </a:lnTo>
                  <a:lnTo>
                    <a:pt x="933208" y="142011"/>
                  </a:lnTo>
                  <a:close/>
                </a:path>
                <a:path w="1948180" h="1136650">
                  <a:moveTo>
                    <a:pt x="1257808" y="486892"/>
                  </a:moveTo>
                  <a:lnTo>
                    <a:pt x="1230706" y="447370"/>
                  </a:lnTo>
                  <a:lnTo>
                    <a:pt x="1197965" y="412305"/>
                  </a:lnTo>
                  <a:lnTo>
                    <a:pt x="1160284" y="382295"/>
                  </a:lnTo>
                  <a:lnTo>
                    <a:pt x="1118323" y="357936"/>
                  </a:lnTo>
                  <a:lnTo>
                    <a:pt x="1072807" y="339813"/>
                  </a:lnTo>
                  <a:lnTo>
                    <a:pt x="1024394" y="328498"/>
                  </a:lnTo>
                  <a:lnTo>
                    <a:pt x="973785" y="324599"/>
                  </a:lnTo>
                  <a:lnTo>
                    <a:pt x="923175" y="328498"/>
                  </a:lnTo>
                  <a:lnTo>
                    <a:pt x="874763" y="339813"/>
                  </a:lnTo>
                  <a:lnTo>
                    <a:pt x="829246" y="357936"/>
                  </a:lnTo>
                  <a:lnTo>
                    <a:pt x="787298" y="382295"/>
                  </a:lnTo>
                  <a:lnTo>
                    <a:pt x="749604" y="412305"/>
                  </a:lnTo>
                  <a:lnTo>
                    <a:pt x="716864" y="447370"/>
                  </a:lnTo>
                  <a:lnTo>
                    <a:pt x="689762" y="486892"/>
                  </a:lnTo>
                  <a:lnTo>
                    <a:pt x="1257808" y="486892"/>
                  </a:lnTo>
                  <a:close/>
                </a:path>
                <a:path w="1948180" h="1136650">
                  <a:moveTo>
                    <a:pt x="1298384" y="142011"/>
                  </a:moveTo>
                  <a:lnTo>
                    <a:pt x="1291145" y="97129"/>
                  </a:lnTo>
                  <a:lnTo>
                    <a:pt x="1270990" y="58140"/>
                  </a:lnTo>
                  <a:lnTo>
                    <a:pt x="1240243" y="27393"/>
                  </a:lnTo>
                  <a:lnTo>
                    <a:pt x="1201267" y="7239"/>
                  </a:lnTo>
                  <a:lnTo>
                    <a:pt x="1156373" y="0"/>
                  </a:lnTo>
                  <a:lnTo>
                    <a:pt x="1111491" y="7239"/>
                  </a:lnTo>
                  <a:lnTo>
                    <a:pt x="1072502" y="27393"/>
                  </a:lnTo>
                  <a:lnTo>
                    <a:pt x="1041755" y="58140"/>
                  </a:lnTo>
                  <a:lnTo>
                    <a:pt x="1021600" y="97129"/>
                  </a:lnTo>
                  <a:lnTo>
                    <a:pt x="1014361" y="142011"/>
                  </a:lnTo>
                  <a:lnTo>
                    <a:pt x="1021600" y="186893"/>
                  </a:lnTo>
                  <a:lnTo>
                    <a:pt x="1041755" y="225882"/>
                  </a:lnTo>
                  <a:lnTo>
                    <a:pt x="1072502" y="256628"/>
                  </a:lnTo>
                  <a:lnTo>
                    <a:pt x="1111491" y="276783"/>
                  </a:lnTo>
                  <a:lnTo>
                    <a:pt x="1156373" y="284035"/>
                  </a:lnTo>
                  <a:lnTo>
                    <a:pt x="1201267" y="276783"/>
                  </a:lnTo>
                  <a:lnTo>
                    <a:pt x="1240243" y="256628"/>
                  </a:lnTo>
                  <a:lnTo>
                    <a:pt x="1270990" y="225882"/>
                  </a:lnTo>
                  <a:lnTo>
                    <a:pt x="1291145" y="186893"/>
                  </a:lnTo>
                  <a:lnTo>
                    <a:pt x="1298384" y="142011"/>
                  </a:lnTo>
                  <a:close/>
                </a:path>
                <a:path w="1948180" h="1136650">
                  <a:moveTo>
                    <a:pt x="1947570" y="892644"/>
                  </a:moveTo>
                  <a:lnTo>
                    <a:pt x="1942503" y="842975"/>
                  </a:lnTo>
                  <a:lnTo>
                    <a:pt x="1927961" y="796785"/>
                  </a:lnTo>
                  <a:lnTo>
                    <a:pt x="1904974" y="755065"/>
                  </a:lnTo>
                  <a:lnTo>
                    <a:pt x="1874558" y="718858"/>
                  </a:lnTo>
                  <a:lnTo>
                    <a:pt x="1837728" y="689152"/>
                  </a:lnTo>
                  <a:lnTo>
                    <a:pt x="1795500" y="666991"/>
                  </a:lnTo>
                  <a:lnTo>
                    <a:pt x="1298384" y="446328"/>
                  </a:lnTo>
                  <a:lnTo>
                    <a:pt x="1471637" y="965073"/>
                  </a:lnTo>
                  <a:lnTo>
                    <a:pt x="1491983" y="1012151"/>
                  </a:lnTo>
                  <a:lnTo>
                    <a:pt x="1521345" y="1053452"/>
                  </a:lnTo>
                  <a:lnTo>
                    <a:pt x="1558493" y="1087742"/>
                  </a:lnTo>
                  <a:lnTo>
                    <a:pt x="1602168" y="1113777"/>
                  </a:lnTo>
                  <a:lnTo>
                    <a:pt x="1651127" y="1130312"/>
                  </a:lnTo>
                  <a:lnTo>
                    <a:pt x="1704124" y="1136091"/>
                  </a:lnTo>
                  <a:lnTo>
                    <a:pt x="1753196" y="1131150"/>
                  </a:lnTo>
                  <a:lnTo>
                    <a:pt x="1798891" y="1116965"/>
                  </a:lnTo>
                  <a:lnTo>
                    <a:pt x="1840242" y="1094511"/>
                  </a:lnTo>
                  <a:lnTo>
                    <a:pt x="1876272" y="1064793"/>
                  </a:lnTo>
                  <a:lnTo>
                    <a:pt x="1906003" y="1028763"/>
                  </a:lnTo>
                  <a:lnTo>
                    <a:pt x="1928444" y="987399"/>
                  </a:lnTo>
                  <a:lnTo>
                    <a:pt x="1942630" y="941705"/>
                  </a:lnTo>
                  <a:lnTo>
                    <a:pt x="1947570" y="892644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9">
              <a:extLst>
                <a:ext uri="{FF2B5EF4-FFF2-40B4-BE49-F238E27FC236}">
                  <a16:creationId xmlns:a16="http://schemas.microsoft.com/office/drawing/2014/main" id="{AC42F717-A3D7-EE03-D184-2D584CF5A277}"/>
                </a:ext>
              </a:extLst>
            </p:cNvPr>
            <p:cNvSpPr/>
            <p:nvPr/>
          </p:nvSpPr>
          <p:spPr>
            <a:xfrm>
              <a:off x="5242415" y="4715202"/>
              <a:ext cx="568325" cy="162560"/>
            </a:xfrm>
            <a:custGeom>
              <a:avLst/>
              <a:gdLst/>
              <a:ahLst/>
              <a:cxnLst/>
              <a:rect l="l" t="t" r="r" b="b"/>
              <a:pathLst>
                <a:path w="568325" h="162559">
                  <a:moveTo>
                    <a:pt x="568045" y="0"/>
                  </a:moveTo>
                  <a:lnTo>
                    <a:pt x="0" y="0"/>
                  </a:lnTo>
                  <a:lnTo>
                    <a:pt x="27104" y="39530"/>
                  </a:lnTo>
                  <a:lnTo>
                    <a:pt x="59843" y="74592"/>
                  </a:lnTo>
                  <a:lnTo>
                    <a:pt x="97531" y="104598"/>
                  </a:lnTo>
                  <a:lnTo>
                    <a:pt x="139480" y="128959"/>
                  </a:lnTo>
                  <a:lnTo>
                    <a:pt x="185002" y="147089"/>
                  </a:lnTo>
                  <a:lnTo>
                    <a:pt x="233412" y="158398"/>
                  </a:lnTo>
                  <a:lnTo>
                    <a:pt x="284022" y="162298"/>
                  </a:lnTo>
                  <a:lnTo>
                    <a:pt x="334632" y="158398"/>
                  </a:lnTo>
                  <a:lnTo>
                    <a:pt x="383042" y="147089"/>
                  </a:lnTo>
                  <a:lnTo>
                    <a:pt x="428565" y="128959"/>
                  </a:lnTo>
                  <a:lnTo>
                    <a:pt x="470514" y="104598"/>
                  </a:lnTo>
                  <a:lnTo>
                    <a:pt x="508201" y="74592"/>
                  </a:lnTo>
                  <a:lnTo>
                    <a:pt x="540941" y="39530"/>
                  </a:lnTo>
                  <a:lnTo>
                    <a:pt x="568045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9D32C141-1772-905E-4110-B23405D239F5}"/>
              </a:ext>
            </a:extLst>
          </p:cNvPr>
          <p:cNvSpPr txBox="1">
            <a:spLocks/>
          </p:cNvSpPr>
          <p:nvPr/>
        </p:nvSpPr>
        <p:spPr>
          <a:xfrm>
            <a:off x="917606" y="605791"/>
            <a:ext cx="8978233" cy="96456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b="1">
                <a:latin typeface="Consolas" panose="020B0609020204030204" pitchFamily="49" charset="0"/>
              </a:rPr>
              <a:t>What powers Agentic AI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8A92DD3-CAAB-BA46-DCAE-022E22C11CDD}"/>
              </a:ext>
            </a:extLst>
          </p:cNvPr>
          <p:cNvSpPr txBox="1">
            <a:spLocks/>
          </p:cNvSpPr>
          <p:nvPr/>
        </p:nvSpPr>
        <p:spPr>
          <a:xfrm>
            <a:off x="917606" y="2159249"/>
            <a:ext cx="8187891" cy="496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>
                <a:latin typeface="Consolas" panose="020B0609020204030204" pitchFamily="49" charset="0"/>
              </a:rPr>
              <a:t>Definition</a:t>
            </a:r>
          </a:p>
          <a:p>
            <a:pPr algn="l"/>
            <a:endParaRPr lang="en-IN">
              <a:latin typeface="Consolas" panose="020B0609020204030204" pitchFamily="49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173BB08-4C01-2A63-2BCF-B61C2978BB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9970845"/>
              </p:ext>
            </p:extLst>
          </p:nvPr>
        </p:nvGraphicFramePr>
        <p:xfrm>
          <a:off x="548641" y="1803670"/>
          <a:ext cx="11196184" cy="5421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83CDD92-67C0-B4E6-DD4C-CAF83CF7D557}"/>
              </a:ext>
            </a:extLst>
          </p:cNvPr>
          <p:cNvSpPr txBox="1"/>
          <p:nvPr/>
        </p:nvSpPr>
        <p:spPr>
          <a:xfrm>
            <a:off x="750771" y="2159249"/>
            <a:ext cx="214643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These AI systems, like OpenAI’s GPT models, are designed to understand and generate human-like text, forming the foundation for natural language processing and reasoning in agentic AI.</a:t>
            </a:r>
            <a:endParaRPr lang="en-IN" sz="16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A262AA-5362-4CAB-7120-A15AB7E31FFD}"/>
              </a:ext>
            </a:extLst>
          </p:cNvPr>
          <p:cNvSpPr txBox="1"/>
          <p:nvPr/>
        </p:nvSpPr>
        <p:spPr>
          <a:xfrm>
            <a:off x="3526055" y="2522995"/>
            <a:ext cx="226835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Generative AI focuses on creating new content. In agentic AI, this capability fuels creativity and problem-solving by allowing systems to generate innovative solutions or simulate scenarios.</a:t>
            </a:r>
            <a:endParaRPr lang="en-IN" sz="16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A4CBE5-4D75-26F5-39E5-41FD561A8904}"/>
              </a:ext>
            </a:extLst>
          </p:cNvPr>
          <p:cNvSpPr txBox="1"/>
          <p:nvPr/>
        </p:nvSpPr>
        <p:spPr>
          <a:xfrm>
            <a:off x="6420051" y="2069437"/>
            <a:ext cx="214643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ML enables systems to learn from data and improve their performance over time. These algorithms handle pattern recognition and data-driven predictions, equipping agentic AI with adaptive intelligence.</a:t>
            </a:r>
            <a:endParaRPr lang="en-IN" sz="16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0F399D-5CFB-929F-6D65-F3FE6FFEE575}"/>
              </a:ext>
            </a:extLst>
          </p:cNvPr>
          <p:cNvSpPr txBox="1"/>
          <p:nvPr/>
        </p:nvSpPr>
        <p:spPr>
          <a:xfrm>
            <a:off x="9211376" y="2647199"/>
            <a:ext cx="241849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While advanced AI technologies handle learning and reasoning, traditional programming ensures that agents follow specific rules and constraints, providing structure and reliability in their autonomous operations.</a:t>
            </a:r>
            <a:endParaRPr lang="en-IN" sz="16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705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7B40521-D9D6-A185-195D-FF1FF40C9583}"/>
              </a:ext>
            </a:extLst>
          </p:cNvPr>
          <p:cNvSpPr/>
          <p:nvPr/>
        </p:nvSpPr>
        <p:spPr>
          <a:xfrm rot="10800000">
            <a:off x="-365761" y="1"/>
            <a:ext cx="12557761" cy="6857999"/>
          </a:xfrm>
          <a:prstGeom prst="rect">
            <a:avLst/>
          </a:prstGeom>
          <a:gradFill flip="none" rotWithShape="1">
            <a:gsLst>
              <a:gs pos="0">
                <a:srgbClr val="0530AD"/>
              </a:gs>
              <a:gs pos="64000">
                <a:schemeClr val="bg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5AC0FF-DD9A-08A2-ABFE-BC3ABEB0C98D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EDA2C2-E3D5-3502-0508-A7C609987969}"/>
              </a:ext>
            </a:extLst>
          </p:cNvPr>
          <p:cNvGrpSpPr/>
          <p:nvPr/>
        </p:nvGrpSpPr>
        <p:grpSpPr>
          <a:xfrm>
            <a:off x="11467538" y="283795"/>
            <a:ext cx="429384" cy="321996"/>
            <a:chOff x="4552645" y="3416817"/>
            <a:chExt cx="1948180" cy="1460945"/>
          </a:xfrm>
        </p:grpSpPr>
        <p:sp>
          <p:nvSpPr>
            <p:cNvPr id="15" name="object 27">
              <a:extLst>
                <a:ext uri="{FF2B5EF4-FFF2-40B4-BE49-F238E27FC236}">
                  <a16:creationId xmlns:a16="http://schemas.microsoft.com/office/drawing/2014/main" id="{3331D50E-D400-5751-A292-9C770E663C92}"/>
                </a:ext>
              </a:extLst>
            </p:cNvPr>
            <p:cNvSpPr/>
            <p:nvPr/>
          </p:nvSpPr>
          <p:spPr>
            <a:xfrm>
              <a:off x="5201831" y="4066015"/>
              <a:ext cx="649605" cy="487045"/>
            </a:xfrm>
            <a:custGeom>
              <a:avLst/>
              <a:gdLst/>
              <a:ahLst/>
              <a:cxnLst/>
              <a:rect l="l" t="t" r="r" b="b"/>
              <a:pathLst>
                <a:path w="649605" h="487045">
                  <a:moveTo>
                    <a:pt x="649198" y="324599"/>
                  </a:moveTo>
                  <a:lnTo>
                    <a:pt x="0" y="324599"/>
                  </a:lnTo>
                  <a:lnTo>
                    <a:pt x="0" y="486892"/>
                  </a:lnTo>
                  <a:lnTo>
                    <a:pt x="649198" y="486892"/>
                  </a:lnTo>
                  <a:lnTo>
                    <a:pt x="649198" y="324599"/>
                  </a:lnTo>
                  <a:close/>
                </a:path>
                <a:path w="649605" h="487045">
                  <a:moveTo>
                    <a:pt x="649198" y="0"/>
                  </a:moveTo>
                  <a:lnTo>
                    <a:pt x="0" y="0"/>
                  </a:lnTo>
                  <a:lnTo>
                    <a:pt x="0" y="162293"/>
                  </a:lnTo>
                  <a:lnTo>
                    <a:pt x="649198" y="162293"/>
                  </a:lnTo>
                  <a:lnTo>
                    <a:pt x="6491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28">
              <a:extLst>
                <a:ext uri="{FF2B5EF4-FFF2-40B4-BE49-F238E27FC236}">
                  <a16:creationId xmlns:a16="http://schemas.microsoft.com/office/drawing/2014/main" id="{25AEEE89-AF7F-1437-B5CF-0250ABD1790F}"/>
                </a:ext>
              </a:extLst>
            </p:cNvPr>
            <p:cNvSpPr/>
            <p:nvPr/>
          </p:nvSpPr>
          <p:spPr>
            <a:xfrm>
              <a:off x="4552645" y="3416817"/>
              <a:ext cx="1948180" cy="1136650"/>
            </a:xfrm>
            <a:custGeom>
              <a:avLst/>
              <a:gdLst/>
              <a:ahLst/>
              <a:cxnLst/>
              <a:rect l="l" t="t" r="r" b="b"/>
              <a:pathLst>
                <a:path w="1948180" h="1136650">
                  <a:moveTo>
                    <a:pt x="649198" y="446328"/>
                  </a:moveTo>
                  <a:lnTo>
                    <a:pt x="152082" y="666991"/>
                  </a:lnTo>
                  <a:lnTo>
                    <a:pt x="109855" y="689152"/>
                  </a:lnTo>
                  <a:lnTo>
                    <a:pt x="73012" y="718858"/>
                  </a:lnTo>
                  <a:lnTo>
                    <a:pt x="42595" y="755065"/>
                  </a:lnTo>
                  <a:lnTo>
                    <a:pt x="19608" y="796785"/>
                  </a:lnTo>
                  <a:lnTo>
                    <a:pt x="5067" y="842975"/>
                  </a:lnTo>
                  <a:lnTo>
                    <a:pt x="0" y="892644"/>
                  </a:lnTo>
                  <a:lnTo>
                    <a:pt x="4940" y="941705"/>
                  </a:lnTo>
                  <a:lnTo>
                    <a:pt x="19126" y="987399"/>
                  </a:lnTo>
                  <a:lnTo>
                    <a:pt x="41579" y="1028763"/>
                  </a:lnTo>
                  <a:lnTo>
                    <a:pt x="71297" y="1064793"/>
                  </a:lnTo>
                  <a:lnTo>
                    <a:pt x="107327" y="1094511"/>
                  </a:lnTo>
                  <a:lnTo>
                    <a:pt x="148678" y="1116965"/>
                  </a:lnTo>
                  <a:lnTo>
                    <a:pt x="194386" y="1131150"/>
                  </a:lnTo>
                  <a:lnTo>
                    <a:pt x="243446" y="1136091"/>
                  </a:lnTo>
                  <a:lnTo>
                    <a:pt x="296456" y="1130312"/>
                  </a:lnTo>
                  <a:lnTo>
                    <a:pt x="345414" y="1113777"/>
                  </a:lnTo>
                  <a:lnTo>
                    <a:pt x="389077" y="1087742"/>
                  </a:lnTo>
                  <a:lnTo>
                    <a:pt x="426224" y="1053452"/>
                  </a:lnTo>
                  <a:lnTo>
                    <a:pt x="455587" y="1012151"/>
                  </a:lnTo>
                  <a:lnTo>
                    <a:pt x="475932" y="965073"/>
                  </a:lnTo>
                  <a:lnTo>
                    <a:pt x="649198" y="446328"/>
                  </a:lnTo>
                  <a:close/>
                </a:path>
                <a:path w="1948180" h="1136650">
                  <a:moveTo>
                    <a:pt x="933208" y="142011"/>
                  </a:moveTo>
                  <a:lnTo>
                    <a:pt x="925969" y="97129"/>
                  </a:lnTo>
                  <a:lnTo>
                    <a:pt x="905814" y="58140"/>
                  </a:lnTo>
                  <a:lnTo>
                    <a:pt x="875068" y="27393"/>
                  </a:lnTo>
                  <a:lnTo>
                    <a:pt x="836091" y="7239"/>
                  </a:lnTo>
                  <a:lnTo>
                    <a:pt x="791197" y="0"/>
                  </a:lnTo>
                  <a:lnTo>
                    <a:pt x="746315" y="7239"/>
                  </a:lnTo>
                  <a:lnTo>
                    <a:pt x="707326" y="27393"/>
                  </a:lnTo>
                  <a:lnTo>
                    <a:pt x="676592" y="58140"/>
                  </a:lnTo>
                  <a:lnTo>
                    <a:pt x="656424" y="97129"/>
                  </a:lnTo>
                  <a:lnTo>
                    <a:pt x="649185" y="142011"/>
                  </a:lnTo>
                  <a:lnTo>
                    <a:pt x="656424" y="186893"/>
                  </a:lnTo>
                  <a:lnTo>
                    <a:pt x="676592" y="225882"/>
                  </a:lnTo>
                  <a:lnTo>
                    <a:pt x="707326" y="256628"/>
                  </a:lnTo>
                  <a:lnTo>
                    <a:pt x="746315" y="276783"/>
                  </a:lnTo>
                  <a:lnTo>
                    <a:pt x="791197" y="284035"/>
                  </a:lnTo>
                  <a:lnTo>
                    <a:pt x="836091" y="276783"/>
                  </a:lnTo>
                  <a:lnTo>
                    <a:pt x="875068" y="256628"/>
                  </a:lnTo>
                  <a:lnTo>
                    <a:pt x="905814" y="225882"/>
                  </a:lnTo>
                  <a:lnTo>
                    <a:pt x="925969" y="186893"/>
                  </a:lnTo>
                  <a:lnTo>
                    <a:pt x="933208" y="142011"/>
                  </a:lnTo>
                  <a:close/>
                </a:path>
                <a:path w="1948180" h="1136650">
                  <a:moveTo>
                    <a:pt x="1257808" y="486892"/>
                  </a:moveTo>
                  <a:lnTo>
                    <a:pt x="1230706" y="447370"/>
                  </a:lnTo>
                  <a:lnTo>
                    <a:pt x="1197965" y="412305"/>
                  </a:lnTo>
                  <a:lnTo>
                    <a:pt x="1160284" y="382295"/>
                  </a:lnTo>
                  <a:lnTo>
                    <a:pt x="1118323" y="357936"/>
                  </a:lnTo>
                  <a:lnTo>
                    <a:pt x="1072807" y="339813"/>
                  </a:lnTo>
                  <a:lnTo>
                    <a:pt x="1024394" y="328498"/>
                  </a:lnTo>
                  <a:lnTo>
                    <a:pt x="973785" y="324599"/>
                  </a:lnTo>
                  <a:lnTo>
                    <a:pt x="923175" y="328498"/>
                  </a:lnTo>
                  <a:lnTo>
                    <a:pt x="874763" y="339813"/>
                  </a:lnTo>
                  <a:lnTo>
                    <a:pt x="829246" y="357936"/>
                  </a:lnTo>
                  <a:lnTo>
                    <a:pt x="787298" y="382295"/>
                  </a:lnTo>
                  <a:lnTo>
                    <a:pt x="749604" y="412305"/>
                  </a:lnTo>
                  <a:lnTo>
                    <a:pt x="716864" y="447370"/>
                  </a:lnTo>
                  <a:lnTo>
                    <a:pt x="689762" y="486892"/>
                  </a:lnTo>
                  <a:lnTo>
                    <a:pt x="1257808" y="486892"/>
                  </a:lnTo>
                  <a:close/>
                </a:path>
                <a:path w="1948180" h="1136650">
                  <a:moveTo>
                    <a:pt x="1298384" y="142011"/>
                  </a:moveTo>
                  <a:lnTo>
                    <a:pt x="1291145" y="97129"/>
                  </a:lnTo>
                  <a:lnTo>
                    <a:pt x="1270990" y="58140"/>
                  </a:lnTo>
                  <a:lnTo>
                    <a:pt x="1240243" y="27393"/>
                  </a:lnTo>
                  <a:lnTo>
                    <a:pt x="1201267" y="7239"/>
                  </a:lnTo>
                  <a:lnTo>
                    <a:pt x="1156373" y="0"/>
                  </a:lnTo>
                  <a:lnTo>
                    <a:pt x="1111491" y="7239"/>
                  </a:lnTo>
                  <a:lnTo>
                    <a:pt x="1072502" y="27393"/>
                  </a:lnTo>
                  <a:lnTo>
                    <a:pt x="1041755" y="58140"/>
                  </a:lnTo>
                  <a:lnTo>
                    <a:pt x="1021600" y="97129"/>
                  </a:lnTo>
                  <a:lnTo>
                    <a:pt x="1014361" y="142011"/>
                  </a:lnTo>
                  <a:lnTo>
                    <a:pt x="1021600" y="186893"/>
                  </a:lnTo>
                  <a:lnTo>
                    <a:pt x="1041755" y="225882"/>
                  </a:lnTo>
                  <a:lnTo>
                    <a:pt x="1072502" y="256628"/>
                  </a:lnTo>
                  <a:lnTo>
                    <a:pt x="1111491" y="276783"/>
                  </a:lnTo>
                  <a:lnTo>
                    <a:pt x="1156373" y="284035"/>
                  </a:lnTo>
                  <a:lnTo>
                    <a:pt x="1201267" y="276783"/>
                  </a:lnTo>
                  <a:lnTo>
                    <a:pt x="1240243" y="256628"/>
                  </a:lnTo>
                  <a:lnTo>
                    <a:pt x="1270990" y="225882"/>
                  </a:lnTo>
                  <a:lnTo>
                    <a:pt x="1291145" y="186893"/>
                  </a:lnTo>
                  <a:lnTo>
                    <a:pt x="1298384" y="142011"/>
                  </a:lnTo>
                  <a:close/>
                </a:path>
                <a:path w="1948180" h="1136650">
                  <a:moveTo>
                    <a:pt x="1947570" y="892644"/>
                  </a:moveTo>
                  <a:lnTo>
                    <a:pt x="1942503" y="842975"/>
                  </a:lnTo>
                  <a:lnTo>
                    <a:pt x="1927961" y="796785"/>
                  </a:lnTo>
                  <a:lnTo>
                    <a:pt x="1904974" y="755065"/>
                  </a:lnTo>
                  <a:lnTo>
                    <a:pt x="1874558" y="718858"/>
                  </a:lnTo>
                  <a:lnTo>
                    <a:pt x="1837728" y="689152"/>
                  </a:lnTo>
                  <a:lnTo>
                    <a:pt x="1795500" y="666991"/>
                  </a:lnTo>
                  <a:lnTo>
                    <a:pt x="1298384" y="446328"/>
                  </a:lnTo>
                  <a:lnTo>
                    <a:pt x="1471637" y="965073"/>
                  </a:lnTo>
                  <a:lnTo>
                    <a:pt x="1491983" y="1012151"/>
                  </a:lnTo>
                  <a:lnTo>
                    <a:pt x="1521345" y="1053452"/>
                  </a:lnTo>
                  <a:lnTo>
                    <a:pt x="1558493" y="1087742"/>
                  </a:lnTo>
                  <a:lnTo>
                    <a:pt x="1602168" y="1113777"/>
                  </a:lnTo>
                  <a:lnTo>
                    <a:pt x="1651127" y="1130312"/>
                  </a:lnTo>
                  <a:lnTo>
                    <a:pt x="1704124" y="1136091"/>
                  </a:lnTo>
                  <a:lnTo>
                    <a:pt x="1753196" y="1131150"/>
                  </a:lnTo>
                  <a:lnTo>
                    <a:pt x="1798891" y="1116965"/>
                  </a:lnTo>
                  <a:lnTo>
                    <a:pt x="1840242" y="1094511"/>
                  </a:lnTo>
                  <a:lnTo>
                    <a:pt x="1876272" y="1064793"/>
                  </a:lnTo>
                  <a:lnTo>
                    <a:pt x="1906003" y="1028763"/>
                  </a:lnTo>
                  <a:lnTo>
                    <a:pt x="1928444" y="987399"/>
                  </a:lnTo>
                  <a:lnTo>
                    <a:pt x="1942630" y="941705"/>
                  </a:lnTo>
                  <a:lnTo>
                    <a:pt x="1947570" y="892644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9">
              <a:extLst>
                <a:ext uri="{FF2B5EF4-FFF2-40B4-BE49-F238E27FC236}">
                  <a16:creationId xmlns:a16="http://schemas.microsoft.com/office/drawing/2014/main" id="{D050DB6C-8DC7-4509-BC21-47963795FD36}"/>
                </a:ext>
              </a:extLst>
            </p:cNvPr>
            <p:cNvSpPr/>
            <p:nvPr/>
          </p:nvSpPr>
          <p:spPr>
            <a:xfrm>
              <a:off x="5242415" y="4715202"/>
              <a:ext cx="568325" cy="162560"/>
            </a:xfrm>
            <a:custGeom>
              <a:avLst/>
              <a:gdLst/>
              <a:ahLst/>
              <a:cxnLst/>
              <a:rect l="l" t="t" r="r" b="b"/>
              <a:pathLst>
                <a:path w="568325" h="162559">
                  <a:moveTo>
                    <a:pt x="568045" y="0"/>
                  </a:moveTo>
                  <a:lnTo>
                    <a:pt x="0" y="0"/>
                  </a:lnTo>
                  <a:lnTo>
                    <a:pt x="27104" y="39530"/>
                  </a:lnTo>
                  <a:lnTo>
                    <a:pt x="59843" y="74592"/>
                  </a:lnTo>
                  <a:lnTo>
                    <a:pt x="97531" y="104598"/>
                  </a:lnTo>
                  <a:lnTo>
                    <a:pt x="139480" y="128959"/>
                  </a:lnTo>
                  <a:lnTo>
                    <a:pt x="185002" y="147089"/>
                  </a:lnTo>
                  <a:lnTo>
                    <a:pt x="233412" y="158398"/>
                  </a:lnTo>
                  <a:lnTo>
                    <a:pt x="284022" y="162298"/>
                  </a:lnTo>
                  <a:lnTo>
                    <a:pt x="334632" y="158398"/>
                  </a:lnTo>
                  <a:lnTo>
                    <a:pt x="383042" y="147089"/>
                  </a:lnTo>
                  <a:lnTo>
                    <a:pt x="428565" y="128959"/>
                  </a:lnTo>
                  <a:lnTo>
                    <a:pt x="470514" y="104598"/>
                  </a:lnTo>
                  <a:lnTo>
                    <a:pt x="508201" y="74592"/>
                  </a:lnTo>
                  <a:lnTo>
                    <a:pt x="540941" y="39530"/>
                  </a:lnTo>
                  <a:lnTo>
                    <a:pt x="568045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F8200BDD-E295-53D0-AA02-21A6664CD528}"/>
              </a:ext>
            </a:extLst>
          </p:cNvPr>
          <p:cNvSpPr txBox="1">
            <a:spLocks/>
          </p:cNvSpPr>
          <p:nvPr/>
        </p:nvSpPr>
        <p:spPr>
          <a:xfrm>
            <a:off x="917606" y="605791"/>
            <a:ext cx="9079833" cy="19901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b="1">
                <a:latin typeface="Consolas" panose="020B0609020204030204" pitchFamily="49" charset="0"/>
              </a:rPr>
              <a:t>Let’s code our first Agent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5EE421E-7D93-54A2-0392-8BC4539ACCF0}"/>
              </a:ext>
            </a:extLst>
          </p:cNvPr>
          <p:cNvSpPr txBox="1">
            <a:spLocks/>
          </p:cNvSpPr>
          <p:nvPr/>
        </p:nvSpPr>
        <p:spPr>
          <a:xfrm>
            <a:off x="917606" y="2595952"/>
            <a:ext cx="10549932" cy="3613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IN">
              <a:latin typeface="Consolas" panose="020B06090202040302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2DF58AC-B078-BC2E-CC9E-A78F97E3061E}"/>
              </a:ext>
            </a:extLst>
          </p:cNvPr>
          <p:cNvSpPr txBox="1">
            <a:spLocks/>
          </p:cNvSpPr>
          <p:nvPr/>
        </p:nvSpPr>
        <p:spPr>
          <a:xfrm>
            <a:off x="838200" y="185828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/>
          </a:p>
        </p:txBody>
      </p:sp>
      <p:sp>
        <p:nvSpPr>
          <p:cNvPr id="3" name="AutoShape 2" descr="ReAct Agent">
            <a:extLst>
              <a:ext uri="{FF2B5EF4-FFF2-40B4-BE49-F238E27FC236}">
                <a16:creationId xmlns:a16="http://schemas.microsoft.com/office/drawing/2014/main" id="{8FDB7A1A-EB14-299B-41A2-61B06E8890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 descr="A diagram of a agent">
            <a:extLst>
              <a:ext uri="{FF2B5EF4-FFF2-40B4-BE49-F238E27FC236}">
                <a16:creationId xmlns:a16="http://schemas.microsoft.com/office/drawing/2014/main" id="{6390EEBB-7423-8E5B-3471-EF12093B1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493" y="2106091"/>
            <a:ext cx="5783580" cy="385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26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0F7DE-2488-5F5F-A52B-0CAD84359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DA7418C-910E-0916-2685-5E6FDB72E15C}"/>
              </a:ext>
            </a:extLst>
          </p:cNvPr>
          <p:cNvSpPr/>
          <p:nvPr/>
        </p:nvSpPr>
        <p:spPr>
          <a:xfrm rot="10800000">
            <a:off x="-365760" y="-1"/>
            <a:ext cx="12557761" cy="6857999"/>
          </a:xfrm>
          <a:prstGeom prst="rect">
            <a:avLst/>
          </a:prstGeom>
          <a:gradFill flip="none" rotWithShape="1">
            <a:gsLst>
              <a:gs pos="0">
                <a:srgbClr val="00AEEF"/>
              </a:gs>
              <a:gs pos="64000">
                <a:schemeClr val="bg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A4CF2-E651-BEF1-A3AF-9D797D92C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949" y="283795"/>
            <a:ext cx="8571834" cy="1436571"/>
          </a:xfrm>
        </p:spPr>
        <p:txBody>
          <a:bodyPr>
            <a:normAutofit/>
          </a:bodyPr>
          <a:lstStyle/>
          <a:p>
            <a:pPr algn="l"/>
            <a:r>
              <a:rPr lang="en-IN" b="1">
                <a:latin typeface="Consolas" panose="020B0609020204030204" pitchFamily="49" charset="0"/>
              </a:rPr>
              <a:t>Agent architectures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56DBC8-2679-0B48-9A24-B9986D3B99DE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249BCA-D68E-84F2-8EB1-A4951285E3F7}"/>
              </a:ext>
            </a:extLst>
          </p:cNvPr>
          <p:cNvGrpSpPr/>
          <p:nvPr/>
        </p:nvGrpSpPr>
        <p:grpSpPr>
          <a:xfrm>
            <a:off x="11467538" y="283795"/>
            <a:ext cx="429384" cy="321996"/>
            <a:chOff x="4552645" y="3416817"/>
            <a:chExt cx="1948180" cy="1460945"/>
          </a:xfrm>
        </p:grpSpPr>
        <p:sp>
          <p:nvSpPr>
            <p:cNvPr id="15" name="object 27">
              <a:extLst>
                <a:ext uri="{FF2B5EF4-FFF2-40B4-BE49-F238E27FC236}">
                  <a16:creationId xmlns:a16="http://schemas.microsoft.com/office/drawing/2014/main" id="{13D6A013-D855-9FEB-C360-81C6E2BDF428}"/>
                </a:ext>
              </a:extLst>
            </p:cNvPr>
            <p:cNvSpPr/>
            <p:nvPr/>
          </p:nvSpPr>
          <p:spPr>
            <a:xfrm>
              <a:off x="5201831" y="4066015"/>
              <a:ext cx="649605" cy="487045"/>
            </a:xfrm>
            <a:custGeom>
              <a:avLst/>
              <a:gdLst/>
              <a:ahLst/>
              <a:cxnLst/>
              <a:rect l="l" t="t" r="r" b="b"/>
              <a:pathLst>
                <a:path w="649605" h="487045">
                  <a:moveTo>
                    <a:pt x="649198" y="324599"/>
                  </a:moveTo>
                  <a:lnTo>
                    <a:pt x="0" y="324599"/>
                  </a:lnTo>
                  <a:lnTo>
                    <a:pt x="0" y="486892"/>
                  </a:lnTo>
                  <a:lnTo>
                    <a:pt x="649198" y="486892"/>
                  </a:lnTo>
                  <a:lnTo>
                    <a:pt x="649198" y="324599"/>
                  </a:lnTo>
                  <a:close/>
                </a:path>
                <a:path w="649605" h="487045">
                  <a:moveTo>
                    <a:pt x="649198" y="0"/>
                  </a:moveTo>
                  <a:lnTo>
                    <a:pt x="0" y="0"/>
                  </a:lnTo>
                  <a:lnTo>
                    <a:pt x="0" y="162293"/>
                  </a:lnTo>
                  <a:lnTo>
                    <a:pt x="649198" y="162293"/>
                  </a:lnTo>
                  <a:lnTo>
                    <a:pt x="6491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28">
              <a:extLst>
                <a:ext uri="{FF2B5EF4-FFF2-40B4-BE49-F238E27FC236}">
                  <a16:creationId xmlns:a16="http://schemas.microsoft.com/office/drawing/2014/main" id="{AB0A0149-5964-60D6-D729-6D7DA886DE5E}"/>
                </a:ext>
              </a:extLst>
            </p:cNvPr>
            <p:cNvSpPr/>
            <p:nvPr/>
          </p:nvSpPr>
          <p:spPr>
            <a:xfrm>
              <a:off x="4552645" y="3416817"/>
              <a:ext cx="1948180" cy="1136650"/>
            </a:xfrm>
            <a:custGeom>
              <a:avLst/>
              <a:gdLst/>
              <a:ahLst/>
              <a:cxnLst/>
              <a:rect l="l" t="t" r="r" b="b"/>
              <a:pathLst>
                <a:path w="1948180" h="1136650">
                  <a:moveTo>
                    <a:pt x="649198" y="446328"/>
                  </a:moveTo>
                  <a:lnTo>
                    <a:pt x="152082" y="666991"/>
                  </a:lnTo>
                  <a:lnTo>
                    <a:pt x="109855" y="689152"/>
                  </a:lnTo>
                  <a:lnTo>
                    <a:pt x="73012" y="718858"/>
                  </a:lnTo>
                  <a:lnTo>
                    <a:pt x="42595" y="755065"/>
                  </a:lnTo>
                  <a:lnTo>
                    <a:pt x="19608" y="796785"/>
                  </a:lnTo>
                  <a:lnTo>
                    <a:pt x="5067" y="842975"/>
                  </a:lnTo>
                  <a:lnTo>
                    <a:pt x="0" y="892644"/>
                  </a:lnTo>
                  <a:lnTo>
                    <a:pt x="4940" y="941705"/>
                  </a:lnTo>
                  <a:lnTo>
                    <a:pt x="19126" y="987399"/>
                  </a:lnTo>
                  <a:lnTo>
                    <a:pt x="41579" y="1028763"/>
                  </a:lnTo>
                  <a:lnTo>
                    <a:pt x="71297" y="1064793"/>
                  </a:lnTo>
                  <a:lnTo>
                    <a:pt x="107327" y="1094511"/>
                  </a:lnTo>
                  <a:lnTo>
                    <a:pt x="148678" y="1116965"/>
                  </a:lnTo>
                  <a:lnTo>
                    <a:pt x="194386" y="1131150"/>
                  </a:lnTo>
                  <a:lnTo>
                    <a:pt x="243446" y="1136091"/>
                  </a:lnTo>
                  <a:lnTo>
                    <a:pt x="296456" y="1130312"/>
                  </a:lnTo>
                  <a:lnTo>
                    <a:pt x="345414" y="1113777"/>
                  </a:lnTo>
                  <a:lnTo>
                    <a:pt x="389077" y="1087742"/>
                  </a:lnTo>
                  <a:lnTo>
                    <a:pt x="426224" y="1053452"/>
                  </a:lnTo>
                  <a:lnTo>
                    <a:pt x="455587" y="1012151"/>
                  </a:lnTo>
                  <a:lnTo>
                    <a:pt x="475932" y="965073"/>
                  </a:lnTo>
                  <a:lnTo>
                    <a:pt x="649198" y="446328"/>
                  </a:lnTo>
                  <a:close/>
                </a:path>
                <a:path w="1948180" h="1136650">
                  <a:moveTo>
                    <a:pt x="933208" y="142011"/>
                  </a:moveTo>
                  <a:lnTo>
                    <a:pt x="925969" y="97129"/>
                  </a:lnTo>
                  <a:lnTo>
                    <a:pt x="905814" y="58140"/>
                  </a:lnTo>
                  <a:lnTo>
                    <a:pt x="875068" y="27393"/>
                  </a:lnTo>
                  <a:lnTo>
                    <a:pt x="836091" y="7239"/>
                  </a:lnTo>
                  <a:lnTo>
                    <a:pt x="791197" y="0"/>
                  </a:lnTo>
                  <a:lnTo>
                    <a:pt x="746315" y="7239"/>
                  </a:lnTo>
                  <a:lnTo>
                    <a:pt x="707326" y="27393"/>
                  </a:lnTo>
                  <a:lnTo>
                    <a:pt x="676592" y="58140"/>
                  </a:lnTo>
                  <a:lnTo>
                    <a:pt x="656424" y="97129"/>
                  </a:lnTo>
                  <a:lnTo>
                    <a:pt x="649185" y="142011"/>
                  </a:lnTo>
                  <a:lnTo>
                    <a:pt x="656424" y="186893"/>
                  </a:lnTo>
                  <a:lnTo>
                    <a:pt x="676592" y="225882"/>
                  </a:lnTo>
                  <a:lnTo>
                    <a:pt x="707326" y="256628"/>
                  </a:lnTo>
                  <a:lnTo>
                    <a:pt x="746315" y="276783"/>
                  </a:lnTo>
                  <a:lnTo>
                    <a:pt x="791197" y="284035"/>
                  </a:lnTo>
                  <a:lnTo>
                    <a:pt x="836091" y="276783"/>
                  </a:lnTo>
                  <a:lnTo>
                    <a:pt x="875068" y="256628"/>
                  </a:lnTo>
                  <a:lnTo>
                    <a:pt x="905814" y="225882"/>
                  </a:lnTo>
                  <a:lnTo>
                    <a:pt x="925969" y="186893"/>
                  </a:lnTo>
                  <a:lnTo>
                    <a:pt x="933208" y="142011"/>
                  </a:lnTo>
                  <a:close/>
                </a:path>
                <a:path w="1948180" h="1136650">
                  <a:moveTo>
                    <a:pt x="1257808" y="486892"/>
                  </a:moveTo>
                  <a:lnTo>
                    <a:pt x="1230706" y="447370"/>
                  </a:lnTo>
                  <a:lnTo>
                    <a:pt x="1197965" y="412305"/>
                  </a:lnTo>
                  <a:lnTo>
                    <a:pt x="1160284" y="382295"/>
                  </a:lnTo>
                  <a:lnTo>
                    <a:pt x="1118323" y="357936"/>
                  </a:lnTo>
                  <a:lnTo>
                    <a:pt x="1072807" y="339813"/>
                  </a:lnTo>
                  <a:lnTo>
                    <a:pt x="1024394" y="328498"/>
                  </a:lnTo>
                  <a:lnTo>
                    <a:pt x="973785" y="324599"/>
                  </a:lnTo>
                  <a:lnTo>
                    <a:pt x="923175" y="328498"/>
                  </a:lnTo>
                  <a:lnTo>
                    <a:pt x="874763" y="339813"/>
                  </a:lnTo>
                  <a:lnTo>
                    <a:pt x="829246" y="357936"/>
                  </a:lnTo>
                  <a:lnTo>
                    <a:pt x="787298" y="382295"/>
                  </a:lnTo>
                  <a:lnTo>
                    <a:pt x="749604" y="412305"/>
                  </a:lnTo>
                  <a:lnTo>
                    <a:pt x="716864" y="447370"/>
                  </a:lnTo>
                  <a:lnTo>
                    <a:pt x="689762" y="486892"/>
                  </a:lnTo>
                  <a:lnTo>
                    <a:pt x="1257808" y="486892"/>
                  </a:lnTo>
                  <a:close/>
                </a:path>
                <a:path w="1948180" h="1136650">
                  <a:moveTo>
                    <a:pt x="1298384" y="142011"/>
                  </a:moveTo>
                  <a:lnTo>
                    <a:pt x="1291145" y="97129"/>
                  </a:lnTo>
                  <a:lnTo>
                    <a:pt x="1270990" y="58140"/>
                  </a:lnTo>
                  <a:lnTo>
                    <a:pt x="1240243" y="27393"/>
                  </a:lnTo>
                  <a:lnTo>
                    <a:pt x="1201267" y="7239"/>
                  </a:lnTo>
                  <a:lnTo>
                    <a:pt x="1156373" y="0"/>
                  </a:lnTo>
                  <a:lnTo>
                    <a:pt x="1111491" y="7239"/>
                  </a:lnTo>
                  <a:lnTo>
                    <a:pt x="1072502" y="27393"/>
                  </a:lnTo>
                  <a:lnTo>
                    <a:pt x="1041755" y="58140"/>
                  </a:lnTo>
                  <a:lnTo>
                    <a:pt x="1021600" y="97129"/>
                  </a:lnTo>
                  <a:lnTo>
                    <a:pt x="1014361" y="142011"/>
                  </a:lnTo>
                  <a:lnTo>
                    <a:pt x="1021600" y="186893"/>
                  </a:lnTo>
                  <a:lnTo>
                    <a:pt x="1041755" y="225882"/>
                  </a:lnTo>
                  <a:lnTo>
                    <a:pt x="1072502" y="256628"/>
                  </a:lnTo>
                  <a:lnTo>
                    <a:pt x="1111491" y="276783"/>
                  </a:lnTo>
                  <a:lnTo>
                    <a:pt x="1156373" y="284035"/>
                  </a:lnTo>
                  <a:lnTo>
                    <a:pt x="1201267" y="276783"/>
                  </a:lnTo>
                  <a:lnTo>
                    <a:pt x="1240243" y="256628"/>
                  </a:lnTo>
                  <a:lnTo>
                    <a:pt x="1270990" y="225882"/>
                  </a:lnTo>
                  <a:lnTo>
                    <a:pt x="1291145" y="186893"/>
                  </a:lnTo>
                  <a:lnTo>
                    <a:pt x="1298384" y="142011"/>
                  </a:lnTo>
                  <a:close/>
                </a:path>
                <a:path w="1948180" h="1136650">
                  <a:moveTo>
                    <a:pt x="1947570" y="892644"/>
                  </a:moveTo>
                  <a:lnTo>
                    <a:pt x="1942503" y="842975"/>
                  </a:lnTo>
                  <a:lnTo>
                    <a:pt x="1927961" y="796785"/>
                  </a:lnTo>
                  <a:lnTo>
                    <a:pt x="1904974" y="755065"/>
                  </a:lnTo>
                  <a:lnTo>
                    <a:pt x="1874558" y="718858"/>
                  </a:lnTo>
                  <a:lnTo>
                    <a:pt x="1837728" y="689152"/>
                  </a:lnTo>
                  <a:lnTo>
                    <a:pt x="1795500" y="666991"/>
                  </a:lnTo>
                  <a:lnTo>
                    <a:pt x="1298384" y="446328"/>
                  </a:lnTo>
                  <a:lnTo>
                    <a:pt x="1471637" y="965073"/>
                  </a:lnTo>
                  <a:lnTo>
                    <a:pt x="1491983" y="1012151"/>
                  </a:lnTo>
                  <a:lnTo>
                    <a:pt x="1521345" y="1053452"/>
                  </a:lnTo>
                  <a:lnTo>
                    <a:pt x="1558493" y="1087742"/>
                  </a:lnTo>
                  <a:lnTo>
                    <a:pt x="1602168" y="1113777"/>
                  </a:lnTo>
                  <a:lnTo>
                    <a:pt x="1651127" y="1130312"/>
                  </a:lnTo>
                  <a:lnTo>
                    <a:pt x="1704124" y="1136091"/>
                  </a:lnTo>
                  <a:lnTo>
                    <a:pt x="1753196" y="1131150"/>
                  </a:lnTo>
                  <a:lnTo>
                    <a:pt x="1798891" y="1116965"/>
                  </a:lnTo>
                  <a:lnTo>
                    <a:pt x="1840242" y="1094511"/>
                  </a:lnTo>
                  <a:lnTo>
                    <a:pt x="1876272" y="1064793"/>
                  </a:lnTo>
                  <a:lnTo>
                    <a:pt x="1906003" y="1028763"/>
                  </a:lnTo>
                  <a:lnTo>
                    <a:pt x="1928444" y="987399"/>
                  </a:lnTo>
                  <a:lnTo>
                    <a:pt x="1942630" y="941705"/>
                  </a:lnTo>
                  <a:lnTo>
                    <a:pt x="1947570" y="892644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9">
              <a:extLst>
                <a:ext uri="{FF2B5EF4-FFF2-40B4-BE49-F238E27FC236}">
                  <a16:creationId xmlns:a16="http://schemas.microsoft.com/office/drawing/2014/main" id="{1F2B75EB-A55F-4C39-1E0F-1BE38A265636}"/>
                </a:ext>
              </a:extLst>
            </p:cNvPr>
            <p:cNvSpPr/>
            <p:nvPr/>
          </p:nvSpPr>
          <p:spPr>
            <a:xfrm>
              <a:off x="5242415" y="4715202"/>
              <a:ext cx="568325" cy="162560"/>
            </a:xfrm>
            <a:custGeom>
              <a:avLst/>
              <a:gdLst/>
              <a:ahLst/>
              <a:cxnLst/>
              <a:rect l="l" t="t" r="r" b="b"/>
              <a:pathLst>
                <a:path w="568325" h="162559">
                  <a:moveTo>
                    <a:pt x="568045" y="0"/>
                  </a:moveTo>
                  <a:lnTo>
                    <a:pt x="0" y="0"/>
                  </a:lnTo>
                  <a:lnTo>
                    <a:pt x="27104" y="39530"/>
                  </a:lnTo>
                  <a:lnTo>
                    <a:pt x="59843" y="74592"/>
                  </a:lnTo>
                  <a:lnTo>
                    <a:pt x="97531" y="104598"/>
                  </a:lnTo>
                  <a:lnTo>
                    <a:pt x="139480" y="128959"/>
                  </a:lnTo>
                  <a:lnTo>
                    <a:pt x="185002" y="147089"/>
                  </a:lnTo>
                  <a:lnTo>
                    <a:pt x="233412" y="158398"/>
                  </a:lnTo>
                  <a:lnTo>
                    <a:pt x="284022" y="162298"/>
                  </a:lnTo>
                  <a:lnTo>
                    <a:pt x="334632" y="158398"/>
                  </a:lnTo>
                  <a:lnTo>
                    <a:pt x="383042" y="147089"/>
                  </a:lnTo>
                  <a:lnTo>
                    <a:pt x="428565" y="128959"/>
                  </a:lnTo>
                  <a:lnTo>
                    <a:pt x="470514" y="104598"/>
                  </a:lnTo>
                  <a:lnTo>
                    <a:pt x="508201" y="74592"/>
                  </a:lnTo>
                  <a:lnTo>
                    <a:pt x="540941" y="39530"/>
                  </a:lnTo>
                  <a:lnTo>
                    <a:pt x="568045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Subtitle 6">
            <a:extLst>
              <a:ext uri="{FF2B5EF4-FFF2-40B4-BE49-F238E27FC236}">
                <a16:creationId xmlns:a16="http://schemas.microsoft.com/office/drawing/2014/main" id="{0340F307-1E86-8B6A-7CFE-097ACC146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297" y="2295364"/>
            <a:ext cx="4193784" cy="3596483"/>
          </a:xfrm>
        </p:spPr>
        <p:txBody>
          <a:bodyPr>
            <a:normAutofit/>
          </a:bodyPr>
          <a:lstStyle/>
          <a:p>
            <a:pPr algn="l"/>
            <a:r>
              <a:rPr lang="en-IN" sz="1800">
                <a:latin typeface="Consolas" panose="020B0609020204030204" pitchFamily="49" charset="0"/>
              </a:rPr>
              <a:t>Agent can decide the control flow of an application</a:t>
            </a:r>
          </a:p>
          <a:p>
            <a:pPr algn="l"/>
            <a:r>
              <a:rPr lang="en-US" sz="1800">
                <a:latin typeface="Consolas" panose="020B0609020204030204" pitchFamily="49" charset="0"/>
              </a:rPr>
              <a:t>LLM can control application in many ways: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latin typeface="Consolas" panose="020B0609020204030204" pitchFamily="49" charset="0"/>
              </a:rPr>
              <a:t>An LLM can route between two potential paths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latin typeface="Consolas" panose="020B0609020204030204" pitchFamily="49" charset="0"/>
              </a:rPr>
              <a:t>An LLM can decide which of many tools to call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latin typeface="Consolas" panose="020B0609020204030204" pitchFamily="49" charset="0"/>
              </a:rPr>
              <a:t>An LLM can decide whether the generated answer is sufficient or more work is needed</a:t>
            </a:r>
          </a:p>
          <a:p>
            <a:pPr algn="l"/>
            <a:endParaRPr lang="en-IN" sz="1800"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ECDB99-DD13-8D88-876E-273CBAC0A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122" y="2348348"/>
            <a:ext cx="6727800" cy="30183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8259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3E28C-392E-1EF3-EED9-2BD254678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57C759A-1AC1-C811-1B1B-AB8AC0E49567}"/>
              </a:ext>
            </a:extLst>
          </p:cNvPr>
          <p:cNvSpPr/>
          <p:nvPr/>
        </p:nvSpPr>
        <p:spPr>
          <a:xfrm rot="10800000">
            <a:off x="-365760" y="-1"/>
            <a:ext cx="12557761" cy="6857999"/>
          </a:xfrm>
          <a:prstGeom prst="rect">
            <a:avLst/>
          </a:prstGeom>
          <a:gradFill flip="none" rotWithShape="1">
            <a:gsLst>
              <a:gs pos="0">
                <a:srgbClr val="00AEEF"/>
              </a:gs>
              <a:gs pos="64000">
                <a:schemeClr val="bg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A7878B-7DBC-B8CB-F4F5-62BAF3018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748" y="686416"/>
            <a:ext cx="8982919" cy="1436571"/>
          </a:xfrm>
        </p:spPr>
        <p:txBody>
          <a:bodyPr>
            <a:normAutofit fontScale="90000"/>
          </a:bodyPr>
          <a:lstStyle/>
          <a:p>
            <a:pPr algn="l"/>
            <a:r>
              <a:rPr lang="en-IN" b="1">
                <a:latin typeface="Consolas" panose="020B0609020204030204" pitchFamily="49" charset="0"/>
              </a:rPr>
              <a:t>Multi-Agent architectures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EDDC79-3777-C8AD-3B0B-10D335F10549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81E8030-8732-F05C-47CA-C9D042AB4399}"/>
              </a:ext>
            </a:extLst>
          </p:cNvPr>
          <p:cNvGrpSpPr/>
          <p:nvPr/>
        </p:nvGrpSpPr>
        <p:grpSpPr>
          <a:xfrm>
            <a:off x="11467538" y="283795"/>
            <a:ext cx="429384" cy="321996"/>
            <a:chOff x="4552645" y="3416817"/>
            <a:chExt cx="1948180" cy="1460945"/>
          </a:xfrm>
        </p:grpSpPr>
        <p:sp>
          <p:nvSpPr>
            <p:cNvPr id="15" name="object 27">
              <a:extLst>
                <a:ext uri="{FF2B5EF4-FFF2-40B4-BE49-F238E27FC236}">
                  <a16:creationId xmlns:a16="http://schemas.microsoft.com/office/drawing/2014/main" id="{D6A67F53-42D2-CE1F-10AA-C036AF4C1431}"/>
                </a:ext>
              </a:extLst>
            </p:cNvPr>
            <p:cNvSpPr/>
            <p:nvPr/>
          </p:nvSpPr>
          <p:spPr>
            <a:xfrm>
              <a:off x="5201831" y="4066015"/>
              <a:ext cx="649605" cy="487045"/>
            </a:xfrm>
            <a:custGeom>
              <a:avLst/>
              <a:gdLst/>
              <a:ahLst/>
              <a:cxnLst/>
              <a:rect l="l" t="t" r="r" b="b"/>
              <a:pathLst>
                <a:path w="649605" h="487045">
                  <a:moveTo>
                    <a:pt x="649198" y="324599"/>
                  </a:moveTo>
                  <a:lnTo>
                    <a:pt x="0" y="324599"/>
                  </a:lnTo>
                  <a:lnTo>
                    <a:pt x="0" y="486892"/>
                  </a:lnTo>
                  <a:lnTo>
                    <a:pt x="649198" y="486892"/>
                  </a:lnTo>
                  <a:lnTo>
                    <a:pt x="649198" y="324599"/>
                  </a:lnTo>
                  <a:close/>
                </a:path>
                <a:path w="649605" h="487045">
                  <a:moveTo>
                    <a:pt x="649198" y="0"/>
                  </a:moveTo>
                  <a:lnTo>
                    <a:pt x="0" y="0"/>
                  </a:lnTo>
                  <a:lnTo>
                    <a:pt x="0" y="162293"/>
                  </a:lnTo>
                  <a:lnTo>
                    <a:pt x="649198" y="162293"/>
                  </a:lnTo>
                  <a:lnTo>
                    <a:pt x="6491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28">
              <a:extLst>
                <a:ext uri="{FF2B5EF4-FFF2-40B4-BE49-F238E27FC236}">
                  <a16:creationId xmlns:a16="http://schemas.microsoft.com/office/drawing/2014/main" id="{5D9604C5-8610-507D-CDBB-1563931DAAC6}"/>
                </a:ext>
              </a:extLst>
            </p:cNvPr>
            <p:cNvSpPr/>
            <p:nvPr/>
          </p:nvSpPr>
          <p:spPr>
            <a:xfrm>
              <a:off x="4552645" y="3416817"/>
              <a:ext cx="1948180" cy="1136650"/>
            </a:xfrm>
            <a:custGeom>
              <a:avLst/>
              <a:gdLst/>
              <a:ahLst/>
              <a:cxnLst/>
              <a:rect l="l" t="t" r="r" b="b"/>
              <a:pathLst>
                <a:path w="1948180" h="1136650">
                  <a:moveTo>
                    <a:pt x="649198" y="446328"/>
                  </a:moveTo>
                  <a:lnTo>
                    <a:pt x="152082" y="666991"/>
                  </a:lnTo>
                  <a:lnTo>
                    <a:pt x="109855" y="689152"/>
                  </a:lnTo>
                  <a:lnTo>
                    <a:pt x="73012" y="718858"/>
                  </a:lnTo>
                  <a:lnTo>
                    <a:pt x="42595" y="755065"/>
                  </a:lnTo>
                  <a:lnTo>
                    <a:pt x="19608" y="796785"/>
                  </a:lnTo>
                  <a:lnTo>
                    <a:pt x="5067" y="842975"/>
                  </a:lnTo>
                  <a:lnTo>
                    <a:pt x="0" y="892644"/>
                  </a:lnTo>
                  <a:lnTo>
                    <a:pt x="4940" y="941705"/>
                  </a:lnTo>
                  <a:lnTo>
                    <a:pt x="19126" y="987399"/>
                  </a:lnTo>
                  <a:lnTo>
                    <a:pt x="41579" y="1028763"/>
                  </a:lnTo>
                  <a:lnTo>
                    <a:pt x="71297" y="1064793"/>
                  </a:lnTo>
                  <a:lnTo>
                    <a:pt x="107327" y="1094511"/>
                  </a:lnTo>
                  <a:lnTo>
                    <a:pt x="148678" y="1116965"/>
                  </a:lnTo>
                  <a:lnTo>
                    <a:pt x="194386" y="1131150"/>
                  </a:lnTo>
                  <a:lnTo>
                    <a:pt x="243446" y="1136091"/>
                  </a:lnTo>
                  <a:lnTo>
                    <a:pt x="296456" y="1130312"/>
                  </a:lnTo>
                  <a:lnTo>
                    <a:pt x="345414" y="1113777"/>
                  </a:lnTo>
                  <a:lnTo>
                    <a:pt x="389077" y="1087742"/>
                  </a:lnTo>
                  <a:lnTo>
                    <a:pt x="426224" y="1053452"/>
                  </a:lnTo>
                  <a:lnTo>
                    <a:pt x="455587" y="1012151"/>
                  </a:lnTo>
                  <a:lnTo>
                    <a:pt x="475932" y="965073"/>
                  </a:lnTo>
                  <a:lnTo>
                    <a:pt x="649198" y="446328"/>
                  </a:lnTo>
                  <a:close/>
                </a:path>
                <a:path w="1948180" h="1136650">
                  <a:moveTo>
                    <a:pt x="933208" y="142011"/>
                  </a:moveTo>
                  <a:lnTo>
                    <a:pt x="925969" y="97129"/>
                  </a:lnTo>
                  <a:lnTo>
                    <a:pt x="905814" y="58140"/>
                  </a:lnTo>
                  <a:lnTo>
                    <a:pt x="875068" y="27393"/>
                  </a:lnTo>
                  <a:lnTo>
                    <a:pt x="836091" y="7239"/>
                  </a:lnTo>
                  <a:lnTo>
                    <a:pt x="791197" y="0"/>
                  </a:lnTo>
                  <a:lnTo>
                    <a:pt x="746315" y="7239"/>
                  </a:lnTo>
                  <a:lnTo>
                    <a:pt x="707326" y="27393"/>
                  </a:lnTo>
                  <a:lnTo>
                    <a:pt x="676592" y="58140"/>
                  </a:lnTo>
                  <a:lnTo>
                    <a:pt x="656424" y="97129"/>
                  </a:lnTo>
                  <a:lnTo>
                    <a:pt x="649185" y="142011"/>
                  </a:lnTo>
                  <a:lnTo>
                    <a:pt x="656424" y="186893"/>
                  </a:lnTo>
                  <a:lnTo>
                    <a:pt x="676592" y="225882"/>
                  </a:lnTo>
                  <a:lnTo>
                    <a:pt x="707326" y="256628"/>
                  </a:lnTo>
                  <a:lnTo>
                    <a:pt x="746315" y="276783"/>
                  </a:lnTo>
                  <a:lnTo>
                    <a:pt x="791197" y="284035"/>
                  </a:lnTo>
                  <a:lnTo>
                    <a:pt x="836091" y="276783"/>
                  </a:lnTo>
                  <a:lnTo>
                    <a:pt x="875068" y="256628"/>
                  </a:lnTo>
                  <a:lnTo>
                    <a:pt x="905814" y="225882"/>
                  </a:lnTo>
                  <a:lnTo>
                    <a:pt x="925969" y="186893"/>
                  </a:lnTo>
                  <a:lnTo>
                    <a:pt x="933208" y="142011"/>
                  </a:lnTo>
                  <a:close/>
                </a:path>
                <a:path w="1948180" h="1136650">
                  <a:moveTo>
                    <a:pt x="1257808" y="486892"/>
                  </a:moveTo>
                  <a:lnTo>
                    <a:pt x="1230706" y="447370"/>
                  </a:lnTo>
                  <a:lnTo>
                    <a:pt x="1197965" y="412305"/>
                  </a:lnTo>
                  <a:lnTo>
                    <a:pt x="1160284" y="382295"/>
                  </a:lnTo>
                  <a:lnTo>
                    <a:pt x="1118323" y="357936"/>
                  </a:lnTo>
                  <a:lnTo>
                    <a:pt x="1072807" y="339813"/>
                  </a:lnTo>
                  <a:lnTo>
                    <a:pt x="1024394" y="328498"/>
                  </a:lnTo>
                  <a:lnTo>
                    <a:pt x="973785" y="324599"/>
                  </a:lnTo>
                  <a:lnTo>
                    <a:pt x="923175" y="328498"/>
                  </a:lnTo>
                  <a:lnTo>
                    <a:pt x="874763" y="339813"/>
                  </a:lnTo>
                  <a:lnTo>
                    <a:pt x="829246" y="357936"/>
                  </a:lnTo>
                  <a:lnTo>
                    <a:pt x="787298" y="382295"/>
                  </a:lnTo>
                  <a:lnTo>
                    <a:pt x="749604" y="412305"/>
                  </a:lnTo>
                  <a:lnTo>
                    <a:pt x="716864" y="447370"/>
                  </a:lnTo>
                  <a:lnTo>
                    <a:pt x="689762" y="486892"/>
                  </a:lnTo>
                  <a:lnTo>
                    <a:pt x="1257808" y="486892"/>
                  </a:lnTo>
                  <a:close/>
                </a:path>
                <a:path w="1948180" h="1136650">
                  <a:moveTo>
                    <a:pt x="1298384" y="142011"/>
                  </a:moveTo>
                  <a:lnTo>
                    <a:pt x="1291145" y="97129"/>
                  </a:lnTo>
                  <a:lnTo>
                    <a:pt x="1270990" y="58140"/>
                  </a:lnTo>
                  <a:lnTo>
                    <a:pt x="1240243" y="27393"/>
                  </a:lnTo>
                  <a:lnTo>
                    <a:pt x="1201267" y="7239"/>
                  </a:lnTo>
                  <a:lnTo>
                    <a:pt x="1156373" y="0"/>
                  </a:lnTo>
                  <a:lnTo>
                    <a:pt x="1111491" y="7239"/>
                  </a:lnTo>
                  <a:lnTo>
                    <a:pt x="1072502" y="27393"/>
                  </a:lnTo>
                  <a:lnTo>
                    <a:pt x="1041755" y="58140"/>
                  </a:lnTo>
                  <a:lnTo>
                    <a:pt x="1021600" y="97129"/>
                  </a:lnTo>
                  <a:lnTo>
                    <a:pt x="1014361" y="142011"/>
                  </a:lnTo>
                  <a:lnTo>
                    <a:pt x="1021600" y="186893"/>
                  </a:lnTo>
                  <a:lnTo>
                    <a:pt x="1041755" y="225882"/>
                  </a:lnTo>
                  <a:lnTo>
                    <a:pt x="1072502" y="256628"/>
                  </a:lnTo>
                  <a:lnTo>
                    <a:pt x="1111491" y="276783"/>
                  </a:lnTo>
                  <a:lnTo>
                    <a:pt x="1156373" y="284035"/>
                  </a:lnTo>
                  <a:lnTo>
                    <a:pt x="1201267" y="276783"/>
                  </a:lnTo>
                  <a:lnTo>
                    <a:pt x="1240243" y="256628"/>
                  </a:lnTo>
                  <a:lnTo>
                    <a:pt x="1270990" y="225882"/>
                  </a:lnTo>
                  <a:lnTo>
                    <a:pt x="1291145" y="186893"/>
                  </a:lnTo>
                  <a:lnTo>
                    <a:pt x="1298384" y="142011"/>
                  </a:lnTo>
                  <a:close/>
                </a:path>
                <a:path w="1948180" h="1136650">
                  <a:moveTo>
                    <a:pt x="1947570" y="892644"/>
                  </a:moveTo>
                  <a:lnTo>
                    <a:pt x="1942503" y="842975"/>
                  </a:lnTo>
                  <a:lnTo>
                    <a:pt x="1927961" y="796785"/>
                  </a:lnTo>
                  <a:lnTo>
                    <a:pt x="1904974" y="755065"/>
                  </a:lnTo>
                  <a:lnTo>
                    <a:pt x="1874558" y="718858"/>
                  </a:lnTo>
                  <a:lnTo>
                    <a:pt x="1837728" y="689152"/>
                  </a:lnTo>
                  <a:lnTo>
                    <a:pt x="1795500" y="666991"/>
                  </a:lnTo>
                  <a:lnTo>
                    <a:pt x="1298384" y="446328"/>
                  </a:lnTo>
                  <a:lnTo>
                    <a:pt x="1471637" y="965073"/>
                  </a:lnTo>
                  <a:lnTo>
                    <a:pt x="1491983" y="1012151"/>
                  </a:lnTo>
                  <a:lnTo>
                    <a:pt x="1521345" y="1053452"/>
                  </a:lnTo>
                  <a:lnTo>
                    <a:pt x="1558493" y="1087742"/>
                  </a:lnTo>
                  <a:lnTo>
                    <a:pt x="1602168" y="1113777"/>
                  </a:lnTo>
                  <a:lnTo>
                    <a:pt x="1651127" y="1130312"/>
                  </a:lnTo>
                  <a:lnTo>
                    <a:pt x="1704124" y="1136091"/>
                  </a:lnTo>
                  <a:lnTo>
                    <a:pt x="1753196" y="1131150"/>
                  </a:lnTo>
                  <a:lnTo>
                    <a:pt x="1798891" y="1116965"/>
                  </a:lnTo>
                  <a:lnTo>
                    <a:pt x="1840242" y="1094511"/>
                  </a:lnTo>
                  <a:lnTo>
                    <a:pt x="1876272" y="1064793"/>
                  </a:lnTo>
                  <a:lnTo>
                    <a:pt x="1906003" y="1028763"/>
                  </a:lnTo>
                  <a:lnTo>
                    <a:pt x="1928444" y="987399"/>
                  </a:lnTo>
                  <a:lnTo>
                    <a:pt x="1942630" y="941705"/>
                  </a:lnTo>
                  <a:lnTo>
                    <a:pt x="1947570" y="892644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9">
              <a:extLst>
                <a:ext uri="{FF2B5EF4-FFF2-40B4-BE49-F238E27FC236}">
                  <a16:creationId xmlns:a16="http://schemas.microsoft.com/office/drawing/2014/main" id="{2E8F2235-9E58-757D-1E8E-F57DA8FE37D0}"/>
                </a:ext>
              </a:extLst>
            </p:cNvPr>
            <p:cNvSpPr/>
            <p:nvPr/>
          </p:nvSpPr>
          <p:spPr>
            <a:xfrm>
              <a:off x="5242415" y="4715202"/>
              <a:ext cx="568325" cy="162560"/>
            </a:xfrm>
            <a:custGeom>
              <a:avLst/>
              <a:gdLst/>
              <a:ahLst/>
              <a:cxnLst/>
              <a:rect l="l" t="t" r="r" b="b"/>
              <a:pathLst>
                <a:path w="568325" h="162559">
                  <a:moveTo>
                    <a:pt x="568045" y="0"/>
                  </a:moveTo>
                  <a:lnTo>
                    <a:pt x="0" y="0"/>
                  </a:lnTo>
                  <a:lnTo>
                    <a:pt x="27104" y="39530"/>
                  </a:lnTo>
                  <a:lnTo>
                    <a:pt x="59843" y="74592"/>
                  </a:lnTo>
                  <a:lnTo>
                    <a:pt x="97531" y="104598"/>
                  </a:lnTo>
                  <a:lnTo>
                    <a:pt x="139480" y="128959"/>
                  </a:lnTo>
                  <a:lnTo>
                    <a:pt x="185002" y="147089"/>
                  </a:lnTo>
                  <a:lnTo>
                    <a:pt x="233412" y="158398"/>
                  </a:lnTo>
                  <a:lnTo>
                    <a:pt x="284022" y="162298"/>
                  </a:lnTo>
                  <a:lnTo>
                    <a:pt x="334632" y="158398"/>
                  </a:lnTo>
                  <a:lnTo>
                    <a:pt x="383042" y="147089"/>
                  </a:lnTo>
                  <a:lnTo>
                    <a:pt x="428565" y="128959"/>
                  </a:lnTo>
                  <a:lnTo>
                    <a:pt x="470514" y="104598"/>
                  </a:lnTo>
                  <a:lnTo>
                    <a:pt x="508201" y="74592"/>
                  </a:lnTo>
                  <a:lnTo>
                    <a:pt x="540941" y="39530"/>
                  </a:lnTo>
                  <a:lnTo>
                    <a:pt x="568045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Subtitle 6">
            <a:extLst>
              <a:ext uri="{FF2B5EF4-FFF2-40B4-BE49-F238E27FC236}">
                <a16:creationId xmlns:a16="http://schemas.microsoft.com/office/drawing/2014/main" id="{A56220D3-911B-8552-3072-7F9A2021D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858" y="3497417"/>
            <a:ext cx="4912601" cy="1236911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IN">
                <a:latin typeface="Consolas" panose="020B0609020204030204" pitchFamily="49" charset="0"/>
              </a:rPr>
              <a:t>Why do we need multiple agents ?  </a:t>
            </a:r>
          </a:p>
          <a:p>
            <a:pPr algn="l"/>
            <a:r>
              <a:rPr lang="en-IN">
                <a:latin typeface="Consolas" panose="020B0609020204030204" pitchFamily="49" charset="0"/>
              </a:rPr>
              <a:t>Can’t a single agent call multiple tools and get work done? </a:t>
            </a:r>
          </a:p>
          <a:p>
            <a:pPr algn="l"/>
            <a:endParaRPr lang="en-IN" sz="1800"/>
          </a:p>
        </p:txBody>
      </p:sp>
      <p:pic>
        <p:nvPicPr>
          <p:cNvPr id="9" name="Picture 8" descr="A diagram of a network&#10;&#10;AI-generated content may be incorrect.">
            <a:extLst>
              <a:ext uri="{FF2B5EF4-FFF2-40B4-BE49-F238E27FC236}">
                <a16:creationId xmlns:a16="http://schemas.microsoft.com/office/drawing/2014/main" id="{DD5D3B74-DA3D-1306-26BA-52163B823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542" y="2123672"/>
            <a:ext cx="5192078" cy="426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488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D214B-4DA7-2E1E-B3A1-39A4144CD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4E228B-6276-DB99-125D-14E8C49D39E1}"/>
              </a:ext>
            </a:extLst>
          </p:cNvPr>
          <p:cNvSpPr/>
          <p:nvPr/>
        </p:nvSpPr>
        <p:spPr>
          <a:xfrm rot="10800000">
            <a:off x="-365761" y="-85636"/>
            <a:ext cx="12557761" cy="6857999"/>
          </a:xfrm>
          <a:prstGeom prst="rect">
            <a:avLst/>
          </a:prstGeom>
          <a:gradFill flip="none" rotWithShape="1">
            <a:gsLst>
              <a:gs pos="0">
                <a:srgbClr val="C9A4E4"/>
              </a:gs>
              <a:gs pos="64000">
                <a:schemeClr val="bg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D73624-89AD-9CF7-11FF-DA1000A3E091}"/>
              </a:ext>
            </a:extLst>
          </p:cNvPr>
          <p:cNvGrpSpPr/>
          <p:nvPr/>
        </p:nvGrpSpPr>
        <p:grpSpPr>
          <a:xfrm>
            <a:off x="11467538" y="283795"/>
            <a:ext cx="429384" cy="321996"/>
            <a:chOff x="4552645" y="3416817"/>
            <a:chExt cx="1948180" cy="1460945"/>
          </a:xfrm>
        </p:grpSpPr>
        <p:sp>
          <p:nvSpPr>
            <p:cNvPr id="15" name="object 27">
              <a:extLst>
                <a:ext uri="{FF2B5EF4-FFF2-40B4-BE49-F238E27FC236}">
                  <a16:creationId xmlns:a16="http://schemas.microsoft.com/office/drawing/2014/main" id="{08DF46C7-D3F3-0AAB-1E2F-7D5332A91932}"/>
                </a:ext>
              </a:extLst>
            </p:cNvPr>
            <p:cNvSpPr/>
            <p:nvPr/>
          </p:nvSpPr>
          <p:spPr>
            <a:xfrm>
              <a:off x="5201831" y="4066015"/>
              <a:ext cx="649605" cy="487045"/>
            </a:xfrm>
            <a:custGeom>
              <a:avLst/>
              <a:gdLst/>
              <a:ahLst/>
              <a:cxnLst/>
              <a:rect l="l" t="t" r="r" b="b"/>
              <a:pathLst>
                <a:path w="649605" h="487045">
                  <a:moveTo>
                    <a:pt x="649198" y="324599"/>
                  </a:moveTo>
                  <a:lnTo>
                    <a:pt x="0" y="324599"/>
                  </a:lnTo>
                  <a:lnTo>
                    <a:pt x="0" y="486892"/>
                  </a:lnTo>
                  <a:lnTo>
                    <a:pt x="649198" y="486892"/>
                  </a:lnTo>
                  <a:lnTo>
                    <a:pt x="649198" y="324599"/>
                  </a:lnTo>
                  <a:close/>
                </a:path>
                <a:path w="649605" h="487045">
                  <a:moveTo>
                    <a:pt x="649198" y="0"/>
                  </a:moveTo>
                  <a:lnTo>
                    <a:pt x="0" y="0"/>
                  </a:lnTo>
                  <a:lnTo>
                    <a:pt x="0" y="162293"/>
                  </a:lnTo>
                  <a:lnTo>
                    <a:pt x="649198" y="162293"/>
                  </a:lnTo>
                  <a:lnTo>
                    <a:pt x="6491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28">
              <a:extLst>
                <a:ext uri="{FF2B5EF4-FFF2-40B4-BE49-F238E27FC236}">
                  <a16:creationId xmlns:a16="http://schemas.microsoft.com/office/drawing/2014/main" id="{82464879-093F-CE2F-B8C8-5AC270F12FB6}"/>
                </a:ext>
              </a:extLst>
            </p:cNvPr>
            <p:cNvSpPr/>
            <p:nvPr/>
          </p:nvSpPr>
          <p:spPr>
            <a:xfrm>
              <a:off x="4552645" y="3416817"/>
              <a:ext cx="1948180" cy="1136650"/>
            </a:xfrm>
            <a:custGeom>
              <a:avLst/>
              <a:gdLst/>
              <a:ahLst/>
              <a:cxnLst/>
              <a:rect l="l" t="t" r="r" b="b"/>
              <a:pathLst>
                <a:path w="1948180" h="1136650">
                  <a:moveTo>
                    <a:pt x="649198" y="446328"/>
                  </a:moveTo>
                  <a:lnTo>
                    <a:pt x="152082" y="666991"/>
                  </a:lnTo>
                  <a:lnTo>
                    <a:pt x="109855" y="689152"/>
                  </a:lnTo>
                  <a:lnTo>
                    <a:pt x="73012" y="718858"/>
                  </a:lnTo>
                  <a:lnTo>
                    <a:pt x="42595" y="755065"/>
                  </a:lnTo>
                  <a:lnTo>
                    <a:pt x="19608" y="796785"/>
                  </a:lnTo>
                  <a:lnTo>
                    <a:pt x="5067" y="842975"/>
                  </a:lnTo>
                  <a:lnTo>
                    <a:pt x="0" y="892644"/>
                  </a:lnTo>
                  <a:lnTo>
                    <a:pt x="4940" y="941705"/>
                  </a:lnTo>
                  <a:lnTo>
                    <a:pt x="19126" y="987399"/>
                  </a:lnTo>
                  <a:lnTo>
                    <a:pt x="41579" y="1028763"/>
                  </a:lnTo>
                  <a:lnTo>
                    <a:pt x="71297" y="1064793"/>
                  </a:lnTo>
                  <a:lnTo>
                    <a:pt x="107327" y="1094511"/>
                  </a:lnTo>
                  <a:lnTo>
                    <a:pt x="148678" y="1116965"/>
                  </a:lnTo>
                  <a:lnTo>
                    <a:pt x="194386" y="1131150"/>
                  </a:lnTo>
                  <a:lnTo>
                    <a:pt x="243446" y="1136091"/>
                  </a:lnTo>
                  <a:lnTo>
                    <a:pt x="296456" y="1130312"/>
                  </a:lnTo>
                  <a:lnTo>
                    <a:pt x="345414" y="1113777"/>
                  </a:lnTo>
                  <a:lnTo>
                    <a:pt x="389077" y="1087742"/>
                  </a:lnTo>
                  <a:lnTo>
                    <a:pt x="426224" y="1053452"/>
                  </a:lnTo>
                  <a:lnTo>
                    <a:pt x="455587" y="1012151"/>
                  </a:lnTo>
                  <a:lnTo>
                    <a:pt x="475932" y="965073"/>
                  </a:lnTo>
                  <a:lnTo>
                    <a:pt x="649198" y="446328"/>
                  </a:lnTo>
                  <a:close/>
                </a:path>
                <a:path w="1948180" h="1136650">
                  <a:moveTo>
                    <a:pt x="933208" y="142011"/>
                  </a:moveTo>
                  <a:lnTo>
                    <a:pt x="925969" y="97129"/>
                  </a:lnTo>
                  <a:lnTo>
                    <a:pt x="905814" y="58140"/>
                  </a:lnTo>
                  <a:lnTo>
                    <a:pt x="875068" y="27393"/>
                  </a:lnTo>
                  <a:lnTo>
                    <a:pt x="836091" y="7239"/>
                  </a:lnTo>
                  <a:lnTo>
                    <a:pt x="791197" y="0"/>
                  </a:lnTo>
                  <a:lnTo>
                    <a:pt x="746315" y="7239"/>
                  </a:lnTo>
                  <a:lnTo>
                    <a:pt x="707326" y="27393"/>
                  </a:lnTo>
                  <a:lnTo>
                    <a:pt x="676592" y="58140"/>
                  </a:lnTo>
                  <a:lnTo>
                    <a:pt x="656424" y="97129"/>
                  </a:lnTo>
                  <a:lnTo>
                    <a:pt x="649185" y="142011"/>
                  </a:lnTo>
                  <a:lnTo>
                    <a:pt x="656424" y="186893"/>
                  </a:lnTo>
                  <a:lnTo>
                    <a:pt x="676592" y="225882"/>
                  </a:lnTo>
                  <a:lnTo>
                    <a:pt x="707326" y="256628"/>
                  </a:lnTo>
                  <a:lnTo>
                    <a:pt x="746315" y="276783"/>
                  </a:lnTo>
                  <a:lnTo>
                    <a:pt x="791197" y="284035"/>
                  </a:lnTo>
                  <a:lnTo>
                    <a:pt x="836091" y="276783"/>
                  </a:lnTo>
                  <a:lnTo>
                    <a:pt x="875068" y="256628"/>
                  </a:lnTo>
                  <a:lnTo>
                    <a:pt x="905814" y="225882"/>
                  </a:lnTo>
                  <a:lnTo>
                    <a:pt x="925969" y="186893"/>
                  </a:lnTo>
                  <a:lnTo>
                    <a:pt x="933208" y="142011"/>
                  </a:lnTo>
                  <a:close/>
                </a:path>
                <a:path w="1948180" h="1136650">
                  <a:moveTo>
                    <a:pt x="1257808" y="486892"/>
                  </a:moveTo>
                  <a:lnTo>
                    <a:pt x="1230706" y="447370"/>
                  </a:lnTo>
                  <a:lnTo>
                    <a:pt x="1197965" y="412305"/>
                  </a:lnTo>
                  <a:lnTo>
                    <a:pt x="1160284" y="382295"/>
                  </a:lnTo>
                  <a:lnTo>
                    <a:pt x="1118323" y="357936"/>
                  </a:lnTo>
                  <a:lnTo>
                    <a:pt x="1072807" y="339813"/>
                  </a:lnTo>
                  <a:lnTo>
                    <a:pt x="1024394" y="328498"/>
                  </a:lnTo>
                  <a:lnTo>
                    <a:pt x="973785" y="324599"/>
                  </a:lnTo>
                  <a:lnTo>
                    <a:pt x="923175" y="328498"/>
                  </a:lnTo>
                  <a:lnTo>
                    <a:pt x="874763" y="339813"/>
                  </a:lnTo>
                  <a:lnTo>
                    <a:pt x="829246" y="357936"/>
                  </a:lnTo>
                  <a:lnTo>
                    <a:pt x="787298" y="382295"/>
                  </a:lnTo>
                  <a:lnTo>
                    <a:pt x="749604" y="412305"/>
                  </a:lnTo>
                  <a:lnTo>
                    <a:pt x="716864" y="447370"/>
                  </a:lnTo>
                  <a:lnTo>
                    <a:pt x="689762" y="486892"/>
                  </a:lnTo>
                  <a:lnTo>
                    <a:pt x="1257808" y="486892"/>
                  </a:lnTo>
                  <a:close/>
                </a:path>
                <a:path w="1948180" h="1136650">
                  <a:moveTo>
                    <a:pt x="1298384" y="142011"/>
                  </a:moveTo>
                  <a:lnTo>
                    <a:pt x="1291145" y="97129"/>
                  </a:lnTo>
                  <a:lnTo>
                    <a:pt x="1270990" y="58140"/>
                  </a:lnTo>
                  <a:lnTo>
                    <a:pt x="1240243" y="27393"/>
                  </a:lnTo>
                  <a:lnTo>
                    <a:pt x="1201267" y="7239"/>
                  </a:lnTo>
                  <a:lnTo>
                    <a:pt x="1156373" y="0"/>
                  </a:lnTo>
                  <a:lnTo>
                    <a:pt x="1111491" y="7239"/>
                  </a:lnTo>
                  <a:lnTo>
                    <a:pt x="1072502" y="27393"/>
                  </a:lnTo>
                  <a:lnTo>
                    <a:pt x="1041755" y="58140"/>
                  </a:lnTo>
                  <a:lnTo>
                    <a:pt x="1021600" y="97129"/>
                  </a:lnTo>
                  <a:lnTo>
                    <a:pt x="1014361" y="142011"/>
                  </a:lnTo>
                  <a:lnTo>
                    <a:pt x="1021600" y="186893"/>
                  </a:lnTo>
                  <a:lnTo>
                    <a:pt x="1041755" y="225882"/>
                  </a:lnTo>
                  <a:lnTo>
                    <a:pt x="1072502" y="256628"/>
                  </a:lnTo>
                  <a:lnTo>
                    <a:pt x="1111491" y="276783"/>
                  </a:lnTo>
                  <a:lnTo>
                    <a:pt x="1156373" y="284035"/>
                  </a:lnTo>
                  <a:lnTo>
                    <a:pt x="1201267" y="276783"/>
                  </a:lnTo>
                  <a:lnTo>
                    <a:pt x="1240243" y="256628"/>
                  </a:lnTo>
                  <a:lnTo>
                    <a:pt x="1270990" y="225882"/>
                  </a:lnTo>
                  <a:lnTo>
                    <a:pt x="1291145" y="186893"/>
                  </a:lnTo>
                  <a:lnTo>
                    <a:pt x="1298384" y="142011"/>
                  </a:lnTo>
                  <a:close/>
                </a:path>
                <a:path w="1948180" h="1136650">
                  <a:moveTo>
                    <a:pt x="1947570" y="892644"/>
                  </a:moveTo>
                  <a:lnTo>
                    <a:pt x="1942503" y="842975"/>
                  </a:lnTo>
                  <a:lnTo>
                    <a:pt x="1927961" y="796785"/>
                  </a:lnTo>
                  <a:lnTo>
                    <a:pt x="1904974" y="755065"/>
                  </a:lnTo>
                  <a:lnTo>
                    <a:pt x="1874558" y="718858"/>
                  </a:lnTo>
                  <a:lnTo>
                    <a:pt x="1837728" y="689152"/>
                  </a:lnTo>
                  <a:lnTo>
                    <a:pt x="1795500" y="666991"/>
                  </a:lnTo>
                  <a:lnTo>
                    <a:pt x="1298384" y="446328"/>
                  </a:lnTo>
                  <a:lnTo>
                    <a:pt x="1471637" y="965073"/>
                  </a:lnTo>
                  <a:lnTo>
                    <a:pt x="1491983" y="1012151"/>
                  </a:lnTo>
                  <a:lnTo>
                    <a:pt x="1521345" y="1053452"/>
                  </a:lnTo>
                  <a:lnTo>
                    <a:pt x="1558493" y="1087742"/>
                  </a:lnTo>
                  <a:lnTo>
                    <a:pt x="1602168" y="1113777"/>
                  </a:lnTo>
                  <a:lnTo>
                    <a:pt x="1651127" y="1130312"/>
                  </a:lnTo>
                  <a:lnTo>
                    <a:pt x="1704124" y="1136091"/>
                  </a:lnTo>
                  <a:lnTo>
                    <a:pt x="1753196" y="1131150"/>
                  </a:lnTo>
                  <a:lnTo>
                    <a:pt x="1798891" y="1116965"/>
                  </a:lnTo>
                  <a:lnTo>
                    <a:pt x="1840242" y="1094511"/>
                  </a:lnTo>
                  <a:lnTo>
                    <a:pt x="1876272" y="1064793"/>
                  </a:lnTo>
                  <a:lnTo>
                    <a:pt x="1906003" y="1028763"/>
                  </a:lnTo>
                  <a:lnTo>
                    <a:pt x="1928444" y="987399"/>
                  </a:lnTo>
                  <a:lnTo>
                    <a:pt x="1942630" y="941705"/>
                  </a:lnTo>
                  <a:lnTo>
                    <a:pt x="1947570" y="892644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9">
              <a:extLst>
                <a:ext uri="{FF2B5EF4-FFF2-40B4-BE49-F238E27FC236}">
                  <a16:creationId xmlns:a16="http://schemas.microsoft.com/office/drawing/2014/main" id="{915161F9-19BC-781D-BEC9-193F3BDE0E4F}"/>
                </a:ext>
              </a:extLst>
            </p:cNvPr>
            <p:cNvSpPr/>
            <p:nvPr/>
          </p:nvSpPr>
          <p:spPr>
            <a:xfrm>
              <a:off x="5242415" y="4715202"/>
              <a:ext cx="568325" cy="162560"/>
            </a:xfrm>
            <a:custGeom>
              <a:avLst/>
              <a:gdLst/>
              <a:ahLst/>
              <a:cxnLst/>
              <a:rect l="l" t="t" r="r" b="b"/>
              <a:pathLst>
                <a:path w="568325" h="162559">
                  <a:moveTo>
                    <a:pt x="568045" y="0"/>
                  </a:moveTo>
                  <a:lnTo>
                    <a:pt x="0" y="0"/>
                  </a:lnTo>
                  <a:lnTo>
                    <a:pt x="27104" y="39530"/>
                  </a:lnTo>
                  <a:lnTo>
                    <a:pt x="59843" y="74592"/>
                  </a:lnTo>
                  <a:lnTo>
                    <a:pt x="97531" y="104598"/>
                  </a:lnTo>
                  <a:lnTo>
                    <a:pt x="139480" y="128959"/>
                  </a:lnTo>
                  <a:lnTo>
                    <a:pt x="185002" y="147089"/>
                  </a:lnTo>
                  <a:lnTo>
                    <a:pt x="233412" y="158398"/>
                  </a:lnTo>
                  <a:lnTo>
                    <a:pt x="284022" y="162298"/>
                  </a:lnTo>
                  <a:lnTo>
                    <a:pt x="334632" y="158398"/>
                  </a:lnTo>
                  <a:lnTo>
                    <a:pt x="383042" y="147089"/>
                  </a:lnTo>
                  <a:lnTo>
                    <a:pt x="428565" y="128959"/>
                  </a:lnTo>
                  <a:lnTo>
                    <a:pt x="470514" y="104598"/>
                  </a:lnTo>
                  <a:lnTo>
                    <a:pt x="508201" y="74592"/>
                  </a:lnTo>
                  <a:lnTo>
                    <a:pt x="540941" y="39530"/>
                  </a:lnTo>
                  <a:lnTo>
                    <a:pt x="568045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2F7D1FF0-7050-651D-38CE-FD8E47C227AE}"/>
              </a:ext>
            </a:extLst>
          </p:cNvPr>
          <p:cNvSpPr txBox="1">
            <a:spLocks/>
          </p:cNvSpPr>
          <p:nvPr/>
        </p:nvSpPr>
        <p:spPr>
          <a:xfrm>
            <a:off x="797813" y="825604"/>
            <a:ext cx="2518264" cy="12291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8800" b="1">
                <a:latin typeface="Consolas" panose="020B0609020204030204" pitchFamily="49" charset="0"/>
              </a:rPr>
              <a:t>MCP</a:t>
            </a:r>
            <a:endParaRPr lang="en-IN" sz="8800" b="1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4BA00C-96F7-432A-2707-59D02F3823BD}"/>
              </a:ext>
            </a:extLst>
          </p:cNvPr>
          <p:cNvSpPr txBox="1"/>
          <p:nvPr/>
        </p:nvSpPr>
        <p:spPr>
          <a:xfrm>
            <a:off x="797813" y="2551837"/>
            <a:ext cx="33996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Consolas" panose="020B0609020204030204" pitchFamily="49" charset="0"/>
              </a:rPr>
              <a:t>What is MCP?</a:t>
            </a:r>
          </a:p>
          <a:p>
            <a:pPr marL="285750" indent="-285750">
              <a:buFontTx/>
              <a:buChar char="-"/>
            </a:pPr>
            <a:r>
              <a:rPr lang="en-US">
                <a:latin typeface="Consolas" panose="020B0609020204030204" pitchFamily="49" charset="0"/>
              </a:rPr>
              <a:t>Open Standard</a:t>
            </a:r>
          </a:p>
          <a:p>
            <a:pPr marL="285750" indent="-285750">
              <a:buFontTx/>
              <a:buChar char="-"/>
            </a:pPr>
            <a:r>
              <a:rPr lang="en-US">
                <a:latin typeface="Consolas" panose="020B0609020204030204" pitchFamily="49" charset="0"/>
              </a:rPr>
              <a:t>To Connect AI Agents with External Resources/tools/APIs</a:t>
            </a:r>
          </a:p>
          <a:p>
            <a:pPr marL="285750" indent="-285750">
              <a:buFontTx/>
              <a:buChar char="-"/>
            </a:pPr>
            <a:r>
              <a:rPr lang="en-US">
                <a:latin typeface="Consolas" panose="020B0609020204030204" pitchFamily="49" charset="0"/>
              </a:rPr>
              <a:t>Unified &amp; Scalable</a:t>
            </a:r>
          </a:p>
          <a:p>
            <a:pPr marL="285750" indent="-285750">
              <a:buFontTx/>
              <a:buChar char="-"/>
            </a:pPr>
            <a:endParaRPr lang="en-US">
              <a:latin typeface="Consolas" panose="020B0609020204030204" pitchFamily="49" charset="0"/>
            </a:endParaRPr>
          </a:p>
          <a:p>
            <a:r>
              <a:rPr lang="en-US" b="1">
                <a:latin typeface="Consolas" panose="020B0609020204030204" pitchFamily="49" charset="0"/>
              </a:rPr>
              <a:t>Why do we need it?</a:t>
            </a:r>
          </a:p>
          <a:p>
            <a:r>
              <a:rPr lang="en-US">
                <a:latin typeface="Consolas" panose="020B0609020204030204" pitchFamily="49" charset="0"/>
              </a:rPr>
              <a:t>providing a standardized protocol, making integrations easier, more robust, and scalable. Independent of any particular framework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F84DB4-2932-95B7-A8EF-5369D3DEA808}"/>
              </a:ext>
            </a:extLst>
          </p:cNvPr>
          <p:cNvSpPr txBox="1"/>
          <p:nvPr/>
        </p:nvSpPr>
        <p:spPr>
          <a:xfrm>
            <a:off x="797813" y="1857219"/>
            <a:ext cx="6215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Model Context Protocol</a:t>
            </a:r>
            <a:endParaRPr lang="en-IN" sz="24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544463-AA95-4D8E-65D4-7A857F846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613" y="2540820"/>
            <a:ext cx="6156976" cy="272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95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9AB84-09B4-3709-BC1C-39EE8BD5F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2338193-80D8-A041-B195-3AD23A5C758A}"/>
              </a:ext>
            </a:extLst>
          </p:cNvPr>
          <p:cNvSpPr/>
          <p:nvPr/>
        </p:nvSpPr>
        <p:spPr>
          <a:xfrm rot="10800000">
            <a:off x="-365761" y="0"/>
            <a:ext cx="12557761" cy="6857999"/>
          </a:xfrm>
          <a:prstGeom prst="rect">
            <a:avLst/>
          </a:prstGeom>
          <a:gradFill flip="none" rotWithShape="1">
            <a:gsLst>
              <a:gs pos="33000">
                <a:srgbClr val="DEC8EE"/>
              </a:gs>
              <a:gs pos="0">
                <a:srgbClr val="0530AD"/>
              </a:gs>
              <a:gs pos="72000">
                <a:schemeClr val="bg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549823-640C-1816-2C52-6690FB73C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59036" y="1653624"/>
            <a:ext cx="2381964" cy="979103"/>
          </a:xfrm>
        </p:spPr>
        <p:txBody>
          <a:bodyPr>
            <a:normAutofit fontScale="90000"/>
          </a:bodyPr>
          <a:lstStyle/>
          <a:p>
            <a:pPr algn="l"/>
            <a:r>
              <a:rPr lang="en-IN" sz="5400" b="1" err="1">
                <a:latin typeface="Consolas" panose="020B0609020204030204" pitchFamily="49" charset="0"/>
              </a:rPr>
              <a:t>GenAI</a:t>
            </a:r>
            <a:r>
              <a:rPr lang="en-IN" sz="5400" b="1">
                <a:latin typeface="Consolas" panose="020B0609020204030204" pitchFamily="49" charset="0"/>
              </a:rPr>
              <a:t> Lingo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E9E1AD3-3955-63D0-F738-6694AD92AA7A}"/>
              </a:ext>
            </a:extLst>
          </p:cNvPr>
          <p:cNvGrpSpPr/>
          <p:nvPr/>
        </p:nvGrpSpPr>
        <p:grpSpPr>
          <a:xfrm>
            <a:off x="11467538" y="283795"/>
            <a:ext cx="429384" cy="321996"/>
            <a:chOff x="4552645" y="3416817"/>
            <a:chExt cx="1948180" cy="1460945"/>
          </a:xfrm>
        </p:grpSpPr>
        <p:sp>
          <p:nvSpPr>
            <p:cNvPr id="15" name="object 27">
              <a:extLst>
                <a:ext uri="{FF2B5EF4-FFF2-40B4-BE49-F238E27FC236}">
                  <a16:creationId xmlns:a16="http://schemas.microsoft.com/office/drawing/2014/main" id="{061672A5-9FAC-00E8-EC95-59E2FF38E19B}"/>
                </a:ext>
              </a:extLst>
            </p:cNvPr>
            <p:cNvSpPr/>
            <p:nvPr/>
          </p:nvSpPr>
          <p:spPr>
            <a:xfrm>
              <a:off x="5201831" y="4066015"/>
              <a:ext cx="649605" cy="487045"/>
            </a:xfrm>
            <a:custGeom>
              <a:avLst/>
              <a:gdLst/>
              <a:ahLst/>
              <a:cxnLst/>
              <a:rect l="l" t="t" r="r" b="b"/>
              <a:pathLst>
                <a:path w="649605" h="487045">
                  <a:moveTo>
                    <a:pt x="649198" y="324599"/>
                  </a:moveTo>
                  <a:lnTo>
                    <a:pt x="0" y="324599"/>
                  </a:lnTo>
                  <a:lnTo>
                    <a:pt x="0" y="486892"/>
                  </a:lnTo>
                  <a:lnTo>
                    <a:pt x="649198" y="486892"/>
                  </a:lnTo>
                  <a:lnTo>
                    <a:pt x="649198" y="324599"/>
                  </a:lnTo>
                  <a:close/>
                </a:path>
                <a:path w="649605" h="487045">
                  <a:moveTo>
                    <a:pt x="649198" y="0"/>
                  </a:moveTo>
                  <a:lnTo>
                    <a:pt x="0" y="0"/>
                  </a:lnTo>
                  <a:lnTo>
                    <a:pt x="0" y="162293"/>
                  </a:lnTo>
                  <a:lnTo>
                    <a:pt x="649198" y="162293"/>
                  </a:lnTo>
                  <a:lnTo>
                    <a:pt x="6491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28">
              <a:extLst>
                <a:ext uri="{FF2B5EF4-FFF2-40B4-BE49-F238E27FC236}">
                  <a16:creationId xmlns:a16="http://schemas.microsoft.com/office/drawing/2014/main" id="{8D2BF4DF-67E9-B54E-134F-DEE1C3A435D3}"/>
                </a:ext>
              </a:extLst>
            </p:cNvPr>
            <p:cNvSpPr/>
            <p:nvPr/>
          </p:nvSpPr>
          <p:spPr>
            <a:xfrm>
              <a:off x="4552645" y="3416817"/>
              <a:ext cx="1948180" cy="1136650"/>
            </a:xfrm>
            <a:custGeom>
              <a:avLst/>
              <a:gdLst/>
              <a:ahLst/>
              <a:cxnLst/>
              <a:rect l="l" t="t" r="r" b="b"/>
              <a:pathLst>
                <a:path w="1948180" h="1136650">
                  <a:moveTo>
                    <a:pt x="649198" y="446328"/>
                  </a:moveTo>
                  <a:lnTo>
                    <a:pt x="152082" y="666991"/>
                  </a:lnTo>
                  <a:lnTo>
                    <a:pt x="109855" y="689152"/>
                  </a:lnTo>
                  <a:lnTo>
                    <a:pt x="73012" y="718858"/>
                  </a:lnTo>
                  <a:lnTo>
                    <a:pt x="42595" y="755065"/>
                  </a:lnTo>
                  <a:lnTo>
                    <a:pt x="19608" y="796785"/>
                  </a:lnTo>
                  <a:lnTo>
                    <a:pt x="5067" y="842975"/>
                  </a:lnTo>
                  <a:lnTo>
                    <a:pt x="0" y="892644"/>
                  </a:lnTo>
                  <a:lnTo>
                    <a:pt x="4940" y="941705"/>
                  </a:lnTo>
                  <a:lnTo>
                    <a:pt x="19126" y="987399"/>
                  </a:lnTo>
                  <a:lnTo>
                    <a:pt x="41579" y="1028763"/>
                  </a:lnTo>
                  <a:lnTo>
                    <a:pt x="71297" y="1064793"/>
                  </a:lnTo>
                  <a:lnTo>
                    <a:pt x="107327" y="1094511"/>
                  </a:lnTo>
                  <a:lnTo>
                    <a:pt x="148678" y="1116965"/>
                  </a:lnTo>
                  <a:lnTo>
                    <a:pt x="194386" y="1131150"/>
                  </a:lnTo>
                  <a:lnTo>
                    <a:pt x="243446" y="1136091"/>
                  </a:lnTo>
                  <a:lnTo>
                    <a:pt x="296456" y="1130312"/>
                  </a:lnTo>
                  <a:lnTo>
                    <a:pt x="345414" y="1113777"/>
                  </a:lnTo>
                  <a:lnTo>
                    <a:pt x="389077" y="1087742"/>
                  </a:lnTo>
                  <a:lnTo>
                    <a:pt x="426224" y="1053452"/>
                  </a:lnTo>
                  <a:lnTo>
                    <a:pt x="455587" y="1012151"/>
                  </a:lnTo>
                  <a:lnTo>
                    <a:pt x="475932" y="965073"/>
                  </a:lnTo>
                  <a:lnTo>
                    <a:pt x="649198" y="446328"/>
                  </a:lnTo>
                  <a:close/>
                </a:path>
                <a:path w="1948180" h="1136650">
                  <a:moveTo>
                    <a:pt x="933208" y="142011"/>
                  </a:moveTo>
                  <a:lnTo>
                    <a:pt x="925969" y="97129"/>
                  </a:lnTo>
                  <a:lnTo>
                    <a:pt x="905814" y="58140"/>
                  </a:lnTo>
                  <a:lnTo>
                    <a:pt x="875068" y="27393"/>
                  </a:lnTo>
                  <a:lnTo>
                    <a:pt x="836091" y="7239"/>
                  </a:lnTo>
                  <a:lnTo>
                    <a:pt x="791197" y="0"/>
                  </a:lnTo>
                  <a:lnTo>
                    <a:pt x="746315" y="7239"/>
                  </a:lnTo>
                  <a:lnTo>
                    <a:pt x="707326" y="27393"/>
                  </a:lnTo>
                  <a:lnTo>
                    <a:pt x="676592" y="58140"/>
                  </a:lnTo>
                  <a:lnTo>
                    <a:pt x="656424" y="97129"/>
                  </a:lnTo>
                  <a:lnTo>
                    <a:pt x="649185" y="142011"/>
                  </a:lnTo>
                  <a:lnTo>
                    <a:pt x="656424" y="186893"/>
                  </a:lnTo>
                  <a:lnTo>
                    <a:pt x="676592" y="225882"/>
                  </a:lnTo>
                  <a:lnTo>
                    <a:pt x="707326" y="256628"/>
                  </a:lnTo>
                  <a:lnTo>
                    <a:pt x="746315" y="276783"/>
                  </a:lnTo>
                  <a:lnTo>
                    <a:pt x="791197" y="284035"/>
                  </a:lnTo>
                  <a:lnTo>
                    <a:pt x="836091" y="276783"/>
                  </a:lnTo>
                  <a:lnTo>
                    <a:pt x="875068" y="256628"/>
                  </a:lnTo>
                  <a:lnTo>
                    <a:pt x="905814" y="225882"/>
                  </a:lnTo>
                  <a:lnTo>
                    <a:pt x="925969" y="186893"/>
                  </a:lnTo>
                  <a:lnTo>
                    <a:pt x="933208" y="142011"/>
                  </a:lnTo>
                  <a:close/>
                </a:path>
                <a:path w="1948180" h="1136650">
                  <a:moveTo>
                    <a:pt x="1257808" y="486892"/>
                  </a:moveTo>
                  <a:lnTo>
                    <a:pt x="1230706" y="447370"/>
                  </a:lnTo>
                  <a:lnTo>
                    <a:pt x="1197965" y="412305"/>
                  </a:lnTo>
                  <a:lnTo>
                    <a:pt x="1160284" y="382295"/>
                  </a:lnTo>
                  <a:lnTo>
                    <a:pt x="1118323" y="357936"/>
                  </a:lnTo>
                  <a:lnTo>
                    <a:pt x="1072807" y="339813"/>
                  </a:lnTo>
                  <a:lnTo>
                    <a:pt x="1024394" y="328498"/>
                  </a:lnTo>
                  <a:lnTo>
                    <a:pt x="973785" y="324599"/>
                  </a:lnTo>
                  <a:lnTo>
                    <a:pt x="923175" y="328498"/>
                  </a:lnTo>
                  <a:lnTo>
                    <a:pt x="874763" y="339813"/>
                  </a:lnTo>
                  <a:lnTo>
                    <a:pt x="829246" y="357936"/>
                  </a:lnTo>
                  <a:lnTo>
                    <a:pt x="787298" y="382295"/>
                  </a:lnTo>
                  <a:lnTo>
                    <a:pt x="749604" y="412305"/>
                  </a:lnTo>
                  <a:lnTo>
                    <a:pt x="716864" y="447370"/>
                  </a:lnTo>
                  <a:lnTo>
                    <a:pt x="689762" y="486892"/>
                  </a:lnTo>
                  <a:lnTo>
                    <a:pt x="1257808" y="486892"/>
                  </a:lnTo>
                  <a:close/>
                </a:path>
                <a:path w="1948180" h="1136650">
                  <a:moveTo>
                    <a:pt x="1298384" y="142011"/>
                  </a:moveTo>
                  <a:lnTo>
                    <a:pt x="1291145" y="97129"/>
                  </a:lnTo>
                  <a:lnTo>
                    <a:pt x="1270990" y="58140"/>
                  </a:lnTo>
                  <a:lnTo>
                    <a:pt x="1240243" y="27393"/>
                  </a:lnTo>
                  <a:lnTo>
                    <a:pt x="1201267" y="7239"/>
                  </a:lnTo>
                  <a:lnTo>
                    <a:pt x="1156373" y="0"/>
                  </a:lnTo>
                  <a:lnTo>
                    <a:pt x="1111491" y="7239"/>
                  </a:lnTo>
                  <a:lnTo>
                    <a:pt x="1072502" y="27393"/>
                  </a:lnTo>
                  <a:lnTo>
                    <a:pt x="1041755" y="58140"/>
                  </a:lnTo>
                  <a:lnTo>
                    <a:pt x="1021600" y="97129"/>
                  </a:lnTo>
                  <a:lnTo>
                    <a:pt x="1014361" y="142011"/>
                  </a:lnTo>
                  <a:lnTo>
                    <a:pt x="1021600" y="186893"/>
                  </a:lnTo>
                  <a:lnTo>
                    <a:pt x="1041755" y="225882"/>
                  </a:lnTo>
                  <a:lnTo>
                    <a:pt x="1072502" y="256628"/>
                  </a:lnTo>
                  <a:lnTo>
                    <a:pt x="1111491" y="276783"/>
                  </a:lnTo>
                  <a:lnTo>
                    <a:pt x="1156373" y="284035"/>
                  </a:lnTo>
                  <a:lnTo>
                    <a:pt x="1201267" y="276783"/>
                  </a:lnTo>
                  <a:lnTo>
                    <a:pt x="1240243" y="256628"/>
                  </a:lnTo>
                  <a:lnTo>
                    <a:pt x="1270990" y="225882"/>
                  </a:lnTo>
                  <a:lnTo>
                    <a:pt x="1291145" y="186893"/>
                  </a:lnTo>
                  <a:lnTo>
                    <a:pt x="1298384" y="142011"/>
                  </a:lnTo>
                  <a:close/>
                </a:path>
                <a:path w="1948180" h="1136650">
                  <a:moveTo>
                    <a:pt x="1947570" y="892644"/>
                  </a:moveTo>
                  <a:lnTo>
                    <a:pt x="1942503" y="842975"/>
                  </a:lnTo>
                  <a:lnTo>
                    <a:pt x="1927961" y="796785"/>
                  </a:lnTo>
                  <a:lnTo>
                    <a:pt x="1904974" y="755065"/>
                  </a:lnTo>
                  <a:lnTo>
                    <a:pt x="1874558" y="718858"/>
                  </a:lnTo>
                  <a:lnTo>
                    <a:pt x="1837728" y="689152"/>
                  </a:lnTo>
                  <a:lnTo>
                    <a:pt x="1795500" y="666991"/>
                  </a:lnTo>
                  <a:lnTo>
                    <a:pt x="1298384" y="446328"/>
                  </a:lnTo>
                  <a:lnTo>
                    <a:pt x="1471637" y="965073"/>
                  </a:lnTo>
                  <a:lnTo>
                    <a:pt x="1491983" y="1012151"/>
                  </a:lnTo>
                  <a:lnTo>
                    <a:pt x="1521345" y="1053452"/>
                  </a:lnTo>
                  <a:lnTo>
                    <a:pt x="1558493" y="1087742"/>
                  </a:lnTo>
                  <a:lnTo>
                    <a:pt x="1602168" y="1113777"/>
                  </a:lnTo>
                  <a:lnTo>
                    <a:pt x="1651127" y="1130312"/>
                  </a:lnTo>
                  <a:lnTo>
                    <a:pt x="1704124" y="1136091"/>
                  </a:lnTo>
                  <a:lnTo>
                    <a:pt x="1753196" y="1131150"/>
                  </a:lnTo>
                  <a:lnTo>
                    <a:pt x="1798891" y="1116965"/>
                  </a:lnTo>
                  <a:lnTo>
                    <a:pt x="1840242" y="1094511"/>
                  </a:lnTo>
                  <a:lnTo>
                    <a:pt x="1876272" y="1064793"/>
                  </a:lnTo>
                  <a:lnTo>
                    <a:pt x="1906003" y="1028763"/>
                  </a:lnTo>
                  <a:lnTo>
                    <a:pt x="1928444" y="987399"/>
                  </a:lnTo>
                  <a:lnTo>
                    <a:pt x="1942630" y="941705"/>
                  </a:lnTo>
                  <a:lnTo>
                    <a:pt x="1947570" y="892644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9">
              <a:extLst>
                <a:ext uri="{FF2B5EF4-FFF2-40B4-BE49-F238E27FC236}">
                  <a16:creationId xmlns:a16="http://schemas.microsoft.com/office/drawing/2014/main" id="{4350FDFE-1B4B-1333-42C4-7BCCBAA14E7A}"/>
                </a:ext>
              </a:extLst>
            </p:cNvPr>
            <p:cNvSpPr/>
            <p:nvPr/>
          </p:nvSpPr>
          <p:spPr>
            <a:xfrm>
              <a:off x="5242415" y="4715202"/>
              <a:ext cx="568325" cy="162560"/>
            </a:xfrm>
            <a:custGeom>
              <a:avLst/>
              <a:gdLst/>
              <a:ahLst/>
              <a:cxnLst/>
              <a:rect l="l" t="t" r="r" b="b"/>
              <a:pathLst>
                <a:path w="568325" h="162559">
                  <a:moveTo>
                    <a:pt x="568045" y="0"/>
                  </a:moveTo>
                  <a:lnTo>
                    <a:pt x="0" y="0"/>
                  </a:lnTo>
                  <a:lnTo>
                    <a:pt x="27104" y="39530"/>
                  </a:lnTo>
                  <a:lnTo>
                    <a:pt x="59843" y="74592"/>
                  </a:lnTo>
                  <a:lnTo>
                    <a:pt x="97531" y="104598"/>
                  </a:lnTo>
                  <a:lnTo>
                    <a:pt x="139480" y="128959"/>
                  </a:lnTo>
                  <a:lnTo>
                    <a:pt x="185002" y="147089"/>
                  </a:lnTo>
                  <a:lnTo>
                    <a:pt x="233412" y="158398"/>
                  </a:lnTo>
                  <a:lnTo>
                    <a:pt x="284022" y="162298"/>
                  </a:lnTo>
                  <a:lnTo>
                    <a:pt x="334632" y="158398"/>
                  </a:lnTo>
                  <a:lnTo>
                    <a:pt x="383042" y="147089"/>
                  </a:lnTo>
                  <a:lnTo>
                    <a:pt x="428565" y="128959"/>
                  </a:lnTo>
                  <a:lnTo>
                    <a:pt x="470514" y="104598"/>
                  </a:lnTo>
                  <a:lnTo>
                    <a:pt x="508201" y="74592"/>
                  </a:lnTo>
                  <a:lnTo>
                    <a:pt x="540941" y="39530"/>
                  </a:lnTo>
                  <a:lnTo>
                    <a:pt x="568045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Picture 5" descr="A close-up of a chart&#10;&#10;AI-generated content may be incorrect.">
            <a:extLst>
              <a:ext uri="{FF2B5EF4-FFF2-40B4-BE49-F238E27FC236}">
                <a16:creationId xmlns:a16="http://schemas.microsoft.com/office/drawing/2014/main" id="{2A5E7D7A-039F-0464-F646-E35900D8F5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67" b="1093"/>
          <a:stretch/>
        </p:blipFill>
        <p:spPr>
          <a:xfrm>
            <a:off x="196300" y="543851"/>
            <a:ext cx="9527490" cy="5789572"/>
          </a:xfrm>
          <a:prstGeom prst="rect">
            <a:avLst/>
          </a:prstGeom>
          <a:ln w="19050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3846168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27347-8141-68D7-00D3-DA337E786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5ECC509-B8A8-F7B5-05B7-0C3CA36C3014}"/>
              </a:ext>
            </a:extLst>
          </p:cNvPr>
          <p:cNvSpPr/>
          <p:nvPr/>
        </p:nvSpPr>
        <p:spPr>
          <a:xfrm rot="10800000">
            <a:off x="5794536" y="1951030"/>
            <a:ext cx="6397464" cy="4924793"/>
          </a:xfrm>
          <a:prstGeom prst="rect">
            <a:avLst/>
          </a:prstGeom>
          <a:gradFill flip="none" rotWithShape="1">
            <a:gsLst>
              <a:gs pos="27000">
                <a:srgbClr val="E2D0F0"/>
              </a:gs>
              <a:gs pos="0">
                <a:srgbClr val="C9A4E4"/>
              </a:gs>
              <a:gs pos="64000">
                <a:schemeClr val="bg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5AE654-6186-5368-4563-9DB3EA91CACD}"/>
              </a:ext>
            </a:extLst>
          </p:cNvPr>
          <p:cNvSpPr/>
          <p:nvPr/>
        </p:nvSpPr>
        <p:spPr>
          <a:xfrm>
            <a:off x="0" y="0"/>
            <a:ext cx="5794537" cy="6858000"/>
          </a:xfrm>
          <a:prstGeom prst="rect">
            <a:avLst/>
          </a:prstGeom>
          <a:gradFill flip="none" rotWithShape="1">
            <a:gsLst>
              <a:gs pos="37000">
                <a:srgbClr val="C1EFFF"/>
              </a:gs>
              <a:gs pos="0">
                <a:srgbClr val="0530AD"/>
              </a:gs>
              <a:gs pos="65000">
                <a:schemeClr val="bg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0E6E3F-66D7-9ADD-F796-5EAEE33B6BE1}"/>
              </a:ext>
            </a:extLst>
          </p:cNvPr>
          <p:cNvSpPr txBox="1"/>
          <p:nvPr/>
        </p:nvSpPr>
        <p:spPr>
          <a:xfrm>
            <a:off x="1564640" y="274372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onsolas" panose="020B0609020204030204" pitchFamily="49" charset="0"/>
              </a:rPr>
              <a:t>FAQs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nsolas" panose="020B0609020204030204" pitchFamily="49" charset="0"/>
              </a:rPr>
              <a:t>Kindly post your questions in </a:t>
            </a:r>
            <a:r>
              <a:rPr lang="en-IN">
                <a:latin typeface="Consolas" panose="020B0609020204030204" pitchFamily="49" charset="0"/>
              </a:rPr>
              <a:t>#FSS-Converge </a:t>
            </a:r>
            <a:r>
              <a:rPr lang="en-IN" dirty="0">
                <a:latin typeface="Consolas" panose="020B0609020204030204" pitchFamily="49" charset="0"/>
              </a:rPr>
              <a:t>slack channel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nsolas" panose="020B0609020204030204" pitchFamily="49" charset="0"/>
              </a:rPr>
              <a:t>Learning RoadMap and resources are shared in email and slack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nsolas" panose="020B0609020204030204" pitchFamily="49" charset="0"/>
              </a:rPr>
              <a:t>SME support is available post the sessions for questions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8A5F161-E3F8-08AE-EC94-7ED6B2C5F957}"/>
              </a:ext>
            </a:extLst>
          </p:cNvPr>
          <p:cNvGrpSpPr/>
          <p:nvPr/>
        </p:nvGrpSpPr>
        <p:grpSpPr>
          <a:xfrm>
            <a:off x="11467538" y="283795"/>
            <a:ext cx="429384" cy="321996"/>
            <a:chOff x="4552645" y="3416817"/>
            <a:chExt cx="1948180" cy="1460945"/>
          </a:xfrm>
        </p:grpSpPr>
        <p:sp>
          <p:nvSpPr>
            <p:cNvPr id="15" name="object 27">
              <a:extLst>
                <a:ext uri="{FF2B5EF4-FFF2-40B4-BE49-F238E27FC236}">
                  <a16:creationId xmlns:a16="http://schemas.microsoft.com/office/drawing/2014/main" id="{C9ACBB0A-AE84-B152-6F50-77C20B0C9A46}"/>
                </a:ext>
              </a:extLst>
            </p:cNvPr>
            <p:cNvSpPr/>
            <p:nvPr/>
          </p:nvSpPr>
          <p:spPr>
            <a:xfrm>
              <a:off x="5201831" y="4066015"/>
              <a:ext cx="649605" cy="487045"/>
            </a:xfrm>
            <a:custGeom>
              <a:avLst/>
              <a:gdLst/>
              <a:ahLst/>
              <a:cxnLst/>
              <a:rect l="l" t="t" r="r" b="b"/>
              <a:pathLst>
                <a:path w="649605" h="487045">
                  <a:moveTo>
                    <a:pt x="649198" y="324599"/>
                  </a:moveTo>
                  <a:lnTo>
                    <a:pt x="0" y="324599"/>
                  </a:lnTo>
                  <a:lnTo>
                    <a:pt x="0" y="486892"/>
                  </a:lnTo>
                  <a:lnTo>
                    <a:pt x="649198" y="486892"/>
                  </a:lnTo>
                  <a:lnTo>
                    <a:pt x="649198" y="324599"/>
                  </a:lnTo>
                  <a:close/>
                </a:path>
                <a:path w="649605" h="487045">
                  <a:moveTo>
                    <a:pt x="649198" y="0"/>
                  </a:moveTo>
                  <a:lnTo>
                    <a:pt x="0" y="0"/>
                  </a:lnTo>
                  <a:lnTo>
                    <a:pt x="0" y="162293"/>
                  </a:lnTo>
                  <a:lnTo>
                    <a:pt x="649198" y="162293"/>
                  </a:lnTo>
                  <a:lnTo>
                    <a:pt x="6491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28">
              <a:extLst>
                <a:ext uri="{FF2B5EF4-FFF2-40B4-BE49-F238E27FC236}">
                  <a16:creationId xmlns:a16="http://schemas.microsoft.com/office/drawing/2014/main" id="{923B8BA9-1808-78F7-3039-3FAA67C12B30}"/>
                </a:ext>
              </a:extLst>
            </p:cNvPr>
            <p:cNvSpPr/>
            <p:nvPr/>
          </p:nvSpPr>
          <p:spPr>
            <a:xfrm>
              <a:off x="4552645" y="3416817"/>
              <a:ext cx="1948180" cy="1136650"/>
            </a:xfrm>
            <a:custGeom>
              <a:avLst/>
              <a:gdLst/>
              <a:ahLst/>
              <a:cxnLst/>
              <a:rect l="l" t="t" r="r" b="b"/>
              <a:pathLst>
                <a:path w="1948180" h="1136650">
                  <a:moveTo>
                    <a:pt x="649198" y="446328"/>
                  </a:moveTo>
                  <a:lnTo>
                    <a:pt x="152082" y="666991"/>
                  </a:lnTo>
                  <a:lnTo>
                    <a:pt x="109855" y="689152"/>
                  </a:lnTo>
                  <a:lnTo>
                    <a:pt x="73012" y="718858"/>
                  </a:lnTo>
                  <a:lnTo>
                    <a:pt x="42595" y="755065"/>
                  </a:lnTo>
                  <a:lnTo>
                    <a:pt x="19608" y="796785"/>
                  </a:lnTo>
                  <a:lnTo>
                    <a:pt x="5067" y="842975"/>
                  </a:lnTo>
                  <a:lnTo>
                    <a:pt x="0" y="892644"/>
                  </a:lnTo>
                  <a:lnTo>
                    <a:pt x="4940" y="941705"/>
                  </a:lnTo>
                  <a:lnTo>
                    <a:pt x="19126" y="987399"/>
                  </a:lnTo>
                  <a:lnTo>
                    <a:pt x="41579" y="1028763"/>
                  </a:lnTo>
                  <a:lnTo>
                    <a:pt x="71297" y="1064793"/>
                  </a:lnTo>
                  <a:lnTo>
                    <a:pt x="107327" y="1094511"/>
                  </a:lnTo>
                  <a:lnTo>
                    <a:pt x="148678" y="1116965"/>
                  </a:lnTo>
                  <a:lnTo>
                    <a:pt x="194386" y="1131150"/>
                  </a:lnTo>
                  <a:lnTo>
                    <a:pt x="243446" y="1136091"/>
                  </a:lnTo>
                  <a:lnTo>
                    <a:pt x="296456" y="1130312"/>
                  </a:lnTo>
                  <a:lnTo>
                    <a:pt x="345414" y="1113777"/>
                  </a:lnTo>
                  <a:lnTo>
                    <a:pt x="389077" y="1087742"/>
                  </a:lnTo>
                  <a:lnTo>
                    <a:pt x="426224" y="1053452"/>
                  </a:lnTo>
                  <a:lnTo>
                    <a:pt x="455587" y="1012151"/>
                  </a:lnTo>
                  <a:lnTo>
                    <a:pt x="475932" y="965073"/>
                  </a:lnTo>
                  <a:lnTo>
                    <a:pt x="649198" y="446328"/>
                  </a:lnTo>
                  <a:close/>
                </a:path>
                <a:path w="1948180" h="1136650">
                  <a:moveTo>
                    <a:pt x="933208" y="142011"/>
                  </a:moveTo>
                  <a:lnTo>
                    <a:pt x="925969" y="97129"/>
                  </a:lnTo>
                  <a:lnTo>
                    <a:pt x="905814" y="58140"/>
                  </a:lnTo>
                  <a:lnTo>
                    <a:pt x="875068" y="27393"/>
                  </a:lnTo>
                  <a:lnTo>
                    <a:pt x="836091" y="7239"/>
                  </a:lnTo>
                  <a:lnTo>
                    <a:pt x="791197" y="0"/>
                  </a:lnTo>
                  <a:lnTo>
                    <a:pt x="746315" y="7239"/>
                  </a:lnTo>
                  <a:lnTo>
                    <a:pt x="707326" y="27393"/>
                  </a:lnTo>
                  <a:lnTo>
                    <a:pt x="676592" y="58140"/>
                  </a:lnTo>
                  <a:lnTo>
                    <a:pt x="656424" y="97129"/>
                  </a:lnTo>
                  <a:lnTo>
                    <a:pt x="649185" y="142011"/>
                  </a:lnTo>
                  <a:lnTo>
                    <a:pt x="656424" y="186893"/>
                  </a:lnTo>
                  <a:lnTo>
                    <a:pt x="676592" y="225882"/>
                  </a:lnTo>
                  <a:lnTo>
                    <a:pt x="707326" y="256628"/>
                  </a:lnTo>
                  <a:lnTo>
                    <a:pt x="746315" y="276783"/>
                  </a:lnTo>
                  <a:lnTo>
                    <a:pt x="791197" y="284035"/>
                  </a:lnTo>
                  <a:lnTo>
                    <a:pt x="836091" y="276783"/>
                  </a:lnTo>
                  <a:lnTo>
                    <a:pt x="875068" y="256628"/>
                  </a:lnTo>
                  <a:lnTo>
                    <a:pt x="905814" y="225882"/>
                  </a:lnTo>
                  <a:lnTo>
                    <a:pt x="925969" y="186893"/>
                  </a:lnTo>
                  <a:lnTo>
                    <a:pt x="933208" y="142011"/>
                  </a:lnTo>
                  <a:close/>
                </a:path>
                <a:path w="1948180" h="1136650">
                  <a:moveTo>
                    <a:pt x="1257808" y="486892"/>
                  </a:moveTo>
                  <a:lnTo>
                    <a:pt x="1230706" y="447370"/>
                  </a:lnTo>
                  <a:lnTo>
                    <a:pt x="1197965" y="412305"/>
                  </a:lnTo>
                  <a:lnTo>
                    <a:pt x="1160284" y="382295"/>
                  </a:lnTo>
                  <a:lnTo>
                    <a:pt x="1118323" y="357936"/>
                  </a:lnTo>
                  <a:lnTo>
                    <a:pt x="1072807" y="339813"/>
                  </a:lnTo>
                  <a:lnTo>
                    <a:pt x="1024394" y="328498"/>
                  </a:lnTo>
                  <a:lnTo>
                    <a:pt x="973785" y="324599"/>
                  </a:lnTo>
                  <a:lnTo>
                    <a:pt x="923175" y="328498"/>
                  </a:lnTo>
                  <a:lnTo>
                    <a:pt x="874763" y="339813"/>
                  </a:lnTo>
                  <a:lnTo>
                    <a:pt x="829246" y="357936"/>
                  </a:lnTo>
                  <a:lnTo>
                    <a:pt x="787298" y="382295"/>
                  </a:lnTo>
                  <a:lnTo>
                    <a:pt x="749604" y="412305"/>
                  </a:lnTo>
                  <a:lnTo>
                    <a:pt x="716864" y="447370"/>
                  </a:lnTo>
                  <a:lnTo>
                    <a:pt x="689762" y="486892"/>
                  </a:lnTo>
                  <a:lnTo>
                    <a:pt x="1257808" y="486892"/>
                  </a:lnTo>
                  <a:close/>
                </a:path>
                <a:path w="1948180" h="1136650">
                  <a:moveTo>
                    <a:pt x="1298384" y="142011"/>
                  </a:moveTo>
                  <a:lnTo>
                    <a:pt x="1291145" y="97129"/>
                  </a:lnTo>
                  <a:lnTo>
                    <a:pt x="1270990" y="58140"/>
                  </a:lnTo>
                  <a:lnTo>
                    <a:pt x="1240243" y="27393"/>
                  </a:lnTo>
                  <a:lnTo>
                    <a:pt x="1201267" y="7239"/>
                  </a:lnTo>
                  <a:lnTo>
                    <a:pt x="1156373" y="0"/>
                  </a:lnTo>
                  <a:lnTo>
                    <a:pt x="1111491" y="7239"/>
                  </a:lnTo>
                  <a:lnTo>
                    <a:pt x="1072502" y="27393"/>
                  </a:lnTo>
                  <a:lnTo>
                    <a:pt x="1041755" y="58140"/>
                  </a:lnTo>
                  <a:lnTo>
                    <a:pt x="1021600" y="97129"/>
                  </a:lnTo>
                  <a:lnTo>
                    <a:pt x="1014361" y="142011"/>
                  </a:lnTo>
                  <a:lnTo>
                    <a:pt x="1021600" y="186893"/>
                  </a:lnTo>
                  <a:lnTo>
                    <a:pt x="1041755" y="225882"/>
                  </a:lnTo>
                  <a:lnTo>
                    <a:pt x="1072502" y="256628"/>
                  </a:lnTo>
                  <a:lnTo>
                    <a:pt x="1111491" y="276783"/>
                  </a:lnTo>
                  <a:lnTo>
                    <a:pt x="1156373" y="284035"/>
                  </a:lnTo>
                  <a:lnTo>
                    <a:pt x="1201267" y="276783"/>
                  </a:lnTo>
                  <a:lnTo>
                    <a:pt x="1240243" y="256628"/>
                  </a:lnTo>
                  <a:lnTo>
                    <a:pt x="1270990" y="225882"/>
                  </a:lnTo>
                  <a:lnTo>
                    <a:pt x="1291145" y="186893"/>
                  </a:lnTo>
                  <a:lnTo>
                    <a:pt x="1298384" y="142011"/>
                  </a:lnTo>
                  <a:close/>
                </a:path>
                <a:path w="1948180" h="1136650">
                  <a:moveTo>
                    <a:pt x="1947570" y="892644"/>
                  </a:moveTo>
                  <a:lnTo>
                    <a:pt x="1942503" y="842975"/>
                  </a:lnTo>
                  <a:lnTo>
                    <a:pt x="1927961" y="796785"/>
                  </a:lnTo>
                  <a:lnTo>
                    <a:pt x="1904974" y="755065"/>
                  </a:lnTo>
                  <a:lnTo>
                    <a:pt x="1874558" y="718858"/>
                  </a:lnTo>
                  <a:lnTo>
                    <a:pt x="1837728" y="689152"/>
                  </a:lnTo>
                  <a:lnTo>
                    <a:pt x="1795500" y="666991"/>
                  </a:lnTo>
                  <a:lnTo>
                    <a:pt x="1298384" y="446328"/>
                  </a:lnTo>
                  <a:lnTo>
                    <a:pt x="1471637" y="965073"/>
                  </a:lnTo>
                  <a:lnTo>
                    <a:pt x="1491983" y="1012151"/>
                  </a:lnTo>
                  <a:lnTo>
                    <a:pt x="1521345" y="1053452"/>
                  </a:lnTo>
                  <a:lnTo>
                    <a:pt x="1558493" y="1087742"/>
                  </a:lnTo>
                  <a:lnTo>
                    <a:pt x="1602168" y="1113777"/>
                  </a:lnTo>
                  <a:lnTo>
                    <a:pt x="1651127" y="1130312"/>
                  </a:lnTo>
                  <a:lnTo>
                    <a:pt x="1704124" y="1136091"/>
                  </a:lnTo>
                  <a:lnTo>
                    <a:pt x="1753196" y="1131150"/>
                  </a:lnTo>
                  <a:lnTo>
                    <a:pt x="1798891" y="1116965"/>
                  </a:lnTo>
                  <a:lnTo>
                    <a:pt x="1840242" y="1094511"/>
                  </a:lnTo>
                  <a:lnTo>
                    <a:pt x="1876272" y="1064793"/>
                  </a:lnTo>
                  <a:lnTo>
                    <a:pt x="1906003" y="1028763"/>
                  </a:lnTo>
                  <a:lnTo>
                    <a:pt x="1928444" y="987399"/>
                  </a:lnTo>
                  <a:lnTo>
                    <a:pt x="1942630" y="941705"/>
                  </a:lnTo>
                  <a:lnTo>
                    <a:pt x="1947570" y="892644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9">
              <a:extLst>
                <a:ext uri="{FF2B5EF4-FFF2-40B4-BE49-F238E27FC236}">
                  <a16:creationId xmlns:a16="http://schemas.microsoft.com/office/drawing/2014/main" id="{1E32626C-4D23-5147-29D8-37343D6CE6F4}"/>
                </a:ext>
              </a:extLst>
            </p:cNvPr>
            <p:cNvSpPr/>
            <p:nvPr/>
          </p:nvSpPr>
          <p:spPr>
            <a:xfrm>
              <a:off x="5242415" y="4715202"/>
              <a:ext cx="568325" cy="162560"/>
            </a:xfrm>
            <a:custGeom>
              <a:avLst/>
              <a:gdLst/>
              <a:ahLst/>
              <a:cxnLst/>
              <a:rect l="l" t="t" r="r" b="b"/>
              <a:pathLst>
                <a:path w="568325" h="162559">
                  <a:moveTo>
                    <a:pt x="568045" y="0"/>
                  </a:moveTo>
                  <a:lnTo>
                    <a:pt x="0" y="0"/>
                  </a:lnTo>
                  <a:lnTo>
                    <a:pt x="27104" y="39530"/>
                  </a:lnTo>
                  <a:lnTo>
                    <a:pt x="59843" y="74592"/>
                  </a:lnTo>
                  <a:lnTo>
                    <a:pt x="97531" y="104598"/>
                  </a:lnTo>
                  <a:lnTo>
                    <a:pt x="139480" y="128959"/>
                  </a:lnTo>
                  <a:lnTo>
                    <a:pt x="185002" y="147089"/>
                  </a:lnTo>
                  <a:lnTo>
                    <a:pt x="233412" y="158398"/>
                  </a:lnTo>
                  <a:lnTo>
                    <a:pt x="284022" y="162298"/>
                  </a:lnTo>
                  <a:lnTo>
                    <a:pt x="334632" y="158398"/>
                  </a:lnTo>
                  <a:lnTo>
                    <a:pt x="383042" y="147089"/>
                  </a:lnTo>
                  <a:lnTo>
                    <a:pt x="428565" y="128959"/>
                  </a:lnTo>
                  <a:lnTo>
                    <a:pt x="470514" y="104598"/>
                  </a:lnTo>
                  <a:lnTo>
                    <a:pt x="508201" y="74592"/>
                  </a:lnTo>
                  <a:lnTo>
                    <a:pt x="540941" y="39530"/>
                  </a:lnTo>
                  <a:lnTo>
                    <a:pt x="568045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36F9E6E6-A710-B315-62AE-8F524F8D57F9}"/>
              </a:ext>
            </a:extLst>
          </p:cNvPr>
          <p:cNvSpPr txBox="1">
            <a:spLocks/>
          </p:cNvSpPr>
          <p:nvPr/>
        </p:nvSpPr>
        <p:spPr>
          <a:xfrm>
            <a:off x="1470643" y="758955"/>
            <a:ext cx="4773596" cy="12258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7200" b="1">
                <a:latin typeface="Consolas" panose="020B0609020204030204" pitchFamily="49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29725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836DD-E815-9F20-FA3F-1E5D13147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DBD17-90A2-7604-3209-CAA70714B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662" y="462971"/>
            <a:ext cx="10081786" cy="1436571"/>
          </a:xfrm>
        </p:spPr>
        <p:txBody>
          <a:bodyPr>
            <a:normAutofit/>
          </a:bodyPr>
          <a:lstStyle/>
          <a:p>
            <a:pPr algn="l"/>
            <a:r>
              <a:rPr lang="en-IN" b="1">
                <a:latin typeface="Consolas" panose="020B0609020204030204" pitchFamily="49" charset="0"/>
              </a:rPr>
              <a:t>What Next?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D49D7A1-128B-239B-51E3-9F74D2B60431}"/>
              </a:ext>
            </a:extLst>
          </p:cNvPr>
          <p:cNvGrpSpPr/>
          <p:nvPr/>
        </p:nvGrpSpPr>
        <p:grpSpPr>
          <a:xfrm>
            <a:off x="11467538" y="283795"/>
            <a:ext cx="429384" cy="321996"/>
            <a:chOff x="4552645" y="3416817"/>
            <a:chExt cx="1948180" cy="1460945"/>
          </a:xfrm>
        </p:grpSpPr>
        <p:sp>
          <p:nvSpPr>
            <p:cNvPr id="15" name="object 27">
              <a:extLst>
                <a:ext uri="{FF2B5EF4-FFF2-40B4-BE49-F238E27FC236}">
                  <a16:creationId xmlns:a16="http://schemas.microsoft.com/office/drawing/2014/main" id="{230F8F94-EBD1-8641-B39A-07A4A7CC1E1D}"/>
                </a:ext>
              </a:extLst>
            </p:cNvPr>
            <p:cNvSpPr/>
            <p:nvPr/>
          </p:nvSpPr>
          <p:spPr>
            <a:xfrm>
              <a:off x="5201831" y="4066015"/>
              <a:ext cx="649605" cy="487045"/>
            </a:xfrm>
            <a:custGeom>
              <a:avLst/>
              <a:gdLst/>
              <a:ahLst/>
              <a:cxnLst/>
              <a:rect l="l" t="t" r="r" b="b"/>
              <a:pathLst>
                <a:path w="649605" h="487045">
                  <a:moveTo>
                    <a:pt x="649198" y="324599"/>
                  </a:moveTo>
                  <a:lnTo>
                    <a:pt x="0" y="324599"/>
                  </a:lnTo>
                  <a:lnTo>
                    <a:pt x="0" y="486892"/>
                  </a:lnTo>
                  <a:lnTo>
                    <a:pt x="649198" y="486892"/>
                  </a:lnTo>
                  <a:lnTo>
                    <a:pt x="649198" y="324599"/>
                  </a:lnTo>
                  <a:close/>
                </a:path>
                <a:path w="649605" h="487045">
                  <a:moveTo>
                    <a:pt x="649198" y="0"/>
                  </a:moveTo>
                  <a:lnTo>
                    <a:pt x="0" y="0"/>
                  </a:lnTo>
                  <a:lnTo>
                    <a:pt x="0" y="162293"/>
                  </a:lnTo>
                  <a:lnTo>
                    <a:pt x="649198" y="162293"/>
                  </a:lnTo>
                  <a:lnTo>
                    <a:pt x="6491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28">
              <a:extLst>
                <a:ext uri="{FF2B5EF4-FFF2-40B4-BE49-F238E27FC236}">
                  <a16:creationId xmlns:a16="http://schemas.microsoft.com/office/drawing/2014/main" id="{C70D770D-444B-E4C3-6F09-5D7151D349D0}"/>
                </a:ext>
              </a:extLst>
            </p:cNvPr>
            <p:cNvSpPr/>
            <p:nvPr/>
          </p:nvSpPr>
          <p:spPr>
            <a:xfrm>
              <a:off x="4552645" y="3416817"/>
              <a:ext cx="1948180" cy="1136650"/>
            </a:xfrm>
            <a:custGeom>
              <a:avLst/>
              <a:gdLst/>
              <a:ahLst/>
              <a:cxnLst/>
              <a:rect l="l" t="t" r="r" b="b"/>
              <a:pathLst>
                <a:path w="1948180" h="1136650">
                  <a:moveTo>
                    <a:pt x="649198" y="446328"/>
                  </a:moveTo>
                  <a:lnTo>
                    <a:pt x="152082" y="666991"/>
                  </a:lnTo>
                  <a:lnTo>
                    <a:pt x="109855" y="689152"/>
                  </a:lnTo>
                  <a:lnTo>
                    <a:pt x="73012" y="718858"/>
                  </a:lnTo>
                  <a:lnTo>
                    <a:pt x="42595" y="755065"/>
                  </a:lnTo>
                  <a:lnTo>
                    <a:pt x="19608" y="796785"/>
                  </a:lnTo>
                  <a:lnTo>
                    <a:pt x="5067" y="842975"/>
                  </a:lnTo>
                  <a:lnTo>
                    <a:pt x="0" y="892644"/>
                  </a:lnTo>
                  <a:lnTo>
                    <a:pt x="4940" y="941705"/>
                  </a:lnTo>
                  <a:lnTo>
                    <a:pt x="19126" y="987399"/>
                  </a:lnTo>
                  <a:lnTo>
                    <a:pt x="41579" y="1028763"/>
                  </a:lnTo>
                  <a:lnTo>
                    <a:pt x="71297" y="1064793"/>
                  </a:lnTo>
                  <a:lnTo>
                    <a:pt x="107327" y="1094511"/>
                  </a:lnTo>
                  <a:lnTo>
                    <a:pt x="148678" y="1116965"/>
                  </a:lnTo>
                  <a:lnTo>
                    <a:pt x="194386" y="1131150"/>
                  </a:lnTo>
                  <a:lnTo>
                    <a:pt x="243446" y="1136091"/>
                  </a:lnTo>
                  <a:lnTo>
                    <a:pt x="296456" y="1130312"/>
                  </a:lnTo>
                  <a:lnTo>
                    <a:pt x="345414" y="1113777"/>
                  </a:lnTo>
                  <a:lnTo>
                    <a:pt x="389077" y="1087742"/>
                  </a:lnTo>
                  <a:lnTo>
                    <a:pt x="426224" y="1053452"/>
                  </a:lnTo>
                  <a:lnTo>
                    <a:pt x="455587" y="1012151"/>
                  </a:lnTo>
                  <a:lnTo>
                    <a:pt x="475932" y="965073"/>
                  </a:lnTo>
                  <a:lnTo>
                    <a:pt x="649198" y="446328"/>
                  </a:lnTo>
                  <a:close/>
                </a:path>
                <a:path w="1948180" h="1136650">
                  <a:moveTo>
                    <a:pt x="933208" y="142011"/>
                  </a:moveTo>
                  <a:lnTo>
                    <a:pt x="925969" y="97129"/>
                  </a:lnTo>
                  <a:lnTo>
                    <a:pt x="905814" y="58140"/>
                  </a:lnTo>
                  <a:lnTo>
                    <a:pt x="875068" y="27393"/>
                  </a:lnTo>
                  <a:lnTo>
                    <a:pt x="836091" y="7239"/>
                  </a:lnTo>
                  <a:lnTo>
                    <a:pt x="791197" y="0"/>
                  </a:lnTo>
                  <a:lnTo>
                    <a:pt x="746315" y="7239"/>
                  </a:lnTo>
                  <a:lnTo>
                    <a:pt x="707326" y="27393"/>
                  </a:lnTo>
                  <a:lnTo>
                    <a:pt x="676592" y="58140"/>
                  </a:lnTo>
                  <a:lnTo>
                    <a:pt x="656424" y="97129"/>
                  </a:lnTo>
                  <a:lnTo>
                    <a:pt x="649185" y="142011"/>
                  </a:lnTo>
                  <a:lnTo>
                    <a:pt x="656424" y="186893"/>
                  </a:lnTo>
                  <a:lnTo>
                    <a:pt x="676592" y="225882"/>
                  </a:lnTo>
                  <a:lnTo>
                    <a:pt x="707326" y="256628"/>
                  </a:lnTo>
                  <a:lnTo>
                    <a:pt x="746315" y="276783"/>
                  </a:lnTo>
                  <a:lnTo>
                    <a:pt x="791197" y="284035"/>
                  </a:lnTo>
                  <a:lnTo>
                    <a:pt x="836091" y="276783"/>
                  </a:lnTo>
                  <a:lnTo>
                    <a:pt x="875068" y="256628"/>
                  </a:lnTo>
                  <a:lnTo>
                    <a:pt x="905814" y="225882"/>
                  </a:lnTo>
                  <a:lnTo>
                    <a:pt x="925969" y="186893"/>
                  </a:lnTo>
                  <a:lnTo>
                    <a:pt x="933208" y="142011"/>
                  </a:lnTo>
                  <a:close/>
                </a:path>
                <a:path w="1948180" h="1136650">
                  <a:moveTo>
                    <a:pt x="1257808" y="486892"/>
                  </a:moveTo>
                  <a:lnTo>
                    <a:pt x="1230706" y="447370"/>
                  </a:lnTo>
                  <a:lnTo>
                    <a:pt x="1197965" y="412305"/>
                  </a:lnTo>
                  <a:lnTo>
                    <a:pt x="1160284" y="382295"/>
                  </a:lnTo>
                  <a:lnTo>
                    <a:pt x="1118323" y="357936"/>
                  </a:lnTo>
                  <a:lnTo>
                    <a:pt x="1072807" y="339813"/>
                  </a:lnTo>
                  <a:lnTo>
                    <a:pt x="1024394" y="328498"/>
                  </a:lnTo>
                  <a:lnTo>
                    <a:pt x="973785" y="324599"/>
                  </a:lnTo>
                  <a:lnTo>
                    <a:pt x="923175" y="328498"/>
                  </a:lnTo>
                  <a:lnTo>
                    <a:pt x="874763" y="339813"/>
                  </a:lnTo>
                  <a:lnTo>
                    <a:pt x="829246" y="357936"/>
                  </a:lnTo>
                  <a:lnTo>
                    <a:pt x="787298" y="382295"/>
                  </a:lnTo>
                  <a:lnTo>
                    <a:pt x="749604" y="412305"/>
                  </a:lnTo>
                  <a:lnTo>
                    <a:pt x="716864" y="447370"/>
                  </a:lnTo>
                  <a:lnTo>
                    <a:pt x="689762" y="486892"/>
                  </a:lnTo>
                  <a:lnTo>
                    <a:pt x="1257808" y="486892"/>
                  </a:lnTo>
                  <a:close/>
                </a:path>
                <a:path w="1948180" h="1136650">
                  <a:moveTo>
                    <a:pt x="1298384" y="142011"/>
                  </a:moveTo>
                  <a:lnTo>
                    <a:pt x="1291145" y="97129"/>
                  </a:lnTo>
                  <a:lnTo>
                    <a:pt x="1270990" y="58140"/>
                  </a:lnTo>
                  <a:lnTo>
                    <a:pt x="1240243" y="27393"/>
                  </a:lnTo>
                  <a:lnTo>
                    <a:pt x="1201267" y="7239"/>
                  </a:lnTo>
                  <a:lnTo>
                    <a:pt x="1156373" y="0"/>
                  </a:lnTo>
                  <a:lnTo>
                    <a:pt x="1111491" y="7239"/>
                  </a:lnTo>
                  <a:lnTo>
                    <a:pt x="1072502" y="27393"/>
                  </a:lnTo>
                  <a:lnTo>
                    <a:pt x="1041755" y="58140"/>
                  </a:lnTo>
                  <a:lnTo>
                    <a:pt x="1021600" y="97129"/>
                  </a:lnTo>
                  <a:lnTo>
                    <a:pt x="1014361" y="142011"/>
                  </a:lnTo>
                  <a:lnTo>
                    <a:pt x="1021600" y="186893"/>
                  </a:lnTo>
                  <a:lnTo>
                    <a:pt x="1041755" y="225882"/>
                  </a:lnTo>
                  <a:lnTo>
                    <a:pt x="1072502" y="256628"/>
                  </a:lnTo>
                  <a:lnTo>
                    <a:pt x="1111491" y="276783"/>
                  </a:lnTo>
                  <a:lnTo>
                    <a:pt x="1156373" y="284035"/>
                  </a:lnTo>
                  <a:lnTo>
                    <a:pt x="1201267" y="276783"/>
                  </a:lnTo>
                  <a:lnTo>
                    <a:pt x="1240243" y="256628"/>
                  </a:lnTo>
                  <a:lnTo>
                    <a:pt x="1270990" y="225882"/>
                  </a:lnTo>
                  <a:lnTo>
                    <a:pt x="1291145" y="186893"/>
                  </a:lnTo>
                  <a:lnTo>
                    <a:pt x="1298384" y="142011"/>
                  </a:lnTo>
                  <a:close/>
                </a:path>
                <a:path w="1948180" h="1136650">
                  <a:moveTo>
                    <a:pt x="1947570" y="892644"/>
                  </a:moveTo>
                  <a:lnTo>
                    <a:pt x="1942503" y="842975"/>
                  </a:lnTo>
                  <a:lnTo>
                    <a:pt x="1927961" y="796785"/>
                  </a:lnTo>
                  <a:lnTo>
                    <a:pt x="1904974" y="755065"/>
                  </a:lnTo>
                  <a:lnTo>
                    <a:pt x="1874558" y="718858"/>
                  </a:lnTo>
                  <a:lnTo>
                    <a:pt x="1837728" y="689152"/>
                  </a:lnTo>
                  <a:lnTo>
                    <a:pt x="1795500" y="666991"/>
                  </a:lnTo>
                  <a:lnTo>
                    <a:pt x="1298384" y="446328"/>
                  </a:lnTo>
                  <a:lnTo>
                    <a:pt x="1471637" y="965073"/>
                  </a:lnTo>
                  <a:lnTo>
                    <a:pt x="1491983" y="1012151"/>
                  </a:lnTo>
                  <a:lnTo>
                    <a:pt x="1521345" y="1053452"/>
                  </a:lnTo>
                  <a:lnTo>
                    <a:pt x="1558493" y="1087742"/>
                  </a:lnTo>
                  <a:lnTo>
                    <a:pt x="1602168" y="1113777"/>
                  </a:lnTo>
                  <a:lnTo>
                    <a:pt x="1651127" y="1130312"/>
                  </a:lnTo>
                  <a:lnTo>
                    <a:pt x="1704124" y="1136091"/>
                  </a:lnTo>
                  <a:lnTo>
                    <a:pt x="1753196" y="1131150"/>
                  </a:lnTo>
                  <a:lnTo>
                    <a:pt x="1798891" y="1116965"/>
                  </a:lnTo>
                  <a:lnTo>
                    <a:pt x="1840242" y="1094511"/>
                  </a:lnTo>
                  <a:lnTo>
                    <a:pt x="1876272" y="1064793"/>
                  </a:lnTo>
                  <a:lnTo>
                    <a:pt x="1906003" y="1028763"/>
                  </a:lnTo>
                  <a:lnTo>
                    <a:pt x="1928444" y="987399"/>
                  </a:lnTo>
                  <a:lnTo>
                    <a:pt x="1942630" y="941705"/>
                  </a:lnTo>
                  <a:lnTo>
                    <a:pt x="1947570" y="892644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9">
              <a:extLst>
                <a:ext uri="{FF2B5EF4-FFF2-40B4-BE49-F238E27FC236}">
                  <a16:creationId xmlns:a16="http://schemas.microsoft.com/office/drawing/2014/main" id="{DC9F2191-01E5-C22C-1D4F-38B6581CEE8F}"/>
                </a:ext>
              </a:extLst>
            </p:cNvPr>
            <p:cNvSpPr/>
            <p:nvPr/>
          </p:nvSpPr>
          <p:spPr>
            <a:xfrm>
              <a:off x="5242415" y="4715202"/>
              <a:ext cx="568325" cy="162560"/>
            </a:xfrm>
            <a:custGeom>
              <a:avLst/>
              <a:gdLst/>
              <a:ahLst/>
              <a:cxnLst/>
              <a:rect l="l" t="t" r="r" b="b"/>
              <a:pathLst>
                <a:path w="568325" h="162559">
                  <a:moveTo>
                    <a:pt x="568045" y="0"/>
                  </a:moveTo>
                  <a:lnTo>
                    <a:pt x="0" y="0"/>
                  </a:lnTo>
                  <a:lnTo>
                    <a:pt x="27104" y="39530"/>
                  </a:lnTo>
                  <a:lnTo>
                    <a:pt x="59843" y="74592"/>
                  </a:lnTo>
                  <a:lnTo>
                    <a:pt x="97531" y="104598"/>
                  </a:lnTo>
                  <a:lnTo>
                    <a:pt x="139480" y="128959"/>
                  </a:lnTo>
                  <a:lnTo>
                    <a:pt x="185002" y="147089"/>
                  </a:lnTo>
                  <a:lnTo>
                    <a:pt x="233412" y="158398"/>
                  </a:lnTo>
                  <a:lnTo>
                    <a:pt x="284022" y="162298"/>
                  </a:lnTo>
                  <a:lnTo>
                    <a:pt x="334632" y="158398"/>
                  </a:lnTo>
                  <a:lnTo>
                    <a:pt x="383042" y="147089"/>
                  </a:lnTo>
                  <a:lnTo>
                    <a:pt x="428565" y="128959"/>
                  </a:lnTo>
                  <a:lnTo>
                    <a:pt x="470514" y="104598"/>
                  </a:lnTo>
                  <a:lnTo>
                    <a:pt x="508201" y="74592"/>
                  </a:lnTo>
                  <a:lnTo>
                    <a:pt x="540941" y="39530"/>
                  </a:lnTo>
                  <a:lnTo>
                    <a:pt x="568045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B9C65EDA-8F89-EEAA-EB5E-EAC1189E6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836" y="973380"/>
            <a:ext cx="4613657" cy="541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444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557645D-FD2A-C54C-B914-8106C9C76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46304"/>
            <a:ext cx="11497056" cy="44319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GB" sz="3200" b="1" dirty="0">
                <a:solidFill>
                  <a:schemeClr val="tx2"/>
                </a:solidFill>
                <a:latin typeface="IBM Plex Sans" panose="020B0503050203000203" pitchFamily="34" charset="0"/>
              </a:rPr>
              <a:t>1. Enablement: GenAI </a:t>
            </a:r>
            <a:r>
              <a:rPr lang="en-GB" sz="3200" b="1" dirty="0">
                <a:solidFill>
                  <a:schemeClr val="tx2"/>
                </a:solidFill>
                <a:latin typeface="IBM Plex Sans" panose="020B0503050203000203" pitchFamily="34" charset="0"/>
                <a:sym typeface="Arial"/>
              </a:rPr>
              <a:t>Learning Paths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E1C583-8B61-4BD9-ADD2-C432573B5F5D}"/>
              </a:ext>
            </a:extLst>
          </p:cNvPr>
          <p:cNvSpPr txBox="1"/>
          <p:nvPr/>
        </p:nvSpPr>
        <p:spPr>
          <a:xfrm>
            <a:off x="457202" y="1701800"/>
            <a:ext cx="11213381" cy="369332"/>
          </a:xfrm>
          <a:prstGeom prst="rect">
            <a:avLst/>
          </a:prstGeom>
          <a:solidFill>
            <a:srgbClr val="0070C0"/>
          </a:solidFill>
        </p:spPr>
        <p:txBody>
          <a:bodyPr wrap="square" lIns="0" tIns="0" rIns="0" bIns="0" rtlCol="1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IBM Plex Sans" panose="020B0503050203000203" pitchFamily="34" charset="0"/>
              </a:rPr>
              <a:t>Developer Learning Path – General Awareness</a:t>
            </a:r>
            <a:endParaRPr lang="ar-QA" sz="2400" b="1" dirty="0" err="1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A19B82-78E4-4D4F-CBAA-C3DE5A7922AA}"/>
              </a:ext>
            </a:extLst>
          </p:cNvPr>
          <p:cNvGraphicFramePr>
            <a:graphicFrameLocks noGrp="1"/>
          </p:cNvGraphicFramePr>
          <p:nvPr/>
        </p:nvGraphicFramePr>
        <p:xfrm>
          <a:off x="469810" y="2754748"/>
          <a:ext cx="11213382" cy="272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9663">
                  <a:extLst>
                    <a:ext uri="{9D8B030D-6E8A-4147-A177-3AD203B41FA5}">
                      <a16:colId xmlns:a16="http://schemas.microsoft.com/office/drawing/2014/main" val="2427250069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461038679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1164322582"/>
                    </a:ext>
                  </a:extLst>
                </a:gridCol>
                <a:gridCol w="1811319">
                  <a:extLst>
                    <a:ext uri="{9D8B030D-6E8A-4147-A177-3AD203B41FA5}">
                      <a16:colId xmlns:a16="http://schemas.microsoft.com/office/drawing/2014/main" val="147874395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i="0" dirty="0">
                          <a:latin typeface="IBM Plex Sans" panose="020B0503050203000203" pitchFamily="34" charset="0"/>
                        </a:rPr>
                        <a:t>Course name</a:t>
                      </a:r>
                    </a:p>
                  </a:txBody>
                  <a:tcPr marL="121920" marR="121920" marT="60960" marB="6096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IN" sz="1600" b="1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</a:rPr>
                        <a:t>Link</a:t>
                      </a:r>
                    </a:p>
                  </a:txBody>
                  <a:tcPr marL="121920" marR="121920" marT="60960" marB="6096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dirty="0">
                          <a:latin typeface="IBM Plex Sans" panose="020B0503050203000203" pitchFamily="34" charset="0"/>
                        </a:rPr>
                        <a:t>Time</a:t>
                      </a:r>
                    </a:p>
                  </a:txBody>
                  <a:tcPr marL="121920" marR="121920" marT="60960" marB="6096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i="0" dirty="0">
                          <a:latin typeface="IBM Plex Sans" panose="020B0503050203000203" pitchFamily="34" charset="0"/>
                        </a:rPr>
                        <a:t>Prerequisites</a:t>
                      </a:r>
                    </a:p>
                  </a:txBody>
                  <a:tcPr marL="121920" marR="121920" marT="60960" marB="6096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777527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0" i="0" dirty="0">
                          <a:latin typeface="IBM Plex Sans" panose="020B0503050203000203" pitchFamily="34" charset="0"/>
                        </a:rPr>
                        <a:t>Fundamentals of Generative AI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r>
                        <a:rPr lang="en-IN" sz="13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2"/>
                        </a:rPr>
                        <a:t>Course link (Your Learning)</a:t>
                      </a:r>
                      <a:endParaRPr lang="en-IN" sz="13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0" i="0">
                          <a:latin typeface="IBM Plex Sans" panose="020B0503050203000203" pitchFamily="34" charset="0"/>
                        </a:rPr>
                        <a:t>1 hour</a:t>
                      </a:r>
                      <a:endParaRPr lang="en-IN" sz="13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3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40099619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0" i="0" dirty="0">
                          <a:latin typeface="IBM Plex Sans" panose="020B0503050203000203" pitchFamily="34" charset="0"/>
                        </a:rPr>
                        <a:t>Generative AI for Beginners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r>
                        <a:rPr lang="en-IN" sz="13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3"/>
                        </a:rPr>
                        <a:t>Course link (IBM-Udemy)</a:t>
                      </a:r>
                      <a:endParaRPr lang="en-IN" sz="13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0" i="0" dirty="0">
                          <a:latin typeface="IBM Plex Sans" panose="020B0503050203000203" pitchFamily="34" charset="0"/>
                        </a:rPr>
                        <a:t>3.5 hours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3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78574520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Ethics &amp; Generative AI (GenAI)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r>
                        <a:rPr lang="en-IN" sz="13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4"/>
                        </a:rPr>
                        <a:t>Course link (IBM-Udemy)</a:t>
                      </a:r>
                      <a:endParaRPr lang="en-IN" sz="13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0" i="0" dirty="0">
                          <a:latin typeface="IBM Plex Sans" panose="020B0503050203000203" pitchFamily="34" charset="0"/>
                        </a:rPr>
                        <a:t>2 hours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3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884110813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Generative AI for Leaders &amp; Business Professionals</a:t>
                      </a:r>
                      <a:endParaRPr lang="en-IN" sz="13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r>
                        <a:rPr lang="en-IN" sz="13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5"/>
                        </a:rPr>
                        <a:t>Course link (IBM-Udemy)</a:t>
                      </a:r>
                      <a:endParaRPr lang="en-IN" sz="13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0" i="0" dirty="0">
                          <a:latin typeface="IBM Plex Sans" panose="020B0503050203000203" pitchFamily="34" charset="0"/>
                        </a:rPr>
                        <a:t>9.5 hour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3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38975176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The Complete Prompt Engineering for AI Bootcamp (2025)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r>
                        <a:rPr lang="en-IN" sz="13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6"/>
                        </a:rPr>
                        <a:t>Course link (IBM-Udemy)</a:t>
                      </a:r>
                      <a:endParaRPr lang="en-IN" sz="13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0" i="0" dirty="0">
                          <a:latin typeface="IBM Plex Sans" panose="020B0503050203000203" pitchFamily="34" charset="0"/>
                        </a:rPr>
                        <a:t>20 hours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3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750629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Generative AI in Financial Services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r>
                        <a:rPr lang="en-IN" sz="13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7"/>
                        </a:rPr>
                        <a:t>Banking - Link (IBM-Think-topic)</a:t>
                      </a:r>
                      <a:endParaRPr lang="en-IN" sz="13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0" algn="l" defTabSz="685783" rtl="0" eaLnBrk="1" latinLnBrk="0" hangingPunct="1"/>
                      <a:r>
                        <a:rPr lang="en-IN" sz="13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8"/>
                        </a:rPr>
                        <a:t>Insurance – Link</a:t>
                      </a:r>
                      <a:r>
                        <a:rPr lang="en-IN" sz="13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</a:rPr>
                        <a:t> – IBV Study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0" i="0" dirty="0">
                          <a:latin typeface="IBM Plex Sans" panose="020B0503050203000203" pitchFamily="34" charset="0"/>
                        </a:rPr>
                        <a:t>1 hour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3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92782982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781B4B5-92D0-BA97-2595-96B1AFFBC4A3}"/>
              </a:ext>
            </a:extLst>
          </p:cNvPr>
          <p:cNvSpPr txBox="1"/>
          <p:nvPr/>
        </p:nvSpPr>
        <p:spPr>
          <a:xfrm>
            <a:off x="484031" y="2166779"/>
            <a:ext cx="11186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IBM Plex Sans" panose="020B0503050203000203" pitchFamily="34" charset="0"/>
              </a:rPr>
              <a:t>Learn about the uses, impact, and underlying technologies of generative AI.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9C7806-1306-1952-1B1D-8E91C0C66D21}"/>
              </a:ext>
            </a:extLst>
          </p:cNvPr>
          <p:cNvSpPr txBox="1"/>
          <p:nvPr/>
        </p:nvSpPr>
        <p:spPr>
          <a:xfrm>
            <a:off x="395870" y="5781358"/>
            <a:ext cx="11305633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1200" b="1" i="1" u="sng" dirty="0">
                <a:latin typeface="IBM Plex Sans" panose="020B0503050203000203" pitchFamily="34" charset="0"/>
                <a:sym typeface="Arial"/>
              </a:rPr>
              <a:t>Note</a:t>
            </a:r>
            <a:r>
              <a:rPr lang="en-IN" sz="1200" b="1" i="1" dirty="0">
                <a:latin typeface="IBM Plex Sans" panose="020B0503050203000203" pitchFamily="34" charset="0"/>
                <a:sym typeface="Arial"/>
              </a:rPr>
              <a:t>:</a:t>
            </a:r>
            <a:r>
              <a:rPr lang="en-IN" sz="1200" i="1" dirty="0">
                <a:latin typeface="IBM Plex Sans" panose="020B0503050203000203" pitchFamily="34" charset="0"/>
                <a:sym typeface="Arial"/>
              </a:rPr>
              <a:t> Coursera courses are not free for IBM. However, you can access and learn using these courses, but you can’t access graded items (certificates and tests). </a:t>
            </a:r>
            <a:r>
              <a:rPr lang="en-IN" sz="2400" i="1" dirty="0">
                <a:latin typeface="IBM Plex Sans" panose="020B0503050203000203" pitchFamily="34" charset="0"/>
              </a:rPr>
              <a:t>S</a:t>
            </a:r>
            <a:r>
              <a:rPr lang="en-IN" sz="1200" i="1" dirty="0">
                <a:latin typeface="IBM Plex Sans" panose="020B0503050203000203" pitchFamily="34" charset="0"/>
                <a:sym typeface="Arial"/>
              </a:rPr>
              <a:t>elect option: “</a:t>
            </a:r>
            <a:r>
              <a:rPr lang="en-US" sz="1200" i="1" dirty="0">
                <a:latin typeface="IBM Plex Sans" panose="020B0503050203000203" pitchFamily="34" charset="0"/>
                <a:sym typeface="Arial"/>
              </a:rPr>
              <a:t>Audit Only” while enrolling. You will have access to all course materials except graded items.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3A3E2D-495C-9725-7382-61AB295FE38C}"/>
              </a:ext>
            </a:extLst>
          </p:cNvPr>
          <p:cNvSpPr/>
          <p:nvPr/>
        </p:nvSpPr>
        <p:spPr>
          <a:xfrm>
            <a:off x="7405814" y="656828"/>
            <a:ext cx="939103" cy="894779"/>
          </a:xfrm>
          <a:prstGeom prst="ellipse">
            <a:avLst/>
          </a:prstGeom>
          <a:solidFill>
            <a:schemeClr val="accent1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23360" hangingPunct="0"/>
            <a:r>
              <a:rPr lang="en-GB" sz="2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General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B0E7E0C-27A9-DC5C-2CB9-20991972BEBB}"/>
              </a:ext>
            </a:extLst>
          </p:cNvPr>
          <p:cNvSpPr/>
          <p:nvPr/>
        </p:nvSpPr>
        <p:spPr>
          <a:xfrm>
            <a:off x="9234614" y="656828"/>
            <a:ext cx="939103" cy="894779"/>
          </a:xfrm>
          <a:prstGeom prst="ellipse">
            <a:avLst/>
          </a:prstGeom>
          <a:solidFill>
            <a:schemeClr val="accent1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23360" hangingPunct="0"/>
            <a:r>
              <a:rPr lang="en-GB" sz="2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Gen AI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7A0D55-C02B-8DCE-4069-76CB1331B26A}"/>
              </a:ext>
            </a:extLst>
          </p:cNvPr>
          <p:cNvSpPr/>
          <p:nvPr/>
        </p:nvSpPr>
        <p:spPr>
          <a:xfrm>
            <a:off x="11063414" y="656828"/>
            <a:ext cx="939103" cy="894779"/>
          </a:xfrm>
          <a:prstGeom prst="ellipse">
            <a:avLst/>
          </a:prstGeom>
          <a:solidFill>
            <a:schemeClr val="accent1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23360" hangingPunct="0"/>
            <a:r>
              <a:rPr lang="en-GB" sz="2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Agentic  AI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FD12B604-9C17-200B-0866-D1394090EB92}"/>
              </a:ext>
            </a:extLst>
          </p:cNvPr>
          <p:cNvSpPr/>
          <p:nvPr/>
        </p:nvSpPr>
        <p:spPr>
          <a:xfrm>
            <a:off x="8625013" y="891908"/>
            <a:ext cx="469552" cy="365653"/>
          </a:xfrm>
          <a:prstGeom prst="rightArrow">
            <a:avLst/>
          </a:prstGeom>
          <a:solidFill>
            <a:schemeClr val="accent1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23360" hangingPunct="0"/>
            <a:endParaRPr lang="en-GB" sz="1333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BADEA6D2-6270-8786-04F2-A80BFA191C53}"/>
              </a:ext>
            </a:extLst>
          </p:cNvPr>
          <p:cNvSpPr/>
          <p:nvPr/>
        </p:nvSpPr>
        <p:spPr>
          <a:xfrm>
            <a:off x="10411393" y="891908"/>
            <a:ext cx="469552" cy="365653"/>
          </a:xfrm>
          <a:prstGeom prst="rightArrow">
            <a:avLst/>
          </a:prstGeom>
          <a:solidFill>
            <a:schemeClr val="accent1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23360" hangingPunct="0"/>
            <a:endParaRPr lang="en-GB" sz="1333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7C73FA6-DFAE-373E-D037-A21D9C3BBBD3}"/>
              </a:ext>
            </a:extLst>
          </p:cNvPr>
          <p:cNvSpPr/>
          <p:nvPr/>
        </p:nvSpPr>
        <p:spPr>
          <a:xfrm>
            <a:off x="7315200" y="584200"/>
            <a:ext cx="1106613" cy="1058251"/>
          </a:xfrm>
          <a:prstGeom prst="ellipse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23360" hangingPunct="0"/>
            <a:endParaRPr lang="en-GB" sz="1333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7312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557645D-FD2A-C54C-B914-8106C9C76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46304"/>
            <a:ext cx="11497056" cy="44319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GB" sz="3200" b="1" dirty="0">
                <a:solidFill>
                  <a:schemeClr val="tx2"/>
                </a:solidFill>
                <a:latin typeface="IBM Plex Sans" panose="020B0503050203000203" pitchFamily="34" charset="0"/>
                <a:sym typeface="Arial"/>
              </a:rPr>
              <a:t>GenAI Learning Paths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E1C583-8B61-4BD9-ADD2-C432573B5F5D}"/>
              </a:ext>
            </a:extLst>
          </p:cNvPr>
          <p:cNvSpPr txBox="1"/>
          <p:nvPr/>
        </p:nvSpPr>
        <p:spPr>
          <a:xfrm>
            <a:off x="457201" y="681831"/>
            <a:ext cx="11328400" cy="410433"/>
          </a:xfrm>
          <a:prstGeom prst="rect">
            <a:avLst/>
          </a:prstGeom>
          <a:solidFill>
            <a:srgbClr val="0070C0"/>
          </a:solidFill>
        </p:spPr>
        <p:txBody>
          <a:bodyPr wrap="square" lIns="0" tIns="0" rIns="0" bIns="0" rtlCol="1">
            <a:spAutoFit/>
          </a:bodyPr>
          <a:lstStyle/>
          <a:p>
            <a:pPr algn="ctr"/>
            <a:r>
              <a:rPr lang="en-US" sz="2667" b="1" dirty="0">
                <a:solidFill>
                  <a:schemeClr val="bg1"/>
                </a:solidFill>
                <a:latin typeface="IBM Plex Sans" panose="020B0503050203000203" pitchFamily="34" charset="0"/>
              </a:rPr>
              <a:t>Developer Learning Path – Gen AI</a:t>
            </a:r>
            <a:endParaRPr lang="ar-QA" sz="2667" b="1" dirty="0" err="1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A19B82-78E4-4D4F-CBAA-C3DE5A7922AA}"/>
              </a:ext>
            </a:extLst>
          </p:cNvPr>
          <p:cNvGraphicFramePr>
            <a:graphicFrameLocks noGrp="1"/>
          </p:cNvGraphicFramePr>
          <p:nvPr/>
        </p:nvGraphicFramePr>
        <p:xfrm>
          <a:off x="457202" y="1803400"/>
          <a:ext cx="11213381" cy="426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3815">
                  <a:extLst>
                    <a:ext uri="{9D8B030D-6E8A-4147-A177-3AD203B41FA5}">
                      <a16:colId xmlns:a16="http://schemas.microsoft.com/office/drawing/2014/main" val="2427250069"/>
                    </a:ext>
                  </a:extLst>
                </a:gridCol>
                <a:gridCol w="2652984">
                  <a:extLst>
                    <a:ext uri="{9D8B030D-6E8A-4147-A177-3AD203B41FA5}">
                      <a16:colId xmlns:a16="http://schemas.microsoft.com/office/drawing/2014/main" val="14610386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64322582"/>
                    </a:ext>
                  </a:extLst>
                </a:gridCol>
                <a:gridCol w="1510583">
                  <a:extLst>
                    <a:ext uri="{9D8B030D-6E8A-4147-A177-3AD203B41FA5}">
                      <a16:colId xmlns:a16="http://schemas.microsoft.com/office/drawing/2014/main" val="147874395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</a:rPr>
                        <a:t>Course Name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indent="0" algn="ctr" defTabSz="685783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600" b="1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</a:rPr>
                        <a:t>Link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dirty="0">
                          <a:latin typeface="IBM Plex Sans" panose="020B0503050203000203" pitchFamily="34" charset="0"/>
                        </a:rPr>
                        <a:t>Time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i="0" dirty="0">
                          <a:latin typeface="IBM Plex Sans" panose="020B0503050203000203" pitchFamily="34" charset="0"/>
                        </a:rPr>
                        <a:t>Prerequisite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03960478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0" i="0" u="none" strike="noStrike" cap="none" spc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</a:rPr>
                        <a:t>LangChain</a:t>
                      </a:r>
                      <a:r>
                        <a:rPr lang="en-IN" sz="13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</a:rPr>
                        <a:t> for LLM Application Development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indent="0" algn="l" defTabSz="685783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3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2"/>
                        </a:rPr>
                        <a:t>Course link (deeplearning.ai</a:t>
                      </a:r>
                      <a:r>
                        <a:rPr lang="en-IN" sz="130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2"/>
                        </a:rPr>
                        <a:t>)</a:t>
                      </a:r>
                      <a:endParaRPr lang="en-IN" sz="13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1300" b="0" i="0" dirty="0">
                          <a:latin typeface="IBM Plex Sans" panose="020B0503050203000203" pitchFamily="34" charset="0"/>
                        </a:rPr>
                        <a:t>1 hour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Python</a:t>
                      </a:r>
                      <a:endParaRPr lang="en-IN" sz="13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884110813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Functions, Tools and Agents with </a:t>
                      </a:r>
                      <a:r>
                        <a:rPr lang="en-US" sz="1300" b="0" i="0" dirty="0" err="1">
                          <a:latin typeface="IBM Plex Sans" panose="020B0503050203000203" pitchFamily="34" charset="0"/>
                        </a:rPr>
                        <a:t>LangChain</a:t>
                      </a:r>
                      <a:endParaRPr lang="en-US" sz="13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indent="0" algn="l" defTabSz="685783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3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3"/>
                        </a:rPr>
                        <a:t>Course link (deeplearning.ai)</a:t>
                      </a:r>
                      <a:endParaRPr lang="en-IN" sz="13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1300" b="0" i="0" dirty="0">
                          <a:latin typeface="IBM Plex Sans" panose="020B0503050203000203" pitchFamily="34" charset="0"/>
                        </a:rPr>
                        <a:t>1 hour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Python</a:t>
                      </a:r>
                      <a:endParaRPr lang="en-IN" sz="13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6191378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The Complete Prompt Engineering for AI Bootcamp (2025)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r>
                        <a:rPr lang="en-IN" sz="13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4"/>
                        </a:rPr>
                        <a:t>Course link (IBM-Udemy)</a:t>
                      </a:r>
                      <a:endParaRPr lang="en-IN" sz="13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1300" b="0" i="0" dirty="0">
                          <a:latin typeface="IBM Plex Sans" panose="020B0503050203000203" pitchFamily="34" charset="0"/>
                        </a:rPr>
                        <a:t>24 hours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Python</a:t>
                      </a:r>
                      <a:endParaRPr lang="en-IN" sz="13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868723318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Building and Evaluating Advanced RAG Applications</a:t>
                      </a:r>
                      <a:endParaRPr lang="en-IN" sz="13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indent="0" algn="l" defTabSz="685783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3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5"/>
                        </a:rPr>
                        <a:t>Course link (deeplearning.ai)</a:t>
                      </a:r>
                      <a:endParaRPr lang="en-IN" sz="13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1300" b="0" i="0" dirty="0">
                          <a:latin typeface="IBM Plex Sans" panose="020B0503050203000203" pitchFamily="34" charset="0"/>
                        </a:rPr>
                        <a:t>1 hour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Python</a:t>
                      </a:r>
                      <a:endParaRPr lang="en-IN" sz="13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38975176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Vector Databases: from Embeddings to Applications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indent="0" algn="l" defTabSz="685783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3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6"/>
                        </a:rPr>
                        <a:t>Course link (deeplearning.ai)</a:t>
                      </a:r>
                      <a:endParaRPr lang="en-IN" sz="13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1300" b="0" i="0" dirty="0">
                          <a:latin typeface="IBM Plex Sans" panose="020B0503050203000203" pitchFamily="34" charset="0"/>
                        </a:rPr>
                        <a:t>1 hour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Python</a:t>
                      </a:r>
                      <a:endParaRPr lang="en-IN" sz="13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98214800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Understanding and Applying Text Embeddings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indent="0" algn="l" defTabSz="685783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3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7"/>
                        </a:rPr>
                        <a:t>Course link (deeplearning.ai)</a:t>
                      </a:r>
                      <a:endParaRPr lang="en-IN" sz="13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1300" b="0" i="0" dirty="0">
                          <a:latin typeface="IBM Plex Sans" panose="020B0503050203000203" pitchFamily="34" charset="0"/>
                        </a:rPr>
                        <a:t>1 hour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Python</a:t>
                      </a:r>
                      <a:endParaRPr lang="en-IN" sz="13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816706392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Large Language Models with Semantic Search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indent="0" algn="l" defTabSz="685783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3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8"/>
                        </a:rPr>
                        <a:t>Course link (deeplearning.ai)</a:t>
                      </a:r>
                      <a:endParaRPr lang="en-IN" sz="13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1300" b="0" i="0" dirty="0">
                          <a:latin typeface="IBM Plex Sans" panose="020B0503050203000203" pitchFamily="34" charset="0"/>
                        </a:rPr>
                        <a:t>1 hour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Python</a:t>
                      </a:r>
                      <a:endParaRPr lang="en-IN" sz="13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8161078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Evaluating and Debugging Generative AI Models Using Weights and Biases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indent="0" algn="l" defTabSz="685783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3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9"/>
                        </a:rPr>
                        <a:t>Course link (deeplearning.ai)</a:t>
                      </a:r>
                      <a:endParaRPr lang="en-IN" sz="13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1300" b="0" i="0" dirty="0">
                          <a:latin typeface="IBM Plex Sans" panose="020B0503050203000203" pitchFamily="34" charset="0"/>
                        </a:rPr>
                        <a:t>1 hour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Python</a:t>
                      </a:r>
                      <a:endParaRPr lang="en-IN" sz="13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92782982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Quality and Safety for LLM Applications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indent="0" algn="l" defTabSz="685783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3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10"/>
                        </a:rPr>
                        <a:t>Course link (deeplearning.ai)</a:t>
                      </a:r>
                      <a:endParaRPr lang="en-IN" sz="13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1300" b="0" i="0" dirty="0">
                          <a:latin typeface="IBM Plex Sans" panose="020B0503050203000203" pitchFamily="34" charset="0"/>
                        </a:rPr>
                        <a:t>1 hour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Python</a:t>
                      </a:r>
                      <a:endParaRPr lang="en-IN" sz="13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501369719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Finetuning Large Language Models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11"/>
                        </a:rPr>
                        <a:t>Course link (deeplearning.ai)</a:t>
                      </a:r>
                      <a:endParaRPr lang="en-IN" sz="13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1300" b="0" i="0" dirty="0">
                          <a:latin typeface="IBM Plex Sans" panose="020B0503050203000203" pitchFamily="34" charset="0"/>
                        </a:rPr>
                        <a:t>1 hour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IBM Plex Sans" panose="020B0503050203000203" pitchFamily="34" charset="0"/>
                        </a:rPr>
                        <a:t>Python</a:t>
                      </a:r>
                      <a:endParaRPr lang="en-IN" sz="13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166738511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</a:rPr>
                        <a:t>Prompt Engineering (Handbook for Reference)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indent="0" algn="l" defTabSz="685783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3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12"/>
                        </a:rPr>
                        <a:t>Handbook link</a:t>
                      </a:r>
                      <a:endParaRPr lang="en-IN" sz="13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IN" sz="13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0" i="0" dirty="0">
                          <a:latin typeface="IBM Plex Sans" panose="020B0503050203000203" pitchFamily="34" charset="0"/>
                        </a:rPr>
                        <a:t>Python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654488623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cap="none" spc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</a:rPr>
                        <a:t>LangChain</a:t>
                      </a:r>
                      <a:r>
                        <a:rPr lang="en-US" sz="13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</a:rPr>
                        <a:t>- Develop LLM powered applications with </a:t>
                      </a:r>
                      <a:r>
                        <a:rPr lang="en-US" sz="1300" b="0" i="0" u="none" strike="noStrike" cap="none" spc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</a:rPr>
                        <a:t>LangChain</a:t>
                      </a:r>
                      <a:endParaRPr lang="en-US" sz="1300" b="0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indent="0" algn="l" defTabSz="685783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3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13"/>
                        </a:rPr>
                        <a:t>Course link (IBM-Udemy)</a:t>
                      </a:r>
                      <a:endParaRPr lang="en-IN" sz="13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1300" b="0" i="0" dirty="0">
                          <a:latin typeface="IBM Plex Sans" panose="020B0503050203000203" pitchFamily="34" charset="0"/>
                        </a:rPr>
                        <a:t>7 hours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0" i="0" dirty="0">
                          <a:latin typeface="IBM Plex Sans" panose="020B0503050203000203" pitchFamily="34" charset="0"/>
                        </a:rPr>
                        <a:t>Python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96819432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781B4B5-92D0-BA97-2595-96B1AFFBC4A3}"/>
              </a:ext>
            </a:extLst>
          </p:cNvPr>
          <p:cNvSpPr txBox="1"/>
          <p:nvPr/>
        </p:nvSpPr>
        <p:spPr>
          <a:xfrm>
            <a:off x="457202" y="1193800"/>
            <a:ext cx="112133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IBM Plex Sans" panose="020B0503050203000203" pitchFamily="34" charset="0"/>
              </a:rPr>
              <a:t>For developers </a:t>
            </a:r>
            <a:r>
              <a:rPr lang="en-US" sz="1600" dirty="0">
                <a:latin typeface="IBM Plex Sans" panose="020B0503050203000203" pitchFamily="34" charset="0"/>
              </a:rPr>
              <a:t>who will be developing applications </a:t>
            </a:r>
            <a:r>
              <a:rPr lang="en-US" sz="1600" b="1" dirty="0">
                <a:latin typeface="IBM Plex Sans" panose="020B0503050203000203" pitchFamily="34" charset="0"/>
              </a:rPr>
              <a:t>using</a:t>
            </a:r>
            <a:r>
              <a:rPr lang="en-US" sz="1600" dirty="0">
                <a:latin typeface="IBM Plex Sans" panose="020B0503050203000203" pitchFamily="34" charset="0"/>
              </a:rPr>
              <a:t> Generative AI technologies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B6FA62-3256-9375-5BC7-1B68C9A1C5A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30358" y="72231"/>
            <a:ext cx="2520757" cy="6350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C7EDDA95-05BC-3C34-D9DC-504A7AE3A1D7}"/>
              </a:ext>
            </a:extLst>
          </p:cNvPr>
          <p:cNvSpPr/>
          <p:nvPr/>
        </p:nvSpPr>
        <p:spPr>
          <a:xfrm>
            <a:off x="10380443" y="65051"/>
            <a:ext cx="620587" cy="640675"/>
          </a:xfrm>
          <a:prstGeom prst="ellipse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23360" hangingPunct="0"/>
            <a:endParaRPr lang="en-GB" sz="1333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4131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74B8B-12F5-89AF-3C2C-F2AE2F3FF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8EE98E9-10D8-F095-DA65-C84EF260D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46304"/>
            <a:ext cx="11497056" cy="44319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GB" sz="3200" b="1" dirty="0">
                <a:solidFill>
                  <a:schemeClr val="tx2"/>
                </a:solidFill>
                <a:latin typeface="IBM Plex Sans" panose="020B0503050203000203" pitchFamily="34" charset="0"/>
                <a:sym typeface="Arial"/>
              </a:rPr>
              <a:t>1. Enablement: Agentic AI Learning Paths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737E8E-B143-6679-1484-72F4262E3E99}"/>
              </a:ext>
            </a:extLst>
          </p:cNvPr>
          <p:cNvSpPr txBox="1"/>
          <p:nvPr/>
        </p:nvSpPr>
        <p:spPr>
          <a:xfrm>
            <a:off x="457201" y="889001"/>
            <a:ext cx="11328400" cy="410433"/>
          </a:xfrm>
          <a:prstGeom prst="rect">
            <a:avLst/>
          </a:prstGeom>
          <a:solidFill>
            <a:srgbClr val="0070C0"/>
          </a:solidFill>
        </p:spPr>
        <p:txBody>
          <a:bodyPr wrap="square" lIns="0" tIns="0" rIns="0" bIns="0" rtlCol="1">
            <a:spAutoFit/>
          </a:bodyPr>
          <a:lstStyle/>
          <a:p>
            <a:pPr algn="ctr"/>
            <a:r>
              <a:rPr lang="en-US" sz="2667" b="1" dirty="0">
                <a:solidFill>
                  <a:schemeClr val="bg1"/>
                </a:solidFill>
                <a:latin typeface="IBM Plex Sans" panose="020B0503050203000203" pitchFamily="34" charset="0"/>
              </a:rPr>
              <a:t>Developer Learning Path – Agentic AI</a:t>
            </a:r>
            <a:endParaRPr lang="ar-QA" sz="2667" b="1" dirty="0" err="1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70A5969-C015-B851-D343-1EA9054EDB73}"/>
              </a:ext>
            </a:extLst>
          </p:cNvPr>
          <p:cNvGraphicFramePr>
            <a:graphicFrameLocks noGrp="1"/>
          </p:cNvGraphicFramePr>
          <p:nvPr/>
        </p:nvGraphicFramePr>
        <p:xfrm>
          <a:off x="536714" y="1807369"/>
          <a:ext cx="11213381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0087">
                  <a:extLst>
                    <a:ext uri="{9D8B030D-6E8A-4147-A177-3AD203B41FA5}">
                      <a16:colId xmlns:a16="http://schemas.microsoft.com/office/drawing/2014/main" val="2427250069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1461038679"/>
                    </a:ext>
                  </a:extLst>
                </a:gridCol>
                <a:gridCol w="1390295">
                  <a:extLst>
                    <a:ext uri="{9D8B030D-6E8A-4147-A177-3AD203B41FA5}">
                      <a16:colId xmlns:a16="http://schemas.microsoft.com/office/drawing/2014/main" val="1164322582"/>
                    </a:ext>
                  </a:extLst>
                </a:gridCol>
                <a:gridCol w="1556105">
                  <a:extLst>
                    <a:ext uri="{9D8B030D-6E8A-4147-A177-3AD203B41FA5}">
                      <a16:colId xmlns:a16="http://schemas.microsoft.com/office/drawing/2014/main" val="1478743956"/>
                    </a:ext>
                  </a:extLst>
                </a:gridCol>
                <a:gridCol w="1285295">
                  <a:extLst>
                    <a:ext uri="{9D8B030D-6E8A-4147-A177-3AD203B41FA5}">
                      <a16:colId xmlns:a16="http://schemas.microsoft.com/office/drawing/2014/main" val="237279041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</a:rPr>
                        <a:t>Course Name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indent="0" algn="ctr" defTabSz="685783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600" b="1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</a:rPr>
                        <a:t>Link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dirty="0">
                          <a:latin typeface="IBM Plex Sans" panose="020B0503050203000203" pitchFamily="34" charset="0"/>
                        </a:rPr>
                        <a:t>Time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i="0" dirty="0">
                          <a:latin typeface="IBM Plex Sans" panose="020B0503050203000203" pitchFamily="34" charset="0"/>
                        </a:rPr>
                        <a:t>Prerequisite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i="0" dirty="0">
                          <a:latin typeface="IBM Plex Sans" panose="020B0503050203000203" pitchFamily="34" charset="0"/>
                        </a:rPr>
                        <a:t>Role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03960478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DeepLearning.AI - Agentic AI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r>
                        <a:rPr lang="en-IN" sz="12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2"/>
                        </a:rPr>
                        <a:t>Course link (DeepLearning.AI)</a:t>
                      </a:r>
                      <a:endParaRPr lang="en-IN" sz="12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6 hours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Python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Data Scientist , AI Engineer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7857452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Generative AI for SDLC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r>
                        <a:rPr lang="en-IN" sz="12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3"/>
                        </a:rPr>
                        <a:t>Course link (DeepLearning.AI)</a:t>
                      </a:r>
                      <a:endParaRPr lang="en-IN" sz="12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3 hours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SDLC Process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SDE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25095516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IBM Plex Sans" panose="020B0503050203000203" pitchFamily="34" charset="0"/>
                        </a:rPr>
                        <a:t>AI Engineer Agentic Track: The Complete Agent &amp; MCP Course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r>
                        <a:rPr lang="en-IN" sz="12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4"/>
                        </a:rPr>
                        <a:t>Course link (IBM-Udemy)</a:t>
                      </a:r>
                      <a:endParaRPr lang="en-IN" sz="12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8 hours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GenAI Fundamentals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AI Engineer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71680088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IBM Plex Sans" panose="020B0503050203000203" pitchFamily="34" charset="0"/>
                        </a:rPr>
                        <a:t>Agentic memory with </a:t>
                      </a:r>
                      <a:r>
                        <a:rPr lang="en-US" sz="1200" b="0" i="0" dirty="0" err="1">
                          <a:latin typeface="IBM Plex Sans" panose="020B0503050203000203" pitchFamily="34" charset="0"/>
                        </a:rPr>
                        <a:t>LangGraph</a:t>
                      </a:r>
                      <a:endParaRPr lang="en-US" sz="12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r>
                        <a:rPr lang="en-IN" sz="12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5"/>
                        </a:rPr>
                        <a:t>Course link (DeepLearning.AI)</a:t>
                      </a:r>
                      <a:endParaRPr lang="en-IN" sz="12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1.5 hours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AI Engineer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44169128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IBM Plex Sans" panose="020B0503050203000203" pitchFamily="34" charset="0"/>
                        </a:rPr>
                        <a:t>GitHub Copilot - The Complete Guide 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r>
                        <a:rPr lang="en-IN" sz="12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6"/>
                        </a:rPr>
                        <a:t>Course link (IBM-Udemy)</a:t>
                      </a:r>
                      <a:endParaRPr lang="en-IN" sz="12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5 hours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SDE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66019282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IBM Plex Sans" panose="020B0503050203000203" pitchFamily="34" charset="0"/>
                        </a:rPr>
                        <a:t>AI in software development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r>
                        <a:rPr lang="en-IN" sz="12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7"/>
                        </a:rPr>
                        <a:t>Reading Material</a:t>
                      </a:r>
                      <a:endParaRPr lang="en-IN" sz="12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30 Mins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SDE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38425963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IBM Plex Sans" panose="020B0503050203000203" pitchFamily="34" charset="0"/>
                        </a:rPr>
                        <a:t>IBM Consulting - FSS Agentic AI Enablement recorded series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r>
                        <a:rPr lang="en-IN" sz="12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8"/>
                        </a:rPr>
                        <a:t>Recorded Sessions (Box folder)</a:t>
                      </a:r>
                      <a:endParaRPr lang="en-IN" sz="12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7 hours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Python Basics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AI Engineer, Data Scientist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15912022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</a:rPr>
                        <a:t>IBM Technology: AI Technical Tutorials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indent="0" algn="l" defTabSz="685783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2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9"/>
                        </a:rPr>
                        <a:t>YouTube Playlist</a:t>
                      </a:r>
                      <a:endParaRPr lang="en-IN" sz="12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       -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Python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All roles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96819432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cap="none" spc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</a:rPr>
                        <a:t>Watsonx</a:t>
                      </a:r>
                      <a:r>
                        <a:rPr lang="en-US" sz="1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</a:rPr>
                        <a:t> Orchestrate Level 4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indent="0" algn="l" defTabSz="685783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IN" sz="12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IBM Plex Sans" panose="020B0503050203000203" pitchFamily="34" charset="0"/>
                          <a:ea typeface="+mn-ea"/>
                          <a:cs typeface="+mn-cs"/>
                          <a:sym typeface="Arial"/>
                          <a:hlinkClick r:id="rId10"/>
                        </a:rPr>
                        <a:t>Your Learning – Learning Path</a:t>
                      </a:r>
                      <a:endParaRPr lang="en-IN" sz="12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uFillTx/>
                        <a:latin typeface="IBM Plex Sans" panose="020B0503050203000203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15 hours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0" i="0" dirty="0">
                        <a:latin typeface="IBM Plex Sans" panose="020B0503050203000203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dirty="0">
                          <a:latin typeface="IBM Plex Sans" panose="020B0503050203000203" pitchFamily="34" charset="0"/>
                        </a:rPr>
                        <a:t>All roles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4935202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6285D75-11D7-8153-406A-28F01FC0562B}"/>
              </a:ext>
            </a:extLst>
          </p:cNvPr>
          <p:cNvSpPr txBox="1"/>
          <p:nvPr/>
        </p:nvSpPr>
        <p:spPr>
          <a:xfrm>
            <a:off x="457202" y="1400970"/>
            <a:ext cx="11213381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33" b="1" dirty="0">
                <a:latin typeface="IBM Plex Sans" panose="020B0503050203000203" pitchFamily="34" charset="0"/>
              </a:rPr>
              <a:t>For developers </a:t>
            </a:r>
            <a:r>
              <a:rPr lang="en-US" sz="1333" dirty="0">
                <a:latin typeface="IBM Plex Sans" panose="020B0503050203000203" pitchFamily="34" charset="0"/>
              </a:rPr>
              <a:t>who will be developing applications </a:t>
            </a:r>
            <a:r>
              <a:rPr lang="en-US" sz="1333" b="1" dirty="0">
                <a:latin typeface="IBM Plex Sans" panose="020B0503050203000203" pitchFamily="34" charset="0"/>
              </a:rPr>
              <a:t>using</a:t>
            </a:r>
            <a:r>
              <a:rPr lang="en-US" sz="1333" dirty="0">
                <a:latin typeface="IBM Plex Sans" panose="020B0503050203000203" pitchFamily="34" charset="0"/>
              </a:rPr>
              <a:t> Generative AI and Agentic AI technologies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2D7C3A-6D1C-DEAE-28EE-D0E65C252F0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82978" y="70987"/>
            <a:ext cx="2520757" cy="635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61618FD5-0A23-A234-695E-FB6CADF17A9A}"/>
              </a:ext>
            </a:extLst>
          </p:cNvPr>
          <p:cNvSpPr/>
          <p:nvPr/>
        </p:nvSpPr>
        <p:spPr>
          <a:xfrm>
            <a:off x="11368213" y="65312"/>
            <a:ext cx="620587" cy="640675"/>
          </a:xfrm>
          <a:prstGeom prst="ellipse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23360" hangingPunct="0"/>
            <a:endParaRPr lang="en-GB" sz="1333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3177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86F66-FED1-945A-0060-847674CB2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ECCAED3-6560-F0FD-3617-560B368915B5}"/>
              </a:ext>
            </a:extLst>
          </p:cNvPr>
          <p:cNvSpPr/>
          <p:nvPr/>
        </p:nvSpPr>
        <p:spPr>
          <a:xfrm rot="10800000">
            <a:off x="5794537" y="1933206"/>
            <a:ext cx="6397464" cy="4924793"/>
          </a:xfrm>
          <a:prstGeom prst="rect">
            <a:avLst/>
          </a:prstGeom>
          <a:gradFill flip="none" rotWithShape="1">
            <a:gsLst>
              <a:gs pos="27000">
                <a:srgbClr val="E2D0F0"/>
              </a:gs>
              <a:gs pos="0">
                <a:srgbClr val="C9A4E4"/>
              </a:gs>
              <a:gs pos="64000">
                <a:schemeClr val="bg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F0AAB8-DEA1-9B24-BE98-3F0E1C94171A}"/>
              </a:ext>
            </a:extLst>
          </p:cNvPr>
          <p:cNvSpPr/>
          <p:nvPr/>
        </p:nvSpPr>
        <p:spPr>
          <a:xfrm>
            <a:off x="0" y="0"/>
            <a:ext cx="5794537" cy="6858000"/>
          </a:xfrm>
          <a:prstGeom prst="rect">
            <a:avLst/>
          </a:prstGeom>
          <a:gradFill flip="none" rotWithShape="1">
            <a:gsLst>
              <a:gs pos="37000">
                <a:srgbClr val="C1EFFF"/>
              </a:gs>
              <a:gs pos="0">
                <a:srgbClr val="0530AD"/>
              </a:gs>
              <a:gs pos="65000">
                <a:schemeClr val="bg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0295A3-B3F2-D63C-716D-01B6467C9AFE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6C29ABC-0DD5-1A74-2DCB-87AC5971FC11}"/>
              </a:ext>
            </a:extLst>
          </p:cNvPr>
          <p:cNvGrpSpPr/>
          <p:nvPr/>
        </p:nvGrpSpPr>
        <p:grpSpPr>
          <a:xfrm>
            <a:off x="11467538" y="283795"/>
            <a:ext cx="429384" cy="321996"/>
            <a:chOff x="4552645" y="3416817"/>
            <a:chExt cx="1948180" cy="1460945"/>
          </a:xfrm>
        </p:grpSpPr>
        <p:sp>
          <p:nvSpPr>
            <p:cNvPr id="15" name="object 27">
              <a:extLst>
                <a:ext uri="{FF2B5EF4-FFF2-40B4-BE49-F238E27FC236}">
                  <a16:creationId xmlns:a16="http://schemas.microsoft.com/office/drawing/2014/main" id="{1C0C3C9B-67ED-E083-1078-2EE3C56B207F}"/>
                </a:ext>
              </a:extLst>
            </p:cNvPr>
            <p:cNvSpPr/>
            <p:nvPr/>
          </p:nvSpPr>
          <p:spPr>
            <a:xfrm>
              <a:off x="5201831" y="4066015"/>
              <a:ext cx="649605" cy="487045"/>
            </a:xfrm>
            <a:custGeom>
              <a:avLst/>
              <a:gdLst/>
              <a:ahLst/>
              <a:cxnLst/>
              <a:rect l="l" t="t" r="r" b="b"/>
              <a:pathLst>
                <a:path w="649605" h="487045">
                  <a:moveTo>
                    <a:pt x="649198" y="324599"/>
                  </a:moveTo>
                  <a:lnTo>
                    <a:pt x="0" y="324599"/>
                  </a:lnTo>
                  <a:lnTo>
                    <a:pt x="0" y="486892"/>
                  </a:lnTo>
                  <a:lnTo>
                    <a:pt x="649198" y="486892"/>
                  </a:lnTo>
                  <a:lnTo>
                    <a:pt x="649198" y="324599"/>
                  </a:lnTo>
                  <a:close/>
                </a:path>
                <a:path w="649605" h="487045">
                  <a:moveTo>
                    <a:pt x="649198" y="0"/>
                  </a:moveTo>
                  <a:lnTo>
                    <a:pt x="0" y="0"/>
                  </a:lnTo>
                  <a:lnTo>
                    <a:pt x="0" y="162293"/>
                  </a:lnTo>
                  <a:lnTo>
                    <a:pt x="649198" y="162293"/>
                  </a:lnTo>
                  <a:lnTo>
                    <a:pt x="6491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28">
              <a:extLst>
                <a:ext uri="{FF2B5EF4-FFF2-40B4-BE49-F238E27FC236}">
                  <a16:creationId xmlns:a16="http://schemas.microsoft.com/office/drawing/2014/main" id="{DB89BA93-3732-39BB-89F6-1EAD31817B6B}"/>
                </a:ext>
              </a:extLst>
            </p:cNvPr>
            <p:cNvSpPr/>
            <p:nvPr/>
          </p:nvSpPr>
          <p:spPr>
            <a:xfrm>
              <a:off x="4552645" y="3416817"/>
              <a:ext cx="1948180" cy="1136650"/>
            </a:xfrm>
            <a:custGeom>
              <a:avLst/>
              <a:gdLst/>
              <a:ahLst/>
              <a:cxnLst/>
              <a:rect l="l" t="t" r="r" b="b"/>
              <a:pathLst>
                <a:path w="1948180" h="1136650">
                  <a:moveTo>
                    <a:pt x="649198" y="446328"/>
                  </a:moveTo>
                  <a:lnTo>
                    <a:pt x="152082" y="666991"/>
                  </a:lnTo>
                  <a:lnTo>
                    <a:pt x="109855" y="689152"/>
                  </a:lnTo>
                  <a:lnTo>
                    <a:pt x="73012" y="718858"/>
                  </a:lnTo>
                  <a:lnTo>
                    <a:pt x="42595" y="755065"/>
                  </a:lnTo>
                  <a:lnTo>
                    <a:pt x="19608" y="796785"/>
                  </a:lnTo>
                  <a:lnTo>
                    <a:pt x="5067" y="842975"/>
                  </a:lnTo>
                  <a:lnTo>
                    <a:pt x="0" y="892644"/>
                  </a:lnTo>
                  <a:lnTo>
                    <a:pt x="4940" y="941705"/>
                  </a:lnTo>
                  <a:lnTo>
                    <a:pt x="19126" y="987399"/>
                  </a:lnTo>
                  <a:lnTo>
                    <a:pt x="41579" y="1028763"/>
                  </a:lnTo>
                  <a:lnTo>
                    <a:pt x="71297" y="1064793"/>
                  </a:lnTo>
                  <a:lnTo>
                    <a:pt x="107327" y="1094511"/>
                  </a:lnTo>
                  <a:lnTo>
                    <a:pt x="148678" y="1116965"/>
                  </a:lnTo>
                  <a:lnTo>
                    <a:pt x="194386" y="1131150"/>
                  </a:lnTo>
                  <a:lnTo>
                    <a:pt x="243446" y="1136091"/>
                  </a:lnTo>
                  <a:lnTo>
                    <a:pt x="296456" y="1130312"/>
                  </a:lnTo>
                  <a:lnTo>
                    <a:pt x="345414" y="1113777"/>
                  </a:lnTo>
                  <a:lnTo>
                    <a:pt x="389077" y="1087742"/>
                  </a:lnTo>
                  <a:lnTo>
                    <a:pt x="426224" y="1053452"/>
                  </a:lnTo>
                  <a:lnTo>
                    <a:pt x="455587" y="1012151"/>
                  </a:lnTo>
                  <a:lnTo>
                    <a:pt x="475932" y="965073"/>
                  </a:lnTo>
                  <a:lnTo>
                    <a:pt x="649198" y="446328"/>
                  </a:lnTo>
                  <a:close/>
                </a:path>
                <a:path w="1948180" h="1136650">
                  <a:moveTo>
                    <a:pt x="933208" y="142011"/>
                  </a:moveTo>
                  <a:lnTo>
                    <a:pt x="925969" y="97129"/>
                  </a:lnTo>
                  <a:lnTo>
                    <a:pt x="905814" y="58140"/>
                  </a:lnTo>
                  <a:lnTo>
                    <a:pt x="875068" y="27393"/>
                  </a:lnTo>
                  <a:lnTo>
                    <a:pt x="836091" y="7239"/>
                  </a:lnTo>
                  <a:lnTo>
                    <a:pt x="791197" y="0"/>
                  </a:lnTo>
                  <a:lnTo>
                    <a:pt x="746315" y="7239"/>
                  </a:lnTo>
                  <a:lnTo>
                    <a:pt x="707326" y="27393"/>
                  </a:lnTo>
                  <a:lnTo>
                    <a:pt x="676592" y="58140"/>
                  </a:lnTo>
                  <a:lnTo>
                    <a:pt x="656424" y="97129"/>
                  </a:lnTo>
                  <a:lnTo>
                    <a:pt x="649185" y="142011"/>
                  </a:lnTo>
                  <a:lnTo>
                    <a:pt x="656424" y="186893"/>
                  </a:lnTo>
                  <a:lnTo>
                    <a:pt x="676592" y="225882"/>
                  </a:lnTo>
                  <a:lnTo>
                    <a:pt x="707326" y="256628"/>
                  </a:lnTo>
                  <a:lnTo>
                    <a:pt x="746315" y="276783"/>
                  </a:lnTo>
                  <a:lnTo>
                    <a:pt x="791197" y="284035"/>
                  </a:lnTo>
                  <a:lnTo>
                    <a:pt x="836091" y="276783"/>
                  </a:lnTo>
                  <a:lnTo>
                    <a:pt x="875068" y="256628"/>
                  </a:lnTo>
                  <a:lnTo>
                    <a:pt x="905814" y="225882"/>
                  </a:lnTo>
                  <a:lnTo>
                    <a:pt x="925969" y="186893"/>
                  </a:lnTo>
                  <a:lnTo>
                    <a:pt x="933208" y="142011"/>
                  </a:lnTo>
                  <a:close/>
                </a:path>
                <a:path w="1948180" h="1136650">
                  <a:moveTo>
                    <a:pt x="1257808" y="486892"/>
                  </a:moveTo>
                  <a:lnTo>
                    <a:pt x="1230706" y="447370"/>
                  </a:lnTo>
                  <a:lnTo>
                    <a:pt x="1197965" y="412305"/>
                  </a:lnTo>
                  <a:lnTo>
                    <a:pt x="1160284" y="382295"/>
                  </a:lnTo>
                  <a:lnTo>
                    <a:pt x="1118323" y="357936"/>
                  </a:lnTo>
                  <a:lnTo>
                    <a:pt x="1072807" y="339813"/>
                  </a:lnTo>
                  <a:lnTo>
                    <a:pt x="1024394" y="328498"/>
                  </a:lnTo>
                  <a:lnTo>
                    <a:pt x="973785" y="324599"/>
                  </a:lnTo>
                  <a:lnTo>
                    <a:pt x="923175" y="328498"/>
                  </a:lnTo>
                  <a:lnTo>
                    <a:pt x="874763" y="339813"/>
                  </a:lnTo>
                  <a:lnTo>
                    <a:pt x="829246" y="357936"/>
                  </a:lnTo>
                  <a:lnTo>
                    <a:pt x="787298" y="382295"/>
                  </a:lnTo>
                  <a:lnTo>
                    <a:pt x="749604" y="412305"/>
                  </a:lnTo>
                  <a:lnTo>
                    <a:pt x="716864" y="447370"/>
                  </a:lnTo>
                  <a:lnTo>
                    <a:pt x="689762" y="486892"/>
                  </a:lnTo>
                  <a:lnTo>
                    <a:pt x="1257808" y="486892"/>
                  </a:lnTo>
                  <a:close/>
                </a:path>
                <a:path w="1948180" h="1136650">
                  <a:moveTo>
                    <a:pt x="1298384" y="142011"/>
                  </a:moveTo>
                  <a:lnTo>
                    <a:pt x="1291145" y="97129"/>
                  </a:lnTo>
                  <a:lnTo>
                    <a:pt x="1270990" y="58140"/>
                  </a:lnTo>
                  <a:lnTo>
                    <a:pt x="1240243" y="27393"/>
                  </a:lnTo>
                  <a:lnTo>
                    <a:pt x="1201267" y="7239"/>
                  </a:lnTo>
                  <a:lnTo>
                    <a:pt x="1156373" y="0"/>
                  </a:lnTo>
                  <a:lnTo>
                    <a:pt x="1111491" y="7239"/>
                  </a:lnTo>
                  <a:lnTo>
                    <a:pt x="1072502" y="27393"/>
                  </a:lnTo>
                  <a:lnTo>
                    <a:pt x="1041755" y="58140"/>
                  </a:lnTo>
                  <a:lnTo>
                    <a:pt x="1021600" y="97129"/>
                  </a:lnTo>
                  <a:lnTo>
                    <a:pt x="1014361" y="142011"/>
                  </a:lnTo>
                  <a:lnTo>
                    <a:pt x="1021600" y="186893"/>
                  </a:lnTo>
                  <a:lnTo>
                    <a:pt x="1041755" y="225882"/>
                  </a:lnTo>
                  <a:lnTo>
                    <a:pt x="1072502" y="256628"/>
                  </a:lnTo>
                  <a:lnTo>
                    <a:pt x="1111491" y="276783"/>
                  </a:lnTo>
                  <a:lnTo>
                    <a:pt x="1156373" y="284035"/>
                  </a:lnTo>
                  <a:lnTo>
                    <a:pt x="1201267" y="276783"/>
                  </a:lnTo>
                  <a:lnTo>
                    <a:pt x="1240243" y="256628"/>
                  </a:lnTo>
                  <a:lnTo>
                    <a:pt x="1270990" y="225882"/>
                  </a:lnTo>
                  <a:lnTo>
                    <a:pt x="1291145" y="186893"/>
                  </a:lnTo>
                  <a:lnTo>
                    <a:pt x="1298384" y="142011"/>
                  </a:lnTo>
                  <a:close/>
                </a:path>
                <a:path w="1948180" h="1136650">
                  <a:moveTo>
                    <a:pt x="1947570" y="892644"/>
                  </a:moveTo>
                  <a:lnTo>
                    <a:pt x="1942503" y="842975"/>
                  </a:lnTo>
                  <a:lnTo>
                    <a:pt x="1927961" y="796785"/>
                  </a:lnTo>
                  <a:lnTo>
                    <a:pt x="1904974" y="755065"/>
                  </a:lnTo>
                  <a:lnTo>
                    <a:pt x="1874558" y="718858"/>
                  </a:lnTo>
                  <a:lnTo>
                    <a:pt x="1837728" y="689152"/>
                  </a:lnTo>
                  <a:lnTo>
                    <a:pt x="1795500" y="666991"/>
                  </a:lnTo>
                  <a:lnTo>
                    <a:pt x="1298384" y="446328"/>
                  </a:lnTo>
                  <a:lnTo>
                    <a:pt x="1471637" y="965073"/>
                  </a:lnTo>
                  <a:lnTo>
                    <a:pt x="1491983" y="1012151"/>
                  </a:lnTo>
                  <a:lnTo>
                    <a:pt x="1521345" y="1053452"/>
                  </a:lnTo>
                  <a:lnTo>
                    <a:pt x="1558493" y="1087742"/>
                  </a:lnTo>
                  <a:lnTo>
                    <a:pt x="1602168" y="1113777"/>
                  </a:lnTo>
                  <a:lnTo>
                    <a:pt x="1651127" y="1130312"/>
                  </a:lnTo>
                  <a:lnTo>
                    <a:pt x="1704124" y="1136091"/>
                  </a:lnTo>
                  <a:lnTo>
                    <a:pt x="1753196" y="1131150"/>
                  </a:lnTo>
                  <a:lnTo>
                    <a:pt x="1798891" y="1116965"/>
                  </a:lnTo>
                  <a:lnTo>
                    <a:pt x="1840242" y="1094511"/>
                  </a:lnTo>
                  <a:lnTo>
                    <a:pt x="1876272" y="1064793"/>
                  </a:lnTo>
                  <a:lnTo>
                    <a:pt x="1906003" y="1028763"/>
                  </a:lnTo>
                  <a:lnTo>
                    <a:pt x="1928444" y="987399"/>
                  </a:lnTo>
                  <a:lnTo>
                    <a:pt x="1942630" y="941705"/>
                  </a:lnTo>
                  <a:lnTo>
                    <a:pt x="1947570" y="892644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9">
              <a:extLst>
                <a:ext uri="{FF2B5EF4-FFF2-40B4-BE49-F238E27FC236}">
                  <a16:creationId xmlns:a16="http://schemas.microsoft.com/office/drawing/2014/main" id="{0A5B090B-953C-CD6F-7A7A-33F1D140B7D2}"/>
                </a:ext>
              </a:extLst>
            </p:cNvPr>
            <p:cNvSpPr/>
            <p:nvPr/>
          </p:nvSpPr>
          <p:spPr>
            <a:xfrm>
              <a:off x="5242415" y="4715202"/>
              <a:ext cx="568325" cy="162560"/>
            </a:xfrm>
            <a:custGeom>
              <a:avLst/>
              <a:gdLst/>
              <a:ahLst/>
              <a:cxnLst/>
              <a:rect l="l" t="t" r="r" b="b"/>
              <a:pathLst>
                <a:path w="568325" h="162559">
                  <a:moveTo>
                    <a:pt x="568045" y="0"/>
                  </a:moveTo>
                  <a:lnTo>
                    <a:pt x="0" y="0"/>
                  </a:lnTo>
                  <a:lnTo>
                    <a:pt x="27104" y="39530"/>
                  </a:lnTo>
                  <a:lnTo>
                    <a:pt x="59843" y="74592"/>
                  </a:lnTo>
                  <a:lnTo>
                    <a:pt x="97531" y="104598"/>
                  </a:lnTo>
                  <a:lnTo>
                    <a:pt x="139480" y="128959"/>
                  </a:lnTo>
                  <a:lnTo>
                    <a:pt x="185002" y="147089"/>
                  </a:lnTo>
                  <a:lnTo>
                    <a:pt x="233412" y="158398"/>
                  </a:lnTo>
                  <a:lnTo>
                    <a:pt x="284022" y="162298"/>
                  </a:lnTo>
                  <a:lnTo>
                    <a:pt x="334632" y="158398"/>
                  </a:lnTo>
                  <a:lnTo>
                    <a:pt x="383042" y="147089"/>
                  </a:lnTo>
                  <a:lnTo>
                    <a:pt x="428565" y="128959"/>
                  </a:lnTo>
                  <a:lnTo>
                    <a:pt x="470514" y="104598"/>
                  </a:lnTo>
                  <a:lnTo>
                    <a:pt x="508201" y="74592"/>
                  </a:lnTo>
                  <a:lnTo>
                    <a:pt x="540941" y="39530"/>
                  </a:lnTo>
                  <a:lnTo>
                    <a:pt x="568045" y="0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7B41E43C-4F04-2C0B-D9B1-817E1A85C4AC}"/>
              </a:ext>
            </a:extLst>
          </p:cNvPr>
          <p:cNvSpPr txBox="1">
            <a:spLocks/>
          </p:cNvSpPr>
          <p:nvPr/>
        </p:nvSpPr>
        <p:spPr>
          <a:xfrm>
            <a:off x="1627202" y="2410527"/>
            <a:ext cx="8571834" cy="14365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>
                <a:latin typeface="Consolas" panose="020B0609020204030204" pitchFamily="49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96672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1401</Words>
  <Application>Microsoft Macintosh PowerPoint</Application>
  <PresentationFormat>Widescreen</PresentationFormat>
  <Paragraphs>298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-webkit-standard</vt:lpstr>
      <vt:lpstr>Aptos</vt:lpstr>
      <vt:lpstr>Arial</vt:lpstr>
      <vt:lpstr>Calibri</vt:lpstr>
      <vt:lpstr>Calibri Light</vt:lpstr>
      <vt:lpstr>Consolas</vt:lpstr>
      <vt:lpstr>IBM Plex Sans</vt:lpstr>
      <vt:lpstr>sohne</vt:lpstr>
      <vt:lpstr>Office Theme</vt:lpstr>
      <vt:lpstr>FSS 300.AI club Enablement Series</vt:lpstr>
      <vt:lpstr>PowerPoint Presentation</vt:lpstr>
      <vt:lpstr>About Speakers</vt:lpstr>
      <vt:lpstr>Sidd’s Generative AI Journey</vt:lpstr>
      <vt:lpstr>PowerPoint Presentation</vt:lpstr>
      <vt:lpstr>Prompt Techniques &amp; Prompt Template</vt:lpstr>
      <vt:lpstr>PowerPoint Presentation</vt:lpstr>
      <vt:lpstr>PowerPoint Presentation</vt:lpstr>
      <vt:lpstr>PowerPoint Presentation</vt:lpstr>
      <vt:lpstr>Agent architectures</vt:lpstr>
      <vt:lpstr>Multi-Agent architectures</vt:lpstr>
      <vt:lpstr>PowerPoint Presentation</vt:lpstr>
      <vt:lpstr>GenAI Lingo</vt:lpstr>
      <vt:lpstr>PowerPoint Presentation</vt:lpstr>
      <vt:lpstr>What Next?</vt:lpstr>
      <vt:lpstr>1. Enablement: GenAI Learning Paths</vt:lpstr>
      <vt:lpstr>GenAI Learning Paths</vt:lpstr>
      <vt:lpstr>1. Enablement: Agentic AI Learning Paths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Storyline</dc:title>
  <dc:creator>dhriti amlani</dc:creator>
  <cp:lastModifiedBy>Mahua Banerjee</cp:lastModifiedBy>
  <cp:revision>37</cp:revision>
  <dcterms:created xsi:type="dcterms:W3CDTF">2023-05-25T06:47:40Z</dcterms:created>
  <dcterms:modified xsi:type="dcterms:W3CDTF">2025-12-11T11:42:50Z</dcterms:modified>
</cp:coreProperties>
</file>